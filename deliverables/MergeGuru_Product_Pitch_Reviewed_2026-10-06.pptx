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Management pitch revised 6 October 2026. Numeric performance and reliability claims were removed pending a controlled benchmark on target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KPMG Ireland, Impact of data risk: https://kpmg.com/ie/en/insights/consulting/impact-of-data-risk.html (accessed 6 October 2026). The 58% figure refers to surveyed organisations reporting key decisions based on inaccurate or inconsistent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revision removes unverified 20x, reliability and crash claims. Microsoft documents that Power Query memory limits depend on Office bitness and available virtual memory: https://support.microsoft.com/en-us/excel/power-query-specifications-and-limits-in-excel. Run a controlled benchmark on the target devices before making comparative performance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matrix compares built-in user workflow, not everything each tool can achieve with custom M code, VBA, add-ins or manual controls. Validate wording with the intended audience before external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processing, no embedded macros and no built-in telemetry support security controls but do not establish GDPR, HIPAA, SOC 2, PCI DSS, NIST CSF or ISO 27001 compliance. Security still depends on endpoint hardening, OS permissions, destination-folder policy, dependency review, code signing and organisational procedures. The v3.1 preview includes a signing workflow, but the executable remains unsigned until the organisation supplies a certificate.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Recommended pilot structure. Confirm the 2 to 4 week duration, owners and success thresholds with management before presenting this as a committed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1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8C351C-2AAD-4770-9308-3DDC21E2FA63}"/>
              </a:ext>
            </a:extLst>
          </p:cNvPr>
          <p:cNvSpPr>
            <a:spLocks noGrp="1"/>
          </p:cNvSpPr>
          <p:nvPr/>
        </p:nvSpPr>
        <p:spPr>
          <a:xfrm>
            <a:off x="5303520" y="-1371600"/>
            <a:ext cx="6400800" cy="6400800"/>
          </a:xfrm>
          <a:prstGeom prst="ellipse">
            <a:avLst/>
          </a:prstGeom>
          <a:solidFill>
            <a:srgbClr val="1D3461">
              <a:alpha val="40000"/>
            </a:srgbClr>
          </a:solidFill>
          <a:ln w="12700">
            <a:solidFill>
              <a:srgbClr val="1D3461">
                <a:alpha val="40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CB0947-8E33-4D38-9618-87686EE401AC}"/>
              </a:ext>
            </a:extLst>
          </p:cNvPr>
          <p:cNvSpPr>
            <a:spLocks noGrp="1"/>
          </p:cNvSpPr>
          <p:nvPr/>
        </p:nvSpPr>
        <p:spPr>
          <a:xfrm>
            <a:off x="6238356" y="-752964"/>
            <a:ext cx="4114800" cy="4114800"/>
          </a:xfrm>
          <a:prstGeom prst="ellipse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843071-B863-4F47-9D47-C7711138F49B}"/>
              </a:ext>
            </a:extLst>
          </p:cNvPr>
          <p:cNvSpPr>
            <a:spLocks noGrp="1"/>
          </p:cNvSpPr>
          <p:nvPr/>
        </p:nvSpPr>
        <p:spPr>
          <a:xfrm rot="-360000">
            <a:off x="5575259" y="274456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Sales_Jan.xlsx</a:t>
            </a:r>
            <a:endParaRPr sz="1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46E4621-DE4B-4A15-A10A-D80601F438C9}"/>
              </a:ext>
            </a:extLst>
          </p:cNvPr>
          <p:cNvSpPr>
            <a:spLocks noGrp="1"/>
          </p:cNvSpPr>
          <p:nvPr/>
        </p:nvSpPr>
        <p:spPr>
          <a:xfrm rot="405614">
            <a:off x="7528688" y="1252121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BBD9CF7-DC12-42F6-B71E-C589F5E64DCF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002060"/>
            </a:solidFill>
            <a:prstDash val="dash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95A9DBB-2FF3-4FE8-8AF7-35A5A11CFE36}"/>
              </a:ext>
            </a:extLst>
          </p:cNvPr>
          <p:cNvSpPr>
            <a:spLocks noGrp="1"/>
          </p:cNvSpPr>
          <p:nvPr/>
        </p:nvSpPr>
        <p:spPr>
          <a:xfrm>
            <a:off x="457200" y="502920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150">
                <a:solidFill>
                  <a:srgbClr val="3B82F6"/>
                </a:solidFill>
                <a:latin typeface="Trebuchet MS"/>
                <a:ea typeface="Trebuchet MS"/>
                <a:cs typeface="Trebuchet MS"/>
              </a:rPr>
              <a:t>DATA OPERATIONS TOOL</a:t>
            </a:r>
            <a:endParaRPr sz="8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69708FA-41E7-4CFC-8ED9-C9C52A032564}"/>
              </a:ext>
            </a:extLst>
          </p:cNvPr>
          <p:cNvSpPr>
            <a:spLocks noGrp="1"/>
          </p:cNvSpPr>
          <p:nvPr/>
        </p:nvSpPr>
        <p:spPr>
          <a:xfrm>
            <a:off x="1381125" y="960120"/>
            <a:ext cx="409575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5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5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5800">
              <a:solidFill>
                <a:srgbClr val="2563EB"/>
              </a:solidFill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9C0E9FF-87C5-4E01-B603-28BD6A5BE4A7}"/>
              </a:ext>
            </a:extLst>
          </p:cNvPr>
          <p:cNvSpPr>
            <a:spLocks noGrp="1"/>
          </p:cNvSpPr>
          <p:nvPr/>
        </p:nvSpPr>
        <p:spPr>
          <a:xfrm>
            <a:off x="495527" y="1932026"/>
            <a:ext cx="4937760" cy="92814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From Folder Chaos</a:t>
            </a:r>
          </a:p>
          <a:p>
            <a:pPr marL="0" indent="0">
              <a:buNone/>
            </a:pPr>
            <a:r>
              <a:rPr sz="26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to </a:t>
            </a:r>
            <a:r>
              <a:rPr sz="260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Trusted Data</a:t>
            </a:r>
            <a:r>
              <a:rPr sz="26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7F1AA0D-2182-4D2D-A808-DC5C720B7CF1}"/>
              </a:ext>
            </a:extLst>
          </p:cNvPr>
          <p:cNvSpPr>
            <a:spLocks noGrp="1"/>
          </p:cNvSpPr>
          <p:nvPr/>
        </p:nvSpPr>
        <p:spPr>
          <a:xfrm>
            <a:off x="494972" y="3001219"/>
            <a:ext cx="4937760" cy="30138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400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No code. Visible checks. Repeatable outputs.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8A53BF2-5266-44DD-BB94-B13819BD6BF6}"/>
              </a:ext>
            </a:extLst>
          </p:cNvPr>
          <p:cNvSpPr>
            <a:spLocks noGrp="1"/>
          </p:cNvSpPr>
          <p:nvPr/>
        </p:nvSpPr>
        <p:spPr>
          <a:xfrm>
            <a:off x="593125" y="3982803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 b="1">
                <a:solidFill>
                  <a:srgbClr val="2563EB"/>
                </a:solidFill>
                <a:latin typeface="Rubik Black"/>
                <a:ea typeface="Rubik Black"/>
                <a:cs typeface="Rubik Black"/>
              </a:rPr>
              <a:t>6</a:t>
            </a:r>
            <a:endParaRPr sz="3200">
              <a:latin typeface="Rubik Black"/>
              <a:ea typeface="Rubik Black"/>
              <a:cs typeface="Rubik Black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AF9FCE8-30A0-4C9F-AAAD-95B18C2B0CCB}"/>
              </a:ext>
            </a:extLst>
          </p:cNvPr>
          <p:cNvSpPr>
            <a:spLocks noGrp="1"/>
          </p:cNvSpPr>
          <p:nvPr/>
        </p:nvSpPr>
        <p:spPr>
          <a:xfrm>
            <a:off x="593125" y="4440003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guided operations</a:t>
            </a:r>
            <a:endParaRPr sz="9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AE4DA0D-40B3-40C9-9AFC-BCDBD201DAB3}"/>
              </a:ext>
            </a:extLst>
          </p:cNvPr>
          <p:cNvSpPr>
            <a:spLocks noGrp="1"/>
          </p:cNvSpPr>
          <p:nvPr/>
        </p:nvSpPr>
        <p:spPr>
          <a:xfrm>
            <a:off x="2239045" y="3982803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 b="1">
                <a:solidFill>
                  <a:srgbClr val="2563EB"/>
                </a:solidFill>
                <a:latin typeface="Rubik Black"/>
                <a:ea typeface="Rubik Black"/>
                <a:cs typeface="Rubik Black"/>
              </a:rPr>
              <a:t>4</a:t>
            </a:r>
            <a:endParaRPr sz="3200">
              <a:latin typeface="Rubik Black"/>
              <a:ea typeface="Rubik Black"/>
              <a:cs typeface="Rubik Black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49E62AE-40CA-4A88-9AB8-6AFFCC832184}"/>
              </a:ext>
            </a:extLst>
          </p:cNvPr>
          <p:cNvSpPr>
            <a:spLocks noGrp="1"/>
          </p:cNvSpPr>
          <p:nvPr/>
        </p:nvSpPr>
        <p:spPr>
          <a:xfrm>
            <a:off x="2239045" y="4440003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export modes</a:t>
            </a:r>
            <a:endParaRPr sz="9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09729A7-207F-4EB4-826F-6119DDC5B7FC}"/>
              </a:ext>
            </a:extLst>
          </p:cNvPr>
          <p:cNvSpPr>
            <a:spLocks noGrp="1"/>
          </p:cNvSpPr>
          <p:nvPr/>
        </p:nvSpPr>
        <p:spPr>
          <a:xfrm>
            <a:off x="3884965" y="3982803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 b="1">
                <a:solidFill>
                  <a:srgbClr val="2563EB"/>
                </a:solidFill>
                <a:latin typeface="Rubik Black"/>
                <a:ea typeface="Rubik Black"/>
                <a:cs typeface="Rubik Black"/>
              </a:rPr>
              <a:t>Local</a:t>
            </a:r>
            <a:endParaRPr sz="3200">
              <a:latin typeface="Rubik Black"/>
              <a:ea typeface="Rubik Black"/>
              <a:cs typeface="Rubik Black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411FC69-A7B3-49C7-8DE5-9AF3D33102B8}"/>
              </a:ext>
            </a:extLst>
          </p:cNvPr>
          <p:cNvSpPr>
            <a:spLocks noGrp="1"/>
          </p:cNvSpPr>
          <p:nvPr/>
        </p:nvSpPr>
        <p:spPr>
          <a:xfrm>
            <a:off x="3884965" y="4440003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no built-in upload</a:t>
            </a:r>
            <a:endParaRPr sz="9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848479-42E6-6933-C3F9-5B185E981464}"/>
              </a:ext>
            </a:extLst>
          </p:cNvPr>
          <p:cNvSpPr>
            <a:spLocks noGrp="1"/>
          </p:cNvSpPr>
          <p:nvPr/>
        </p:nvSpPr>
        <p:spPr>
          <a:xfrm>
            <a:off x="412275" y="3310993"/>
            <a:ext cx="40682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VALIDATE · ALIGN · COMBINE · EXPORT · AUDIT</a:t>
            </a:r>
            <a:endParaRPr sz="1400"/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2FA127F0-4D94-4E63-BA14-EDA0252A5809}"/>
              </a:ext>
            </a:extLst>
          </p:cNvPr>
          <p:cNvSpPr>
            <a:spLocks noGrp="1"/>
          </p:cNvSpPr>
          <p:nvPr/>
        </p:nvSpPr>
        <p:spPr>
          <a:xfrm flipV="1">
            <a:off x="2104875" y="4105004"/>
            <a:ext cx="0" cy="565305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A2E18CE4-9030-4E8E-A28D-CCD9AA72B48C}"/>
              </a:ext>
            </a:extLst>
          </p:cNvPr>
          <p:cNvSpPr>
            <a:spLocks noGrp="1"/>
          </p:cNvSpPr>
          <p:nvPr/>
        </p:nvSpPr>
        <p:spPr>
          <a:xfrm flipV="1">
            <a:off x="3799379" y="4105004"/>
            <a:ext cx="0" cy="565305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23560BFD-FFF6-8174-5D5F-F451643AC919}"/>
              </a:ext>
            </a:extLst>
          </p:cNvPr>
          <p:cNvSpPr>
            <a:spLocks noGrp="1"/>
          </p:cNvSpPr>
          <p:nvPr/>
        </p:nvSpPr>
        <p:spPr>
          <a:xfrm rot="354807">
            <a:off x="7261819" y="1208373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Report_2024_OLD.xlsx</a:t>
            </a:r>
            <a:endParaRPr sz="1000"/>
          </a:p>
        </p:txBody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0EB03785-B551-0E26-5895-7EE39A891139}"/>
              </a:ext>
            </a:extLst>
          </p:cNvPr>
          <p:cNvSpPr>
            <a:spLocks noGrp="1"/>
          </p:cNvSpPr>
          <p:nvPr/>
        </p:nvSpPr>
        <p:spPr>
          <a:xfrm>
            <a:off x="6423660" y="672544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Sales_Jan_Final.xlsx</a:t>
            </a:r>
            <a:endParaRPr sz="100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B6D277CC-10C5-A244-1765-92319B428F69}"/>
              </a:ext>
            </a:extLst>
          </p:cNvPr>
          <p:cNvSpPr>
            <a:spLocks noGrp="1"/>
          </p:cNvSpPr>
          <p:nvPr/>
        </p:nvSpPr>
        <p:spPr>
          <a:xfrm rot="21084703">
            <a:off x="6326391" y="1561729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sz="95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Sales_Jan_Final_v2.xlsx</a:t>
            </a:r>
            <a:endParaRPr sz="95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F2661B18-973C-28B7-F764-E347F8EE2C51}"/>
              </a:ext>
            </a:extLst>
          </p:cNvPr>
          <p:cNvSpPr>
            <a:spLocks noGrp="1"/>
          </p:cNvSpPr>
          <p:nvPr/>
        </p:nvSpPr>
        <p:spPr>
          <a:xfrm rot="21084703">
            <a:off x="5720998" y="2204554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FINAL_USE_THIS.xlsx</a:t>
            </a:r>
            <a:endParaRPr sz="1000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A647208F-5D2E-A4CC-DA3D-500E0C58B8BD}"/>
              </a:ext>
            </a:extLst>
          </p:cNvPr>
          <p:cNvSpPr>
            <a:spLocks noGrp="1"/>
          </p:cNvSpPr>
          <p:nvPr/>
        </p:nvSpPr>
        <p:spPr>
          <a:xfrm rot="437904">
            <a:off x="7266538" y="2032687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10B981">
                <a:alpha val="40000"/>
              </a:srgbClr>
            </a:outerShdw>
          </a:effectLst>
        </p:spPr>
        <p:txBody>
          <a:bodyPr/>
          <a:lstStyle/>
          <a:p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Data_Clean.xlsx</a:t>
            </a:r>
            <a:endParaRPr sz="1000">
              <a:solidFill>
                <a:srgbClr val="10B981"/>
              </a:solidFill>
            </a:endParaRPr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71104AA3-3E59-7F44-68AB-19070F1EEBA4}"/>
              </a:ext>
            </a:extLst>
          </p:cNvPr>
          <p:cNvSpPr>
            <a:spLocks noGrp="1"/>
          </p:cNvSpPr>
          <p:nvPr/>
        </p:nvSpPr>
        <p:spPr>
          <a:xfrm rot="318852">
            <a:off x="7242319" y="2676457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data_backup.csv</a:t>
            </a:r>
            <a:endParaRPr sz="1000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657B7991-CBF6-0B51-AF72-AFDF134E7163}"/>
              </a:ext>
            </a:extLst>
          </p:cNvPr>
          <p:cNvSpPr>
            <a:spLocks noGrp="1"/>
          </p:cNvSpPr>
          <p:nvPr/>
        </p:nvSpPr>
        <p:spPr>
          <a:xfrm>
            <a:off x="5751613" y="3102428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Sales_Feb_v3_NEW.xlsx</a:t>
            </a:r>
            <a:endParaRPr sz="100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890A8419-304E-0E26-89C2-703F09670B30}"/>
              </a:ext>
            </a:extLst>
          </p:cNvPr>
          <p:cNvSpPr>
            <a:spLocks noGrp="1"/>
          </p:cNvSpPr>
          <p:nvPr/>
        </p:nvSpPr>
        <p:spPr>
          <a:xfrm>
            <a:off x="7125218" y="3536391"/>
            <a:ext cx="1783080" cy="279790"/>
          </a:xfrm>
          <a:prstGeom prst="roundRect">
            <a:avLst>
              <a:gd name="adj" fmla="val 1840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  <a:effectLst>
            <a:outerShdw blurRad="762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export_fixed.csv</a:t>
            </a:r>
            <a:endParaRPr sz="100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DA90EBF1-D638-D7A7-0976-C325F9BEE9E4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sp>
        <p:nvSpPr>
          <p:cNvPr id="5" name="Text 27">
            <a:extLst>
              <a:ext uri="{FF2B5EF4-FFF2-40B4-BE49-F238E27FC236}">
                <a16:creationId xmlns:a16="http://schemas.microsoft.com/office/drawing/2014/main" id="{A2C9450A-FA93-7FD7-A990-E46A285D4F6A}"/>
              </a:ext>
            </a:extLst>
          </p:cNvPr>
          <p:cNvSpPr>
            <a:spLocks noGrp="1"/>
          </p:cNvSpPr>
          <p:nvPr/>
        </p:nvSpPr>
        <p:spPr>
          <a:xfrm>
            <a:off x="617480" y="4622696"/>
            <a:ext cx="1463040" cy="1466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" i="1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source to audit</a:t>
            </a:r>
            <a:endParaRPr sz="600" i="1"/>
          </a:p>
        </p:txBody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990600"/>
            <a:ext cx="742950" cy="742950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20134DA-E0B7-46B0-9B40-DC9F127B683E}"/>
              </a:ext>
            </a:extLst>
          </p:cNvPr>
          <p:cNvSpPr>
            <a:spLocks noGrp="1"/>
          </p:cNvSpPr>
          <p:nvPr/>
        </p:nvSpPr>
        <p:spPr>
          <a:xfrm>
            <a:off x="457200" y="969209"/>
            <a:ext cx="2038865" cy="37759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The Reality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CE6EFF-043C-4AFF-9033-D8AA587D6740}"/>
              </a:ext>
            </a:extLst>
          </p:cNvPr>
          <p:cNvSpPr>
            <a:spLocks noGrp="1"/>
          </p:cNvSpPr>
          <p:nvPr/>
        </p:nvSpPr>
        <p:spPr>
          <a:xfrm>
            <a:off x="457200" y="1349884"/>
            <a:ext cx="2204798" cy="22241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  <a:latin typeface="Trebuchet MS"/>
                <a:ea typeface="Trebuchet MS"/>
                <a:cs typeface="Trebuchet MS"/>
              </a:rPr>
              <a:t>Every analyst knows this folder.</a:t>
            </a:r>
            <a:endParaRPr sz="11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83AF4-5CED-4AD7-9910-879D315C44F8}"/>
              </a:ext>
            </a:extLst>
          </p:cNvPr>
          <p:cNvSpPr>
            <a:spLocks noGrp="1"/>
          </p:cNvSpPr>
          <p:nvPr/>
        </p:nvSpPr>
        <p:spPr>
          <a:xfrm>
            <a:off x="325391" y="1858030"/>
            <a:ext cx="3657600" cy="2805839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A38667-8CDA-4A08-A243-33AB71AEE6BB}"/>
              </a:ext>
            </a:extLst>
          </p:cNvPr>
          <p:cNvSpPr>
            <a:spLocks noGrp="1"/>
          </p:cNvSpPr>
          <p:nvPr/>
        </p:nvSpPr>
        <p:spPr>
          <a:xfrm>
            <a:off x="325391" y="1823394"/>
            <a:ext cx="3657600" cy="384048"/>
          </a:xfrm>
          <a:prstGeom prst="round2SameRect">
            <a:avLst>
              <a:gd name="adj1" fmla="val 24941"/>
              <a:gd name="adj2" fmla="val 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4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39" y="1869114"/>
            <a:ext cx="256032" cy="25603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191511D7-517E-43AA-8C72-1BD9D0827FC5}"/>
              </a:ext>
            </a:extLst>
          </p:cNvPr>
          <p:cNvSpPr>
            <a:spLocks noGrp="1"/>
          </p:cNvSpPr>
          <p:nvPr/>
        </p:nvSpPr>
        <p:spPr>
          <a:xfrm>
            <a:off x="810023" y="1823394"/>
            <a:ext cx="309067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92400E"/>
                </a:solidFill>
                <a:latin typeface="Consolas"/>
                <a:ea typeface="Consolas"/>
                <a:cs typeface="Consolas"/>
              </a:rPr>
              <a:t>Downloads</a:t>
            </a:r>
            <a:endParaRPr sz="11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20D9BCA-8474-4D84-88FA-F33B1E1EC7B3}"/>
              </a:ext>
            </a:extLst>
          </p:cNvPr>
          <p:cNvSpPr>
            <a:spLocks noGrp="1"/>
          </p:cNvSpPr>
          <p:nvPr/>
        </p:nvSpPr>
        <p:spPr>
          <a:xfrm>
            <a:off x="508271" y="2254263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📄  Sales_Jan.xlsx</a:t>
            </a:r>
            <a:endParaRPr sz="95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71F4915-D6CC-4B57-9446-1753C5232CAE}"/>
              </a:ext>
            </a:extLst>
          </p:cNvPr>
          <p:cNvSpPr>
            <a:spLocks noGrp="1"/>
          </p:cNvSpPr>
          <p:nvPr/>
        </p:nvSpPr>
        <p:spPr>
          <a:xfrm>
            <a:off x="416831" y="2629167"/>
            <a:ext cx="3474720" cy="9144"/>
          </a:xfrm>
          <a:prstGeom prst="rect">
            <a:avLst/>
          </a:prstGeom>
          <a:solidFill>
            <a:srgbClr val="E2E8F0">
              <a:alpha val="5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9CE06C1-29DD-4664-A445-5A60EB1C4EA5}"/>
              </a:ext>
            </a:extLst>
          </p:cNvPr>
          <p:cNvSpPr>
            <a:spLocks noGrp="1"/>
          </p:cNvSpPr>
          <p:nvPr/>
        </p:nvSpPr>
        <p:spPr>
          <a:xfrm>
            <a:off x="508271" y="2711463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📄  Sales_Jan_Final.xlsx</a:t>
            </a:r>
            <a:endParaRPr sz="9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7CE5A7D-FF24-4415-921E-7E443EFD1E0B}"/>
              </a:ext>
            </a:extLst>
          </p:cNvPr>
          <p:cNvSpPr>
            <a:spLocks noGrp="1"/>
          </p:cNvSpPr>
          <p:nvPr/>
        </p:nvSpPr>
        <p:spPr>
          <a:xfrm>
            <a:off x="416831" y="3086367"/>
            <a:ext cx="3474720" cy="9144"/>
          </a:xfrm>
          <a:prstGeom prst="rect">
            <a:avLst/>
          </a:prstGeom>
          <a:solidFill>
            <a:srgbClr val="E2E8F0">
              <a:alpha val="5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5CDD962-44DB-47A6-A1E8-301F0212F486}"/>
              </a:ext>
            </a:extLst>
          </p:cNvPr>
          <p:cNvSpPr>
            <a:spLocks noGrp="1"/>
          </p:cNvSpPr>
          <p:nvPr/>
        </p:nvSpPr>
        <p:spPr>
          <a:xfrm>
            <a:off x="508271" y="3168663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📄  Sales_Jan_Final_v2.xlsx</a:t>
            </a:r>
            <a:endParaRPr sz="9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356BD1C-480D-47A3-9F67-289376382304}"/>
              </a:ext>
            </a:extLst>
          </p:cNvPr>
          <p:cNvSpPr>
            <a:spLocks noGrp="1"/>
          </p:cNvSpPr>
          <p:nvPr/>
        </p:nvSpPr>
        <p:spPr>
          <a:xfrm>
            <a:off x="416831" y="3543567"/>
            <a:ext cx="3474720" cy="9144"/>
          </a:xfrm>
          <a:prstGeom prst="rect">
            <a:avLst/>
          </a:prstGeom>
          <a:solidFill>
            <a:srgbClr val="E2E8F0">
              <a:alpha val="5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E3998C4-CEE6-4A0B-80E8-BC3B10CDF6E8}"/>
              </a:ext>
            </a:extLst>
          </p:cNvPr>
          <p:cNvSpPr>
            <a:spLocks noGrp="1"/>
          </p:cNvSpPr>
          <p:nvPr/>
        </p:nvSpPr>
        <p:spPr>
          <a:xfrm>
            <a:off x="508271" y="3625863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📄  Sales_Jan_Final_v2_Updated.xlsx</a:t>
            </a:r>
            <a:endParaRPr sz="9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3623FA7-F8D5-4261-A0DF-D46559F76A35}"/>
              </a:ext>
            </a:extLst>
          </p:cNvPr>
          <p:cNvSpPr>
            <a:spLocks noGrp="1"/>
          </p:cNvSpPr>
          <p:nvPr/>
        </p:nvSpPr>
        <p:spPr>
          <a:xfrm>
            <a:off x="416831" y="4000767"/>
            <a:ext cx="3474720" cy="9144"/>
          </a:xfrm>
          <a:prstGeom prst="rect">
            <a:avLst/>
          </a:prstGeom>
          <a:solidFill>
            <a:srgbClr val="E2E8F0">
              <a:alpha val="5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311ED80-B884-40F4-AE97-27955B28825C}"/>
              </a:ext>
            </a:extLst>
          </p:cNvPr>
          <p:cNvSpPr>
            <a:spLocks noGrp="1"/>
          </p:cNvSpPr>
          <p:nvPr/>
        </p:nvSpPr>
        <p:spPr>
          <a:xfrm>
            <a:off x="508271" y="4083063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⚠️  FINAL_USE_THIS_ONE.xlsx</a:t>
            </a:r>
            <a:endParaRPr sz="9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2A2ED9A-0A70-49F1-9649-FDD5E773429F}"/>
              </a:ext>
            </a:extLst>
          </p:cNvPr>
          <p:cNvSpPr>
            <a:spLocks noGrp="1"/>
          </p:cNvSpPr>
          <p:nvPr/>
        </p:nvSpPr>
        <p:spPr>
          <a:xfrm>
            <a:off x="4239023" y="179513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>
                <a:solidFill>
                  <a:srgbClr val="64748B"/>
                </a:solidFill>
                <a:latin typeface="Arial Black"/>
                <a:ea typeface="Arial Black"/>
                <a:cs typeface="Arial Black"/>
              </a:rPr>
              <a:t>↓</a:t>
            </a:r>
            <a:endParaRPr sz="28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843C124-0195-4505-A38D-96A8A69ACBA9}"/>
              </a:ext>
            </a:extLst>
          </p:cNvPr>
          <p:cNvSpPr>
            <a:spLocks noGrp="1"/>
          </p:cNvSpPr>
          <p:nvPr/>
        </p:nvSpPr>
        <p:spPr>
          <a:xfrm>
            <a:off x="4165871" y="2480931"/>
            <a:ext cx="749808" cy="749808"/>
          </a:xfrm>
          <a:prstGeom prst="ellipse">
            <a:avLst/>
          </a:prstGeom>
          <a:solidFill>
            <a:srgbClr val="002060"/>
          </a:solidFill>
          <a:ln w="19050">
            <a:solidFill>
              <a:schemeClr val="bg1">
                <a:lumMod val="95000"/>
              </a:schemeClr>
            </a:solidFill>
            <a:prstDash val="solid"/>
          </a:ln>
        </p:spPr>
      </p:sp>
      <p:pic>
        <p:nvPicPr>
          <p:cNvPr id="55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031" y="2618091"/>
            <a:ext cx="475488" cy="475488"/>
          </a:xfrm>
          <a:prstGeom prst="rect">
            <a:avLst/>
          </a:prstGeom>
        </p:spPr>
      </p:pic>
      <p:sp>
        <p:nvSpPr>
          <p:cNvPr id="20" name="Text 16">
            <a:extLst>
              <a:ext uri="{FF2B5EF4-FFF2-40B4-BE49-F238E27FC236}">
                <a16:creationId xmlns:a16="http://schemas.microsoft.com/office/drawing/2014/main" id="{297AB4DA-ED5B-432F-98C0-D9ACF701830A}"/>
              </a:ext>
            </a:extLst>
          </p:cNvPr>
          <p:cNvSpPr>
            <a:spLocks noGrp="1"/>
          </p:cNvSpPr>
          <p:nvPr/>
        </p:nvSpPr>
        <p:spPr>
          <a:xfrm>
            <a:off x="4101863" y="3276459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4748B"/>
                </a:solidFill>
                <a:latin typeface="Trebuchet MS"/>
                <a:ea typeface="Trebuchet MS"/>
                <a:cs typeface="Trebuchet MS"/>
              </a:rPr>
              <a:t>Analyst</a:t>
            </a:r>
            <a:endParaRPr sz="9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DE51118-0D05-445F-BB22-612E36191F29}"/>
              </a:ext>
            </a:extLst>
          </p:cNvPr>
          <p:cNvSpPr>
            <a:spLocks noGrp="1"/>
          </p:cNvSpPr>
          <p:nvPr/>
        </p:nvSpPr>
        <p:spPr>
          <a:xfrm>
            <a:off x="4239023" y="3578211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>
                <a:solidFill>
                  <a:srgbClr val="EF4444"/>
                </a:solidFill>
                <a:latin typeface="Arial Black"/>
                <a:ea typeface="Arial Black"/>
                <a:cs typeface="Arial Black"/>
              </a:rPr>
              <a:t>↓</a:t>
            </a:r>
            <a:endParaRPr sz="280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14E65461-A277-4A10-A3D5-ECF99F9EC324}"/>
              </a:ext>
            </a:extLst>
          </p:cNvPr>
          <p:cNvSpPr>
            <a:spLocks noGrp="1"/>
          </p:cNvSpPr>
          <p:nvPr/>
        </p:nvSpPr>
        <p:spPr>
          <a:xfrm>
            <a:off x="4124723" y="4155623"/>
            <a:ext cx="868680" cy="365760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71D9EC4-3B09-4B2E-9057-62FB86106B6D}"/>
              </a:ext>
            </a:extLst>
          </p:cNvPr>
          <p:cNvSpPr>
            <a:spLocks noGrp="1"/>
          </p:cNvSpPr>
          <p:nvPr/>
        </p:nvSpPr>
        <p:spPr>
          <a:xfrm>
            <a:off x="4147583" y="4155623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EF4444"/>
                </a:solidFill>
                <a:latin typeface="Trebuchet MS"/>
                <a:ea typeface="Trebuchet MS"/>
                <a:cs typeface="Trebuchet MS"/>
              </a:rPr>
              <a:t>❌ Error</a:t>
            </a:r>
            <a:endParaRPr sz="10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0EB4EDD1-9DB8-4FEC-96E9-DA05E4381DE8}"/>
              </a:ext>
            </a:extLst>
          </p:cNvPr>
          <p:cNvSpPr>
            <a:spLocks noGrp="1"/>
          </p:cNvSpPr>
          <p:nvPr/>
        </p:nvSpPr>
        <p:spPr>
          <a:xfrm>
            <a:off x="5124439" y="1823394"/>
            <a:ext cx="3657595" cy="2832230"/>
          </a:xfrm>
          <a:prstGeom prst="roundRect">
            <a:avLst>
              <a:gd name="adj" fmla="val 3494"/>
            </a:avLst>
          </a:prstGeom>
          <a:solidFill>
            <a:schemeClr val="tx1">
              <a:lumMod val="95000"/>
              <a:lumOff val="5000"/>
              <a:alpha val="57000"/>
            </a:schemeClr>
          </a:solidFill>
          <a:ln w="9525">
            <a:solidFill>
              <a:schemeClr val="accent5">
                <a:lumMod val="20000"/>
                <a:lumOff val="8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7351274C-F4A6-43CB-9258-B7F86DD190D9}"/>
              </a:ext>
            </a:extLst>
          </p:cNvPr>
          <p:cNvSpPr>
            <a:spLocks noGrp="1"/>
          </p:cNvSpPr>
          <p:nvPr/>
        </p:nvSpPr>
        <p:spPr>
          <a:xfrm>
            <a:off x="5122173" y="2133546"/>
            <a:ext cx="3657595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800" b="1">
                <a:solidFill>
                  <a:srgbClr val="EF4444"/>
                </a:solidFill>
                <a:latin typeface="Arial Black"/>
                <a:ea typeface="Arial Black"/>
                <a:cs typeface="Arial Black"/>
              </a:rPr>
              <a:t>58%</a:t>
            </a:r>
            <a:endParaRPr sz="88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42D9CC1-F650-4804-B4D3-445AD192DCCE}"/>
              </a:ext>
            </a:extLst>
          </p:cNvPr>
          <p:cNvSpPr>
            <a:spLocks noGrp="1"/>
          </p:cNvSpPr>
          <p:nvPr/>
        </p:nvSpPr>
        <p:spPr>
          <a:xfrm>
            <a:off x="5122173" y="3354944"/>
            <a:ext cx="3657595" cy="6583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 sz="1275">
                <a:solidFill>
                  <a:srgbClr val="94A3B8"/>
                </a:solidFill>
                <a:latin typeface="Trebuchet MS"/>
                <a:ea typeface="Trebuchet MS"/>
                <a:cs typeface="Trebuchet MS"/>
              </a:defRPr>
            </a:pPr>
            <a:r>
              <a:rPr sz="1275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report key decisions based on</a:t>
            </a:r>
            <a:endParaRPr sz="1400"/>
          </a:p>
          <a:p>
            <a:pPr marL="0" indent="0" algn="ctr">
              <a:buNone/>
              <a:defRPr sz="1275">
                <a:solidFill>
                  <a:srgbClr val="94A3B8"/>
                </a:solidFill>
                <a:latin typeface="Trebuchet MS"/>
                <a:ea typeface="Trebuchet MS"/>
                <a:cs typeface="Trebuchet MS"/>
              </a:defRPr>
            </a:pPr>
            <a:r>
              <a:rPr sz="1275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inaccurate or inconsistent data</a:t>
            </a:r>
            <a:endParaRPr sz="1400">
              <a:solidFill>
                <a:srgbClr val="EF4444"/>
              </a:solidFill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026FFE91-CFAB-46CE-8420-ABECB7878068}"/>
              </a:ext>
            </a:extLst>
          </p:cNvPr>
          <p:cNvSpPr>
            <a:spLocks noGrp="1"/>
          </p:cNvSpPr>
          <p:nvPr/>
        </p:nvSpPr>
        <p:spPr>
          <a:xfrm>
            <a:off x="5122173" y="4188388"/>
            <a:ext cx="3657595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i="1">
                <a:solidFill>
                  <a:srgbClr val="475569"/>
                </a:solidFill>
                <a:latin typeface="Trebuchet MS"/>
                <a:ea typeface="Trebuchet MS"/>
                <a:cs typeface="Trebuchet MS"/>
              </a:rPr>
              <a:t>SOURCE: KPMG, IMPACT OF DATA RISK</a:t>
            </a:r>
            <a:endParaRPr sz="850" b="1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94D7A274-B4D9-361D-3114-EBB70EF5BB7E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E1F3E073-04A9-F664-C7BB-92B710D13DED}"/>
              </a:ext>
            </a:extLst>
          </p:cNvPr>
          <p:cNvSpPr>
            <a:spLocks noGrp="1"/>
          </p:cNvSpPr>
          <p:nvPr/>
        </p:nvSpPr>
        <p:spPr>
          <a:xfrm>
            <a:off x="457200" y="490926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FF0000"/>
            </a:solidFill>
            <a:prstDash val="dash"/>
          </a:ln>
        </p:spPr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F1DF9144-F837-E089-AD85-F61E70A76F56}"/>
              </a:ext>
            </a:extLst>
          </p:cNvPr>
          <p:cNvSpPr>
            <a:spLocks noGrp="1"/>
          </p:cNvSpPr>
          <p:nvPr/>
        </p:nvSpPr>
        <p:spPr>
          <a:xfrm>
            <a:off x="457200" y="490926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150">
                <a:solidFill>
                  <a:srgbClr val="FF0000"/>
                </a:solidFill>
                <a:latin typeface="Trebuchet MS"/>
                <a:ea typeface="Trebuchet MS"/>
                <a:cs typeface="Trebuchet MS"/>
              </a:rPr>
              <a:t>THE PROBLEM</a:t>
            </a:r>
            <a:endParaRPr sz="850">
              <a:solidFill>
                <a:srgbClr val="FF0000"/>
              </a:solidFill>
            </a:endParaRPr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0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626B16-7E03-F5A8-A8CF-59FC482FDFCA}"/>
              </a:ext>
            </a:extLst>
          </p:cNvPr>
          <p:cNvSpPr>
            <a:spLocks noGrp="1"/>
          </p:cNvSpPr>
          <p:nvPr/>
        </p:nvSpPr>
        <p:spPr>
          <a:xfrm>
            <a:off x="457200" y="917776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One Platform. </a:t>
            </a:r>
            <a:r>
              <a:rPr sz="34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One Workflow.</a:t>
            </a:r>
            <a:endParaRPr sz="3400">
              <a:latin typeface="Montserrat"/>
              <a:ea typeface="Montserrat"/>
              <a:cs typeface="Montserra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583B3D-4EA2-DECE-EE75-FA60557DE08C}"/>
              </a:ext>
            </a:extLst>
          </p:cNvPr>
          <p:cNvSpPr>
            <a:spLocks noGrp="1"/>
          </p:cNvSpPr>
          <p:nvPr/>
        </p:nvSpPr>
        <p:spPr>
          <a:xfrm>
            <a:off x="457200" y="1392607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Every step in sequence. No gaps, no guesswork, no code.</a:t>
            </a:r>
            <a:endParaRPr sz="1400">
              <a:latin typeface="Montserrat"/>
              <a:ea typeface="Montserrat"/>
              <a:cs typeface="Montserrat"/>
            </a:endParaRPr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71595C3A-5B52-B8E3-BE37-83EDB5AE1D88}"/>
              </a:ext>
            </a:extLst>
          </p:cNvPr>
          <p:cNvSpPr>
            <a:spLocks noGrp="1"/>
          </p:cNvSpPr>
          <p:nvPr/>
        </p:nvSpPr>
        <p:spPr>
          <a:xfrm>
            <a:off x="410615" y="4228536"/>
            <a:ext cx="8322772" cy="347472"/>
          </a:xfrm>
          <a:prstGeom prst="roundRect">
            <a:avLst>
              <a:gd name="adj" fmla="val 29567"/>
            </a:avLst>
          </a:prstGeom>
          <a:solidFill>
            <a:srgbClr val="1E2A3B"/>
          </a:solidFill>
          <a:ln w="19050">
            <a:noFill/>
            <a:prstDash val="solid"/>
          </a:ln>
        </p:spPr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49D0A204-C53C-CFA4-5CA7-0248D2D8107B}"/>
              </a:ext>
            </a:extLst>
          </p:cNvPr>
          <p:cNvSpPr>
            <a:spLocks noGrp="1"/>
          </p:cNvSpPr>
          <p:nvPr/>
        </p:nvSpPr>
        <p:spPr>
          <a:xfrm>
            <a:off x="457463" y="4228536"/>
            <a:ext cx="8275924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</a:rPr>
              <a:t>Guided sequence · Session state preserved · Audit report beside each export</a:t>
            </a:r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617EFCD5-5507-C478-2700-E194635C316D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2D14A896-D49F-718E-610C-12F77584295B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2563EB"/>
            </a:solidFill>
            <a:prstDash val="dash"/>
          </a:ln>
        </p:spPr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EC12F696-ECAC-9B40-17FB-C4CA036C7FAB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150">
                <a:solidFill>
                  <a:srgbClr val="3B82F6"/>
                </a:solidFill>
                <a:latin typeface="Trebuchet MS"/>
                <a:ea typeface="Trebuchet MS"/>
                <a:cs typeface="Trebuchet MS"/>
              </a:rPr>
              <a:t>THE PRODUCT</a:t>
            </a:r>
            <a:endParaRPr sz="850"/>
          </a:p>
        </p:txBody>
      </p:sp>
      <p:sp>
        <p:nvSpPr>
          <p:cNvPr id="70" name="Rectangle: Top Corners Rounded 69">
            <a:extLst>
              <a:ext uri="{FF2B5EF4-FFF2-40B4-BE49-F238E27FC236}">
                <a16:creationId xmlns:a16="http://schemas.microsoft.com/office/drawing/2014/main" id="{3947DD31-5E41-E133-1C53-29CEE32B7640}"/>
              </a:ext>
            </a:extLst>
          </p:cNvPr>
          <p:cNvSpPr>
            <a:spLocks noGrp="1"/>
          </p:cNvSpPr>
          <p:nvPr/>
        </p:nvSpPr>
        <p:spPr>
          <a:xfrm>
            <a:off x="410615" y="1978574"/>
            <a:ext cx="1210234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E0A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09FA27E-E953-22EB-12B2-C511874E0F7C}"/>
              </a:ext>
            </a:extLst>
          </p:cNvPr>
          <p:cNvSpPr>
            <a:spLocks noGrp="1"/>
          </p:cNvSpPr>
          <p:nvPr/>
        </p:nvSpPr>
        <p:spPr>
          <a:xfrm>
            <a:off x="410614" y="2012267"/>
            <a:ext cx="1210235" cy="1782303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8DD2C8D-30B4-C8BF-9DEA-877785B57745}"/>
              </a:ext>
            </a:extLst>
          </p:cNvPr>
          <p:cNvSpPr>
            <a:spLocks noGrp="1"/>
          </p:cNvSpPr>
          <p:nvPr/>
        </p:nvSpPr>
        <p:spPr>
          <a:xfrm>
            <a:off x="525293" y="1905806"/>
            <a:ext cx="197224" cy="197224"/>
          </a:xfrm>
          <a:prstGeom prst="ellipse">
            <a:avLst/>
          </a:prstGeom>
          <a:solidFill>
            <a:srgbClr val="E0A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1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29C26D1-E0A6-B90B-565D-333287F8AE72}"/>
              </a:ext>
            </a:extLst>
          </p:cNvPr>
          <p:cNvSpPr>
            <a:spLocks noGrp="1"/>
          </p:cNvSpPr>
          <p:nvPr/>
        </p:nvSpPr>
        <p:spPr>
          <a:xfrm>
            <a:off x="543589" y="2259283"/>
            <a:ext cx="438935" cy="438935"/>
          </a:xfrm>
          <a:prstGeom prst="roundRect">
            <a:avLst/>
          </a:prstGeom>
          <a:solidFill>
            <a:srgbClr val="E0A03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8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49" y="2280594"/>
            <a:ext cx="390013" cy="390013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DA9ACCB2-D29E-1808-7FCA-70DB3F273CAA}"/>
              </a:ext>
            </a:extLst>
          </p:cNvPr>
          <p:cNvSpPr>
            <a:spLocks noGrp="1"/>
          </p:cNvSpPr>
          <p:nvPr/>
        </p:nvSpPr>
        <p:spPr>
          <a:xfrm>
            <a:off x="476595" y="2730716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SOURCES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604E4B-7349-2AF9-D361-521F887F3470}"/>
              </a:ext>
            </a:extLst>
          </p:cNvPr>
          <p:cNvSpPr>
            <a:spLocks noGrp="1"/>
          </p:cNvSpPr>
          <p:nvPr/>
        </p:nvSpPr>
        <p:spPr>
          <a:xfrm>
            <a:off x="476595" y="2924796"/>
            <a:ext cx="10782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Discover &amp; ingest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54896B-A668-D9F8-4EC3-7FDBACD5163F}"/>
              </a:ext>
            </a:extLst>
          </p:cNvPr>
          <p:cNvSpPr>
            <a:spLocks noGrp="1"/>
          </p:cNvSpPr>
          <p:nvPr/>
        </p:nvSpPr>
        <p:spPr>
          <a:xfrm>
            <a:off x="476595" y="3157243"/>
            <a:ext cx="10782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xlsx • csv </a:t>
            </a:r>
            <a:r>
              <a:rPr sz="8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• </a:t>
            </a: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zip</a:t>
            </a:r>
          </a:p>
        </p:txBody>
      </p:sp>
      <p:sp>
        <p:nvSpPr>
          <p:cNvPr id="80" name="Rectangle: Top Corners Rounded 79">
            <a:extLst>
              <a:ext uri="{FF2B5EF4-FFF2-40B4-BE49-F238E27FC236}">
                <a16:creationId xmlns:a16="http://schemas.microsoft.com/office/drawing/2014/main" id="{DB8FABA8-5042-1582-617E-123C5AA7DBF3}"/>
              </a:ext>
            </a:extLst>
          </p:cNvPr>
          <p:cNvSpPr>
            <a:spLocks noGrp="1"/>
          </p:cNvSpPr>
          <p:nvPr/>
        </p:nvSpPr>
        <p:spPr>
          <a:xfrm>
            <a:off x="1833123" y="1978574"/>
            <a:ext cx="1210234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64B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C2E7CC5-9AFE-DCDE-8E16-7A9DC8E576D4}"/>
              </a:ext>
            </a:extLst>
          </p:cNvPr>
          <p:cNvSpPr>
            <a:spLocks noGrp="1"/>
          </p:cNvSpPr>
          <p:nvPr/>
        </p:nvSpPr>
        <p:spPr>
          <a:xfrm>
            <a:off x="1833122" y="2012267"/>
            <a:ext cx="1210235" cy="1782303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819E2A0-ADAF-91E3-1DAA-AAD95C41773A}"/>
              </a:ext>
            </a:extLst>
          </p:cNvPr>
          <p:cNvSpPr>
            <a:spLocks noGrp="1"/>
          </p:cNvSpPr>
          <p:nvPr/>
        </p:nvSpPr>
        <p:spPr>
          <a:xfrm>
            <a:off x="1947801" y="1905806"/>
            <a:ext cx="197224" cy="197224"/>
          </a:xfrm>
          <a:prstGeom prst="ellipse">
            <a:avLst/>
          </a:prstGeom>
          <a:solidFill>
            <a:srgbClr val="64B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2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315D5413-03DB-E7D6-0144-B209ACFE3C33}"/>
              </a:ext>
            </a:extLst>
          </p:cNvPr>
          <p:cNvSpPr>
            <a:spLocks noGrp="1"/>
          </p:cNvSpPr>
          <p:nvPr/>
        </p:nvSpPr>
        <p:spPr>
          <a:xfrm>
            <a:off x="1966097" y="2259283"/>
            <a:ext cx="438935" cy="438935"/>
          </a:xfrm>
          <a:prstGeom prst="roundRect">
            <a:avLst/>
          </a:prstGeom>
          <a:solidFill>
            <a:srgbClr val="64B68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56" name="Picture 8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90557" y="2280594"/>
            <a:ext cx="390013" cy="390013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5DCE3D8E-F94A-BAB3-EB2E-B764A4E79BEF}"/>
              </a:ext>
            </a:extLst>
          </p:cNvPr>
          <p:cNvSpPr>
            <a:spLocks noGrp="1"/>
          </p:cNvSpPr>
          <p:nvPr/>
        </p:nvSpPr>
        <p:spPr>
          <a:xfrm>
            <a:off x="1899103" y="2730716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VALIDATE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4077AB-EE95-CCEA-4B98-929313BF6860}"/>
              </a:ext>
            </a:extLst>
          </p:cNvPr>
          <p:cNvSpPr>
            <a:spLocks noGrp="1"/>
          </p:cNvSpPr>
          <p:nvPr/>
        </p:nvSpPr>
        <p:spPr>
          <a:xfrm>
            <a:off x="1899103" y="2924796"/>
            <a:ext cx="10782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Schema check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BBEC20D-D63A-52EF-3132-AB68CEC62012}"/>
              </a:ext>
            </a:extLst>
          </p:cNvPr>
          <p:cNvSpPr>
            <a:spLocks noGrp="1"/>
          </p:cNvSpPr>
          <p:nvPr/>
        </p:nvSpPr>
        <p:spPr>
          <a:xfrm>
            <a:off x="1899103" y="3157243"/>
            <a:ext cx="10782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pass • warn </a:t>
            </a:r>
            <a:r>
              <a:rPr sz="8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• </a:t>
            </a: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fail</a:t>
            </a:r>
          </a:p>
        </p:txBody>
      </p:sp>
      <p:sp>
        <p:nvSpPr>
          <p:cNvPr id="89" name="Rectangle: Top Corners Rounded 88">
            <a:extLst>
              <a:ext uri="{FF2B5EF4-FFF2-40B4-BE49-F238E27FC236}">
                <a16:creationId xmlns:a16="http://schemas.microsoft.com/office/drawing/2014/main" id="{E0409303-7CD8-B135-AF62-807FB9AAB297}"/>
              </a:ext>
            </a:extLst>
          </p:cNvPr>
          <p:cNvSpPr>
            <a:spLocks noGrp="1"/>
          </p:cNvSpPr>
          <p:nvPr/>
        </p:nvSpPr>
        <p:spPr>
          <a:xfrm>
            <a:off x="3255631" y="2008131"/>
            <a:ext cx="1210234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8760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B0ACCF5-BC8D-83DD-428B-23798219D516}"/>
              </a:ext>
            </a:extLst>
          </p:cNvPr>
          <p:cNvSpPr>
            <a:spLocks noGrp="1"/>
          </p:cNvSpPr>
          <p:nvPr/>
        </p:nvSpPr>
        <p:spPr>
          <a:xfrm>
            <a:off x="3255630" y="2041824"/>
            <a:ext cx="1210235" cy="1782303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91E801-6901-5C84-05FD-3A3A0E7947E3}"/>
              </a:ext>
            </a:extLst>
          </p:cNvPr>
          <p:cNvSpPr>
            <a:spLocks noGrp="1"/>
          </p:cNvSpPr>
          <p:nvPr/>
        </p:nvSpPr>
        <p:spPr>
          <a:xfrm>
            <a:off x="3370309" y="1935363"/>
            <a:ext cx="197224" cy="197224"/>
          </a:xfrm>
          <a:prstGeom prst="ellipse">
            <a:avLst/>
          </a:prstGeom>
          <a:solidFill>
            <a:srgbClr val="8760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3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2254F105-F2CE-E601-48C5-0D2846CA6421}"/>
              </a:ext>
            </a:extLst>
          </p:cNvPr>
          <p:cNvSpPr>
            <a:spLocks noGrp="1"/>
          </p:cNvSpPr>
          <p:nvPr/>
        </p:nvSpPr>
        <p:spPr>
          <a:xfrm>
            <a:off x="3388605" y="2288840"/>
            <a:ext cx="438935" cy="438935"/>
          </a:xfrm>
          <a:prstGeom prst="roundRect">
            <a:avLst/>
          </a:prstGeom>
          <a:solidFill>
            <a:srgbClr val="8760ED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4" name="Picture 9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13065" y="2310151"/>
            <a:ext cx="390013" cy="39001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B19B2502-BD3E-1D89-A40E-9735B0686260}"/>
              </a:ext>
            </a:extLst>
          </p:cNvPr>
          <p:cNvSpPr>
            <a:spLocks noGrp="1"/>
          </p:cNvSpPr>
          <p:nvPr/>
        </p:nvSpPr>
        <p:spPr>
          <a:xfrm>
            <a:off x="3321611" y="2760273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ALIGN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EACA119-D22C-2BDB-B302-4635E86780EA}"/>
              </a:ext>
            </a:extLst>
          </p:cNvPr>
          <p:cNvSpPr>
            <a:spLocks noGrp="1"/>
          </p:cNvSpPr>
          <p:nvPr/>
        </p:nvSpPr>
        <p:spPr>
          <a:xfrm>
            <a:off x="3321611" y="2954353"/>
            <a:ext cx="10782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Column mapping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A16E208-B58D-D1B0-BB61-7C406A55A923}"/>
              </a:ext>
            </a:extLst>
          </p:cNvPr>
          <p:cNvSpPr>
            <a:spLocks noGrp="1"/>
          </p:cNvSpPr>
          <p:nvPr/>
        </p:nvSpPr>
        <p:spPr>
          <a:xfrm>
            <a:off x="3321611" y="3186800"/>
            <a:ext cx="10782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REORDER • NORMALISE</a:t>
            </a:r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B60D0631-A460-9417-0DF0-A469599240D8}"/>
              </a:ext>
            </a:extLst>
          </p:cNvPr>
          <p:cNvSpPr>
            <a:spLocks noGrp="1"/>
          </p:cNvSpPr>
          <p:nvPr/>
        </p:nvSpPr>
        <p:spPr>
          <a:xfrm>
            <a:off x="4678139" y="2014815"/>
            <a:ext cx="1210234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608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0DEE4A6-BA5E-F2F3-713E-71827728A572}"/>
              </a:ext>
            </a:extLst>
          </p:cNvPr>
          <p:cNvSpPr>
            <a:spLocks noGrp="1"/>
          </p:cNvSpPr>
          <p:nvPr/>
        </p:nvSpPr>
        <p:spPr>
          <a:xfrm>
            <a:off x="4678138" y="2048508"/>
            <a:ext cx="1210235" cy="1782303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2DC606E-990E-A72B-9643-747D22C5C383}"/>
              </a:ext>
            </a:extLst>
          </p:cNvPr>
          <p:cNvSpPr>
            <a:spLocks noGrp="1"/>
          </p:cNvSpPr>
          <p:nvPr/>
        </p:nvSpPr>
        <p:spPr>
          <a:xfrm>
            <a:off x="4792817" y="1942047"/>
            <a:ext cx="197224" cy="197224"/>
          </a:xfrm>
          <a:prstGeom prst="ellipse">
            <a:avLst/>
          </a:prstGeom>
          <a:solidFill>
            <a:srgbClr val="608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4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D95323A-42A4-FCAD-5817-CFFE4C709A85}"/>
              </a:ext>
            </a:extLst>
          </p:cNvPr>
          <p:cNvSpPr>
            <a:spLocks noGrp="1"/>
          </p:cNvSpPr>
          <p:nvPr/>
        </p:nvSpPr>
        <p:spPr>
          <a:xfrm>
            <a:off x="4811113" y="2295524"/>
            <a:ext cx="438935" cy="438935"/>
          </a:xfrm>
          <a:prstGeom prst="roundRect">
            <a:avLst/>
          </a:prstGeom>
          <a:solidFill>
            <a:srgbClr val="6082ED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2" name="Picture 101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35573" y="2316835"/>
            <a:ext cx="390013" cy="39001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F470D7CD-586E-E0FF-172D-14819F266A4D}"/>
              </a:ext>
            </a:extLst>
          </p:cNvPr>
          <p:cNvSpPr>
            <a:spLocks noGrp="1"/>
          </p:cNvSpPr>
          <p:nvPr/>
        </p:nvSpPr>
        <p:spPr>
          <a:xfrm>
            <a:off x="4744119" y="2766957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FILTER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77A7BA1-841D-4F94-8A1D-F22631DAA018}"/>
              </a:ext>
            </a:extLst>
          </p:cNvPr>
          <p:cNvSpPr>
            <a:spLocks noGrp="1"/>
          </p:cNvSpPr>
          <p:nvPr/>
        </p:nvSpPr>
        <p:spPr>
          <a:xfrm>
            <a:off x="4744119" y="2961037"/>
            <a:ext cx="10782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Precision slicing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8912EBF-728C-FC59-D67C-40280AF5F967}"/>
              </a:ext>
            </a:extLst>
          </p:cNvPr>
          <p:cNvSpPr>
            <a:spLocks noGrp="1"/>
          </p:cNvSpPr>
          <p:nvPr/>
        </p:nvSpPr>
        <p:spPr>
          <a:xfrm>
            <a:off x="4744119" y="3193484"/>
            <a:ext cx="10782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cat • text </a:t>
            </a:r>
            <a:r>
              <a:rPr sz="8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• </a:t>
            </a:r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num • date</a:t>
            </a:r>
          </a:p>
        </p:txBody>
      </p:sp>
      <p:sp>
        <p:nvSpPr>
          <p:cNvPr id="107" name="Rectangle: Top Corners Rounded 106">
            <a:extLst>
              <a:ext uri="{FF2B5EF4-FFF2-40B4-BE49-F238E27FC236}">
                <a16:creationId xmlns:a16="http://schemas.microsoft.com/office/drawing/2014/main" id="{AD1D76F0-E5EA-B067-76B4-7AEDAE1988C2}"/>
              </a:ext>
            </a:extLst>
          </p:cNvPr>
          <p:cNvSpPr>
            <a:spLocks noGrp="1"/>
          </p:cNvSpPr>
          <p:nvPr/>
        </p:nvSpPr>
        <p:spPr>
          <a:xfrm>
            <a:off x="6100647" y="2019464"/>
            <a:ext cx="1210234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64B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99731BD-7084-AD69-2452-B0CD16EFF562}"/>
              </a:ext>
            </a:extLst>
          </p:cNvPr>
          <p:cNvSpPr>
            <a:spLocks noGrp="1"/>
          </p:cNvSpPr>
          <p:nvPr/>
        </p:nvSpPr>
        <p:spPr>
          <a:xfrm>
            <a:off x="6100646" y="2053157"/>
            <a:ext cx="1210235" cy="1782303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D8A635D-43BC-69A0-3846-22D040D2509E}"/>
              </a:ext>
            </a:extLst>
          </p:cNvPr>
          <p:cNvSpPr>
            <a:spLocks noGrp="1"/>
          </p:cNvSpPr>
          <p:nvPr/>
        </p:nvSpPr>
        <p:spPr>
          <a:xfrm>
            <a:off x="6215325" y="1946696"/>
            <a:ext cx="197224" cy="197224"/>
          </a:xfrm>
          <a:prstGeom prst="ellipse">
            <a:avLst/>
          </a:prstGeom>
          <a:solidFill>
            <a:srgbClr val="64B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5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2CA9CFF-A87F-BBEA-CB48-0EEE2A822086}"/>
              </a:ext>
            </a:extLst>
          </p:cNvPr>
          <p:cNvSpPr>
            <a:spLocks noGrp="1"/>
          </p:cNvSpPr>
          <p:nvPr/>
        </p:nvSpPr>
        <p:spPr>
          <a:xfrm>
            <a:off x="6233621" y="2300173"/>
            <a:ext cx="438935" cy="438935"/>
          </a:xfrm>
          <a:prstGeom prst="roundRect">
            <a:avLst/>
          </a:prstGeom>
          <a:solidFill>
            <a:srgbClr val="64B5A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0" name="Picture 110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58081" y="2321484"/>
            <a:ext cx="390013" cy="390013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51D312A5-2CF4-4C9C-DA43-9337C5879F2C}"/>
              </a:ext>
            </a:extLst>
          </p:cNvPr>
          <p:cNvSpPr>
            <a:spLocks noGrp="1"/>
          </p:cNvSpPr>
          <p:nvPr/>
        </p:nvSpPr>
        <p:spPr>
          <a:xfrm>
            <a:off x="6166627" y="2771606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EXPORT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BC9421B-4E67-0567-1B58-2B66AE660419}"/>
              </a:ext>
            </a:extLst>
          </p:cNvPr>
          <p:cNvSpPr>
            <a:spLocks noGrp="1"/>
          </p:cNvSpPr>
          <p:nvPr/>
        </p:nvSpPr>
        <p:spPr>
          <a:xfrm>
            <a:off x="6166627" y="2965686"/>
            <a:ext cx="10782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4 export modes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4D16486-034F-310B-D178-E3B87B7D191F}"/>
              </a:ext>
            </a:extLst>
          </p:cNvPr>
          <p:cNvSpPr>
            <a:spLocks noGrp="1"/>
          </p:cNvSpPr>
          <p:nvPr/>
        </p:nvSpPr>
        <p:spPr>
          <a:xfrm>
            <a:off x="6166627" y="3198133"/>
            <a:ext cx="1078272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xlsx • csv • csv-text • parquet</a:t>
            </a:r>
          </a:p>
        </p:txBody>
      </p:sp>
      <p:sp>
        <p:nvSpPr>
          <p:cNvPr id="116" name="Rectangle: Top Corners Rounded 115">
            <a:extLst>
              <a:ext uri="{FF2B5EF4-FFF2-40B4-BE49-F238E27FC236}">
                <a16:creationId xmlns:a16="http://schemas.microsoft.com/office/drawing/2014/main" id="{6EA0EE39-BF98-DC9F-C14A-5D55149B47B8}"/>
              </a:ext>
            </a:extLst>
          </p:cNvPr>
          <p:cNvSpPr>
            <a:spLocks noGrp="1"/>
          </p:cNvSpPr>
          <p:nvPr/>
        </p:nvSpPr>
        <p:spPr>
          <a:xfrm>
            <a:off x="7523153" y="2019464"/>
            <a:ext cx="1210234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70C0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7555A20-FCAD-50A3-D27F-F87666B990A8}"/>
              </a:ext>
            </a:extLst>
          </p:cNvPr>
          <p:cNvSpPr>
            <a:spLocks noGrp="1"/>
          </p:cNvSpPr>
          <p:nvPr/>
        </p:nvSpPr>
        <p:spPr>
          <a:xfrm>
            <a:off x="7523152" y="2053157"/>
            <a:ext cx="1210235" cy="1782303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7AFCE2D-B600-C16C-E65A-5F8EBE9EEA9F}"/>
              </a:ext>
            </a:extLst>
          </p:cNvPr>
          <p:cNvSpPr>
            <a:spLocks noGrp="1"/>
          </p:cNvSpPr>
          <p:nvPr/>
        </p:nvSpPr>
        <p:spPr>
          <a:xfrm>
            <a:off x="7637831" y="1946696"/>
            <a:ext cx="197224" cy="197224"/>
          </a:xfrm>
          <a:prstGeom prst="ellipse">
            <a:avLst/>
          </a:prstGeom>
          <a:solidFill>
            <a:srgbClr val="70C0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/>
              <a:t>6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04B77740-7CA1-88E4-AEE2-D1FD01E3CCD0}"/>
              </a:ext>
            </a:extLst>
          </p:cNvPr>
          <p:cNvSpPr>
            <a:spLocks noGrp="1"/>
          </p:cNvSpPr>
          <p:nvPr/>
        </p:nvSpPr>
        <p:spPr>
          <a:xfrm>
            <a:off x="7656127" y="2300173"/>
            <a:ext cx="438935" cy="438935"/>
          </a:xfrm>
          <a:prstGeom prst="roundRect">
            <a:avLst/>
          </a:prstGeom>
          <a:solidFill>
            <a:srgbClr val="70C09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8" name="Picture 119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93511" y="2321484"/>
            <a:ext cx="390013" cy="390013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AA8DBF2A-1EBD-A4D9-5CE9-7335723DD832}"/>
              </a:ext>
            </a:extLst>
          </p:cNvPr>
          <p:cNvSpPr>
            <a:spLocks noGrp="1"/>
          </p:cNvSpPr>
          <p:nvPr/>
        </p:nvSpPr>
        <p:spPr>
          <a:xfrm>
            <a:off x="7589133" y="2771606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AUDIT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763E7C1-FAEB-478A-398B-2EE717648D61}"/>
              </a:ext>
            </a:extLst>
          </p:cNvPr>
          <p:cNvSpPr>
            <a:spLocks noGrp="1"/>
          </p:cNvSpPr>
          <p:nvPr/>
        </p:nvSpPr>
        <p:spPr>
          <a:xfrm>
            <a:off x="7589133" y="2965686"/>
            <a:ext cx="10782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Full log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44A0695-637E-FF7E-A505-DA4010E29643}"/>
              </a:ext>
            </a:extLst>
          </p:cNvPr>
          <p:cNvSpPr>
            <a:spLocks noGrp="1"/>
          </p:cNvSpPr>
          <p:nvPr/>
        </p:nvSpPr>
        <p:spPr>
          <a:xfrm>
            <a:off x="7589133" y="3198133"/>
            <a:ext cx="1078272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tx1">
                    <a:lumMod val="50000"/>
                    <a:lumOff val="50000"/>
                  </a:schemeClr>
                </a:solidFill>
                <a:latin typeface="Bebas Neue"/>
                <a:ea typeface="Bebas Neue"/>
                <a:cs typeface="Bebas Neue"/>
              </a:rPr>
              <a:t>Export evidence captured</a:t>
            </a:r>
          </a:p>
        </p:txBody>
      </p:sp>
      <p:sp>
        <p:nvSpPr>
          <p:cNvPr id="125" name="Arrow: Striped Right 124">
            <a:extLst>
              <a:ext uri="{FF2B5EF4-FFF2-40B4-BE49-F238E27FC236}">
                <a16:creationId xmlns:a16="http://schemas.microsoft.com/office/drawing/2014/main" id="{E93CF9EE-ED7F-6BEA-9496-69DC965E8FC7}"/>
              </a:ext>
            </a:extLst>
          </p:cNvPr>
          <p:cNvSpPr>
            <a:spLocks noGrp="1"/>
          </p:cNvSpPr>
          <p:nvPr/>
        </p:nvSpPr>
        <p:spPr>
          <a:xfrm>
            <a:off x="1641775" y="2830121"/>
            <a:ext cx="181651" cy="165879"/>
          </a:xfrm>
          <a:prstGeom prst="striped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6" name="Arrow: Striped Right 125">
            <a:extLst>
              <a:ext uri="{FF2B5EF4-FFF2-40B4-BE49-F238E27FC236}">
                <a16:creationId xmlns:a16="http://schemas.microsoft.com/office/drawing/2014/main" id="{E78F73CB-A6B9-B502-350D-391D16D86C29}"/>
              </a:ext>
            </a:extLst>
          </p:cNvPr>
          <p:cNvSpPr>
            <a:spLocks noGrp="1"/>
          </p:cNvSpPr>
          <p:nvPr/>
        </p:nvSpPr>
        <p:spPr>
          <a:xfrm>
            <a:off x="3061965" y="2830121"/>
            <a:ext cx="181651" cy="165879"/>
          </a:xfrm>
          <a:prstGeom prst="striped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7" name="Arrow: Striped Right 126">
            <a:extLst>
              <a:ext uri="{FF2B5EF4-FFF2-40B4-BE49-F238E27FC236}">
                <a16:creationId xmlns:a16="http://schemas.microsoft.com/office/drawing/2014/main" id="{A402DC57-5A3C-D020-CFF2-E2B25466AD46}"/>
              </a:ext>
            </a:extLst>
          </p:cNvPr>
          <p:cNvSpPr>
            <a:spLocks noGrp="1"/>
          </p:cNvSpPr>
          <p:nvPr/>
        </p:nvSpPr>
        <p:spPr>
          <a:xfrm>
            <a:off x="4484405" y="2830121"/>
            <a:ext cx="181651" cy="165879"/>
          </a:xfrm>
          <a:prstGeom prst="striped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8" name="Arrow: Striped Right 127">
            <a:extLst>
              <a:ext uri="{FF2B5EF4-FFF2-40B4-BE49-F238E27FC236}">
                <a16:creationId xmlns:a16="http://schemas.microsoft.com/office/drawing/2014/main" id="{D76F392F-CAFD-6C19-A8AA-E4EF6D530A68}"/>
              </a:ext>
            </a:extLst>
          </p:cNvPr>
          <p:cNvSpPr>
            <a:spLocks noGrp="1"/>
          </p:cNvSpPr>
          <p:nvPr/>
        </p:nvSpPr>
        <p:spPr>
          <a:xfrm>
            <a:off x="5908630" y="2830121"/>
            <a:ext cx="181651" cy="165879"/>
          </a:xfrm>
          <a:prstGeom prst="striped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9" name="Arrow: Striped Right 128">
            <a:extLst>
              <a:ext uri="{FF2B5EF4-FFF2-40B4-BE49-F238E27FC236}">
                <a16:creationId xmlns:a16="http://schemas.microsoft.com/office/drawing/2014/main" id="{8A297EBF-3E69-47CD-21E0-1C2AC0766984}"/>
              </a:ext>
            </a:extLst>
          </p:cNvPr>
          <p:cNvSpPr>
            <a:spLocks noGrp="1"/>
          </p:cNvSpPr>
          <p:nvPr/>
        </p:nvSpPr>
        <p:spPr>
          <a:xfrm>
            <a:off x="7330939" y="2830121"/>
            <a:ext cx="181651" cy="165879"/>
          </a:xfrm>
          <a:prstGeom prst="striped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7" name="Picture 196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4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1C43F8-1015-43B3-49C1-641D27F22800}"/>
              </a:ext>
            </a:extLst>
          </p:cNvPr>
          <p:cNvSpPr>
            <a:spLocks noGrp="1"/>
          </p:cNvSpPr>
          <p:nvPr/>
        </p:nvSpPr>
        <p:spPr>
          <a:xfrm>
            <a:off x="457200" y="822449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3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How Merge</a:t>
            </a:r>
            <a:r>
              <a:rPr sz="3600" b="1">
                <a:solidFill>
                  <a:srgbClr val="3B82F6"/>
                </a:solidFill>
                <a:latin typeface="Arial Black"/>
                <a:ea typeface="Arial Black"/>
                <a:cs typeface="Arial Black"/>
              </a:rPr>
              <a:t>Guru</a:t>
            </a:r>
            <a:r>
              <a:rPr sz="3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Works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9599BA-2C4C-350F-656A-21F337BBD44D}"/>
              </a:ext>
            </a:extLst>
          </p:cNvPr>
          <p:cNvSpPr>
            <a:spLocks noGrp="1"/>
          </p:cNvSpPr>
          <p:nvPr/>
        </p:nvSpPr>
        <p:spPr>
          <a:xfrm>
            <a:off x="457200" y="12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A purpose-built pipeline for controlled data consolidation.</a:t>
            </a:r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9C5A51B9-D17F-F822-64E7-B5F52F2952FC}"/>
              </a:ext>
            </a:extLst>
          </p:cNvPr>
          <p:cNvSpPr>
            <a:spLocks noGrp="1"/>
          </p:cNvSpPr>
          <p:nvPr/>
        </p:nvSpPr>
        <p:spPr>
          <a:xfrm>
            <a:off x="410614" y="4572699"/>
            <a:ext cx="8322772" cy="278607"/>
          </a:xfrm>
          <a:prstGeom prst="roundRect">
            <a:avLst>
              <a:gd name="adj" fmla="val 29567"/>
            </a:avLst>
          </a:prstGeom>
          <a:solidFill>
            <a:srgbClr val="1E2A3B"/>
          </a:solidFill>
          <a:ln w="19050">
            <a:noFill/>
            <a:prstDash val="solid"/>
          </a:ln>
        </p:spPr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1D71A24B-42B3-6FE8-5160-7E3888DF825E}"/>
              </a:ext>
            </a:extLst>
          </p:cNvPr>
          <p:cNvSpPr>
            <a:spLocks noGrp="1"/>
          </p:cNvSpPr>
          <p:nvPr/>
        </p:nvSpPr>
        <p:spPr>
          <a:xfrm>
            <a:off x="457462" y="4572699"/>
            <a:ext cx="8275924" cy="2786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1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Background workers · Visible progress and ETA · RAM guard · Thread-safe UI updates</a:t>
            </a:r>
            <a:endParaRPr sz="110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579E3056-A3A3-C8F6-A63C-F9597952ADEF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FE7F06C6-A7F9-C2AC-4C9A-CC24971A70DB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2563EB"/>
            </a:solidFill>
            <a:prstDash val="dash"/>
          </a:ln>
        </p:spPr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687ADDC5-FB3C-E279-6C00-8804D9D85378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150">
                <a:solidFill>
                  <a:srgbClr val="3B82F6"/>
                </a:solidFill>
                <a:latin typeface="Trebuchet MS"/>
                <a:ea typeface="Trebuchet MS"/>
                <a:cs typeface="Trebuchet MS"/>
              </a:rPr>
              <a:t>UNDER THE HOOD</a:t>
            </a:r>
            <a:endParaRPr sz="85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50A6897-9C1B-38BD-DFE1-C5BD2CC85B1A}"/>
              </a:ext>
            </a:extLst>
          </p:cNvPr>
          <p:cNvSpPr>
            <a:spLocks noGrp="1"/>
          </p:cNvSpPr>
          <p:nvPr/>
        </p:nvSpPr>
        <p:spPr>
          <a:xfrm>
            <a:off x="332974" y="1696386"/>
            <a:ext cx="675033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chemeClr val="bg2">
                    <a:lumMod val="25000"/>
                  </a:schemeClr>
                </a:solidFill>
                <a:latin typeface="Montserrat"/>
                <a:ea typeface="Montserrat"/>
                <a:cs typeface="Montserrat"/>
              </a:rPr>
              <a:t>INPUT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E4B96FA-E7E9-95C7-F57C-86B16D5CBB40}"/>
              </a:ext>
            </a:extLst>
          </p:cNvPr>
          <p:cNvSpPr>
            <a:spLocks noGrp="1"/>
          </p:cNvSpPr>
          <p:nvPr/>
        </p:nvSpPr>
        <p:spPr>
          <a:xfrm>
            <a:off x="3375014" y="1696386"/>
            <a:ext cx="2099503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chemeClr val="bg2">
                    <a:lumMod val="25000"/>
                  </a:schemeClr>
                </a:solidFill>
                <a:latin typeface="Montserrat"/>
                <a:ea typeface="Montserrat"/>
                <a:cs typeface="Montserrat"/>
              </a:rPr>
              <a:t>PROCESSING ENGINES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A558EE7-D679-1CBF-F6AC-149AFCD98E3F}"/>
              </a:ext>
            </a:extLst>
          </p:cNvPr>
          <p:cNvSpPr>
            <a:spLocks noGrp="1"/>
          </p:cNvSpPr>
          <p:nvPr/>
        </p:nvSpPr>
        <p:spPr>
          <a:xfrm>
            <a:off x="6398927" y="1696386"/>
            <a:ext cx="2099503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chemeClr val="bg2">
                    <a:lumMod val="25000"/>
                  </a:schemeClr>
                </a:solidFill>
                <a:latin typeface="Montserrat"/>
                <a:ea typeface="Montserrat"/>
                <a:cs typeface="Montserrat"/>
              </a:rPr>
              <a:t>OUTPUT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E822591-467D-6982-C9AE-4E47E3C86EDC}"/>
              </a:ext>
            </a:extLst>
          </p:cNvPr>
          <p:cNvSpPr>
            <a:spLocks noGrp="1"/>
          </p:cNvSpPr>
          <p:nvPr/>
        </p:nvSpPr>
        <p:spPr>
          <a:xfrm>
            <a:off x="457463" y="2346676"/>
            <a:ext cx="1444139" cy="434805"/>
          </a:xfrm>
          <a:prstGeom prst="roundRect">
            <a:avLst/>
          </a:prstGeom>
          <a:solidFill>
            <a:srgbClr val="1E2A3B"/>
          </a:solidFill>
          <a:ln w="635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50" y="2432564"/>
            <a:ext cx="266644" cy="266644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1E845B2C-2773-2A1E-EDEE-59BE7650ADC6}"/>
              </a:ext>
            </a:extLst>
          </p:cNvPr>
          <p:cNvSpPr>
            <a:spLocks noGrp="1"/>
          </p:cNvSpPr>
          <p:nvPr/>
        </p:nvSpPr>
        <p:spPr>
          <a:xfrm>
            <a:off x="883915" y="2377152"/>
            <a:ext cx="798077" cy="230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Excel</a:t>
            </a:r>
            <a:endParaRPr sz="1050"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603A806-3B7A-3383-F3F2-0D7A8C592145}"/>
              </a:ext>
            </a:extLst>
          </p:cNvPr>
          <p:cNvSpPr>
            <a:spLocks noGrp="1"/>
          </p:cNvSpPr>
          <p:nvPr/>
        </p:nvSpPr>
        <p:spPr>
          <a:xfrm>
            <a:off x="883915" y="2534552"/>
            <a:ext cx="798077" cy="230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9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.xlsx</a:t>
            </a:r>
            <a:r>
              <a:rPr sz="900">
                <a:solidFill>
                  <a:schemeClr val="bg2">
                    <a:lumMod val="50000"/>
                  </a:schemeClr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9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.xlsm</a:t>
            </a: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E716C03A-D7EC-B16F-8DCD-7D8621B0A2AB}"/>
              </a:ext>
            </a:extLst>
          </p:cNvPr>
          <p:cNvSpPr>
            <a:spLocks noGrp="1"/>
          </p:cNvSpPr>
          <p:nvPr/>
        </p:nvSpPr>
        <p:spPr>
          <a:xfrm>
            <a:off x="457462" y="2962574"/>
            <a:ext cx="1444139" cy="434805"/>
          </a:xfrm>
          <a:prstGeom prst="roundRect">
            <a:avLst/>
          </a:prstGeom>
          <a:solidFill>
            <a:srgbClr val="1E2A3B"/>
          </a:solidFill>
          <a:ln w="6350">
            <a:solidFill>
              <a:srgbClr val="3B82F6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96667B5-761B-D157-5C7D-73048155175E}"/>
              </a:ext>
            </a:extLst>
          </p:cNvPr>
          <p:cNvSpPr>
            <a:spLocks noGrp="1"/>
          </p:cNvSpPr>
          <p:nvPr/>
        </p:nvSpPr>
        <p:spPr>
          <a:xfrm>
            <a:off x="883914" y="2993050"/>
            <a:ext cx="798077" cy="230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CSV</a:t>
            </a:r>
            <a:endParaRPr sz="1050">
              <a:latin typeface="Montserrat"/>
              <a:ea typeface="Montserrat"/>
              <a:cs typeface="Montserrat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56B709C4-394E-D40D-262B-C25D402BCEE7}"/>
              </a:ext>
            </a:extLst>
          </p:cNvPr>
          <p:cNvSpPr>
            <a:spLocks noGrp="1"/>
          </p:cNvSpPr>
          <p:nvPr/>
        </p:nvSpPr>
        <p:spPr>
          <a:xfrm>
            <a:off x="883914" y="3150450"/>
            <a:ext cx="798077" cy="230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9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Utf-8 </a:t>
            </a:r>
            <a:r>
              <a:rPr sz="900">
                <a:solidFill>
                  <a:schemeClr val="bg2">
                    <a:lumMod val="50000"/>
                  </a:schemeClr>
                </a:solidFill>
                <a:latin typeface="Trebuchet MS"/>
                <a:ea typeface="Trebuchet MS"/>
                <a:cs typeface="Trebuchet MS"/>
              </a:rPr>
              <a:t>· </a:t>
            </a:r>
            <a:r>
              <a:rPr sz="9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ascii</a:t>
            </a:r>
          </a:p>
        </p:txBody>
      </p:sp>
      <p:pic>
        <p:nvPicPr>
          <p:cNvPr id="20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06" y="3044257"/>
            <a:ext cx="266644" cy="276441"/>
          </a:xfrm>
          <a:prstGeom prst="rect">
            <a:avLst/>
          </a:prstGeom>
        </p:spPr>
      </p:pic>
      <p:sp>
        <p:nvSpPr>
          <p:cNvPr id="25" name="Shape 2">
            <a:extLst>
              <a:ext uri="{FF2B5EF4-FFF2-40B4-BE49-F238E27FC236}">
                <a16:creationId xmlns:a16="http://schemas.microsoft.com/office/drawing/2014/main" id="{8468536C-BB6C-96DD-A8DD-E4D2D3FAC630}"/>
              </a:ext>
            </a:extLst>
          </p:cNvPr>
          <p:cNvSpPr>
            <a:spLocks noGrp="1"/>
          </p:cNvSpPr>
          <p:nvPr/>
        </p:nvSpPr>
        <p:spPr>
          <a:xfrm>
            <a:off x="461519" y="3578471"/>
            <a:ext cx="1444139" cy="434805"/>
          </a:xfrm>
          <a:prstGeom prst="roundRect">
            <a:avLst/>
          </a:prstGeom>
          <a:solidFill>
            <a:srgbClr val="1E2A3B"/>
          </a:solidFill>
          <a:ln w="635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847068A-BBA8-27F1-F5B9-4B921EE26B65}"/>
              </a:ext>
            </a:extLst>
          </p:cNvPr>
          <p:cNvSpPr>
            <a:spLocks noGrp="1"/>
          </p:cNvSpPr>
          <p:nvPr/>
        </p:nvSpPr>
        <p:spPr>
          <a:xfrm>
            <a:off x="887971" y="3608947"/>
            <a:ext cx="925761" cy="230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ZIP Archive</a:t>
            </a:r>
            <a:endParaRPr sz="1050">
              <a:latin typeface="Montserrat"/>
              <a:ea typeface="Montserrat"/>
              <a:cs typeface="Montserrat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F1F36758-BB01-78DD-30E9-78566D18E4A1}"/>
              </a:ext>
            </a:extLst>
          </p:cNvPr>
          <p:cNvSpPr>
            <a:spLocks noGrp="1"/>
          </p:cNvSpPr>
          <p:nvPr/>
        </p:nvSpPr>
        <p:spPr>
          <a:xfrm>
            <a:off x="887971" y="3766347"/>
            <a:ext cx="925761" cy="23072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9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Recursive scan</a:t>
            </a:r>
          </a:p>
        </p:txBody>
      </p:sp>
      <p:pic>
        <p:nvPicPr>
          <p:cNvPr id="20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50" y="3642807"/>
            <a:ext cx="266644" cy="306131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6FCB86A-81B1-6AA9-8757-A05E689696ED}"/>
              </a:ext>
            </a:extLst>
          </p:cNvPr>
          <p:cNvSpPr>
            <a:spLocks noGrp="1"/>
          </p:cNvSpPr>
          <p:nvPr/>
        </p:nvSpPr>
        <p:spPr>
          <a:xfrm>
            <a:off x="2606918" y="2080234"/>
            <a:ext cx="487895" cy="306320"/>
          </a:xfrm>
          <a:prstGeom prst="roundRect">
            <a:avLst/>
          </a:prstGeom>
          <a:solidFill>
            <a:srgbClr val="CE54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90291A8-A0EA-AAC0-CFB1-6CD53442704F}"/>
              </a:ext>
            </a:extLst>
          </p:cNvPr>
          <p:cNvSpPr>
            <a:spLocks noGrp="1"/>
          </p:cNvSpPr>
          <p:nvPr/>
        </p:nvSpPr>
        <p:spPr>
          <a:xfrm>
            <a:off x="2639941" y="2080234"/>
            <a:ext cx="3602671" cy="306320"/>
          </a:xfrm>
          <a:prstGeom prst="roundRect">
            <a:avLst>
              <a:gd name="adj" fmla="val 19831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54C86620-03AA-E3CA-2F02-461156ECB93F}"/>
              </a:ext>
            </a:extLst>
          </p:cNvPr>
          <p:cNvSpPr>
            <a:spLocks noGrp="1"/>
          </p:cNvSpPr>
          <p:nvPr/>
        </p:nvSpPr>
        <p:spPr>
          <a:xfrm>
            <a:off x="3044711" y="2100082"/>
            <a:ext cx="798077" cy="1510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Excel</a:t>
            </a:r>
            <a:endParaRPr sz="900">
              <a:latin typeface="Montserrat"/>
              <a:ea typeface="Montserrat"/>
              <a:cs typeface="Montserrat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A6A6C23A-FB71-8862-933B-C8832D6984D9}"/>
              </a:ext>
            </a:extLst>
          </p:cNvPr>
          <p:cNvSpPr>
            <a:spLocks noGrp="1"/>
          </p:cNvSpPr>
          <p:nvPr/>
        </p:nvSpPr>
        <p:spPr>
          <a:xfrm>
            <a:off x="3044711" y="2220808"/>
            <a:ext cx="2040152" cy="1624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Schema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Headers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Duplicates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Corrupt files</a:t>
            </a:r>
          </a:p>
        </p:txBody>
      </p:sp>
      <p:pic>
        <p:nvPicPr>
          <p:cNvPr id="21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8055" y="2155832"/>
            <a:ext cx="155124" cy="155124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BB0091F-52DB-CFD8-32FB-FD8F916712C6}"/>
              </a:ext>
            </a:extLst>
          </p:cNvPr>
          <p:cNvSpPr>
            <a:spLocks noGrp="1"/>
          </p:cNvSpPr>
          <p:nvPr/>
        </p:nvSpPr>
        <p:spPr>
          <a:xfrm>
            <a:off x="2694105" y="2125427"/>
            <a:ext cx="223024" cy="223024"/>
          </a:xfrm>
          <a:prstGeom prst="roundRect">
            <a:avLst/>
          </a:prstGeom>
          <a:solidFill>
            <a:srgbClr val="CE544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22927C8D-E00B-9769-0CDE-E33EDC2EAE01}"/>
              </a:ext>
            </a:extLst>
          </p:cNvPr>
          <p:cNvSpPr>
            <a:spLocks noGrp="1"/>
          </p:cNvSpPr>
          <p:nvPr/>
        </p:nvSpPr>
        <p:spPr>
          <a:xfrm>
            <a:off x="5863062" y="2155832"/>
            <a:ext cx="299311" cy="1624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600" b="1">
                <a:solidFill>
                  <a:srgbClr val="CE544C"/>
                </a:solidFill>
                <a:latin typeface="Montserrat"/>
                <a:ea typeface="Montserrat"/>
                <a:cs typeface="Montserrat"/>
              </a:rPr>
              <a:t>FIRST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ACD9F51-BA45-430D-D234-268B08A84E71}"/>
              </a:ext>
            </a:extLst>
          </p:cNvPr>
          <p:cNvSpPr>
            <a:spLocks noGrp="1"/>
          </p:cNvSpPr>
          <p:nvPr/>
        </p:nvSpPr>
        <p:spPr>
          <a:xfrm>
            <a:off x="2606918" y="2553525"/>
            <a:ext cx="487895" cy="306320"/>
          </a:xfrm>
          <a:prstGeom prst="roundRect">
            <a:avLst/>
          </a:prstGeom>
          <a:solidFill>
            <a:srgbClr val="886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31FE90-4490-3A85-C356-4C5DF17C4742}"/>
              </a:ext>
            </a:extLst>
          </p:cNvPr>
          <p:cNvSpPr>
            <a:spLocks noGrp="1"/>
          </p:cNvSpPr>
          <p:nvPr/>
        </p:nvSpPr>
        <p:spPr>
          <a:xfrm>
            <a:off x="2639941" y="2553525"/>
            <a:ext cx="3602671" cy="306320"/>
          </a:xfrm>
          <a:prstGeom prst="roundRect">
            <a:avLst>
              <a:gd name="adj" fmla="val 19831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FB332035-6173-5634-1CAC-04F24338CBE3}"/>
              </a:ext>
            </a:extLst>
          </p:cNvPr>
          <p:cNvSpPr>
            <a:spLocks noGrp="1"/>
          </p:cNvSpPr>
          <p:nvPr/>
        </p:nvSpPr>
        <p:spPr>
          <a:xfrm>
            <a:off x="3044711" y="2573373"/>
            <a:ext cx="1290466" cy="1510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Schema Alignment</a:t>
            </a:r>
            <a:endParaRPr sz="900">
              <a:latin typeface="Montserrat"/>
              <a:ea typeface="Montserrat"/>
              <a:cs typeface="Montserrat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012ACD3D-24B0-DB4E-0A14-E46CFE8A529B}"/>
              </a:ext>
            </a:extLst>
          </p:cNvPr>
          <p:cNvSpPr>
            <a:spLocks noGrp="1"/>
          </p:cNvSpPr>
          <p:nvPr/>
        </p:nvSpPr>
        <p:spPr>
          <a:xfrm>
            <a:off x="3044711" y="2694099"/>
            <a:ext cx="2873672" cy="1624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Column reorder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Normalize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Reference-match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3526E1B-FE38-9840-A385-1A173AB7BE4C}"/>
              </a:ext>
            </a:extLst>
          </p:cNvPr>
          <p:cNvSpPr>
            <a:spLocks noGrp="1"/>
          </p:cNvSpPr>
          <p:nvPr/>
        </p:nvSpPr>
        <p:spPr>
          <a:xfrm>
            <a:off x="2694105" y="2598718"/>
            <a:ext cx="223024" cy="223024"/>
          </a:xfrm>
          <a:prstGeom prst="roundRect">
            <a:avLst/>
          </a:prstGeom>
          <a:solidFill>
            <a:srgbClr val="8861E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EAF12FB-A858-DA0D-5DBD-671E358E18EA}"/>
              </a:ext>
            </a:extLst>
          </p:cNvPr>
          <p:cNvSpPr>
            <a:spLocks noGrp="1"/>
          </p:cNvSpPr>
          <p:nvPr/>
        </p:nvSpPr>
        <p:spPr>
          <a:xfrm>
            <a:off x="2606918" y="3026816"/>
            <a:ext cx="487895" cy="306320"/>
          </a:xfrm>
          <a:prstGeom prst="roundRect">
            <a:avLst/>
          </a:prstGeom>
          <a:solidFill>
            <a:srgbClr val="4D67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7C77006-79C9-BDC6-1A71-D0AABDA64164}"/>
              </a:ext>
            </a:extLst>
          </p:cNvPr>
          <p:cNvSpPr>
            <a:spLocks noGrp="1"/>
          </p:cNvSpPr>
          <p:nvPr/>
        </p:nvSpPr>
        <p:spPr>
          <a:xfrm>
            <a:off x="2639941" y="3026816"/>
            <a:ext cx="3602671" cy="306320"/>
          </a:xfrm>
          <a:prstGeom prst="roundRect">
            <a:avLst>
              <a:gd name="adj" fmla="val 19831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35000B87-86BB-FAE8-3742-CC7B9DF88B25}"/>
              </a:ext>
            </a:extLst>
          </p:cNvPr>
          <p:cNvSpPr>
            <a:spLocks noGrp="1"/>
          </p:cNvSpPr>
          <p:nvPr/>
        </p:nvSpPr>
        <p:spPr>
          <a:xfrm>
            <a:off x="3044711" y="3046664"/>
            <a:ext cx="1189597" cy="1510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Combine Engine</a:t>
            </a:r>
            <a:endParaRPr sz="900">
              <a:latin typeface="Montserrat"/>
              <a:ea typeface="Montserrat"/>
              <a:cs typeface="Montserrat"/>
            </a:endParaRP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88BCAF6C-AA70-FB84-1920-77B3F85D17F2}"/>
              </a:ext>
            </a:extLst>
          </p:cNvPr>
          <p:cNvSpPr>
            <a:spLocks noGrp="1"/>
          </p:cNvSpPr>
          <p:nvPr/>
        </p:nvSpPr>
        <p:spPr>
          <a:xfrm>
            <a:off x="3044711" y="3167390"/>
            <a:ext cx="2553522" cy="1624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Parallel reads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Rolling concat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Mem-optimise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AB30E5-64FC-080C-8535-8B9BAF37EE7F}"/>
              </a:ext>
            </a:extLst>
          </p:cNvPr>
          <p:cNvSpPr>
            <a:spLocks noGrp="1"/>
          </p:cNvSpPr>
          <p:nvPr/>
        </p:nvSpPr>
        <p:spPr>
          <a:xfrm>
            <a:off x="2694105" y="3072009"/>
            <a:ext cx="223024" cy="223024"/>
          </a:xfrm>
          <a:prstGeom prst="roundRect">
            <a:avLst/>
          </a:prstGeom>
          <a:solidFill>
            <a:srgbClr val="4D67EB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7317913-4356-5AD0-2566-8298CE3EF4CE}"/>
              </a:ext>
            </a:extLst>
          </p:cNvPr>
          <p:cNvSpPr>
            <a:spLocks noGrp="1"/>
          </p:cNvSpPr>
          <p:nvPr/>
        </p:nvSpPr>
        <p:spPr>
          <a:xfrm>
            <a:off x="2606918" y="3500107"/>
            <a:ext cx="487895" cy="306320"/>
          </a:xfrm>
          <a:prstGeom prst="roundRect">
            <a:avLst/>
          </a:prstGeom>
          <a:solidFill>
            <a:srgbClr val="608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F1F5906-9FA9-58C5-368C-8C72ABE442F7}"/>
              </a:ext>
            </a:extLst>
          </p:cNvPr>
          <p:cNvSpPr>
            <a:spLocks noGrp="1"/>
          </p:cNvSpPr>
          <p:nvPr/>
        </p:nvSpPr>
        <p:spPr>
          <a:xfrm>
            <a:off x="2639941" y="3500107"/>
            <a:ext cx="3602671" cy="306320"/>
          </a:xfrm>
          <a:prstGeom prst="roundRect">
            <a:avLst>
              <a:gd name="adj" fmla="val 19831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84B498E9-6E01-315E-268A-F7817A29E82F}"/>
              </a:ext>
            </a:extLst>
          </p:cNvPr>
          <p:cNvSpPr>
            <a:spLocks noGrp="1"/>
          </p:cNvSpPr>
          <p:nvPr/>
        </p:nvSpPr>
        <p:spPr>
          <a:xfrm>
            <a:off x="3044711" y="3519955"/>
            <a:ext cx="798077" cy="1510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Filter Engine</a:t>
            </a:r>
            <a:endParaRPr sz="900">
              <a:latin typeface="Montserrat"/>
              <a:ea typeface="Montserrat"/>
              <a:cs typeface="Montserrat"/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8FF2852B-F6B8-520B-BC66-9ECF449229A3}"/>
              </a:ext>
            </a:extLst>
          </p:cNvPr>
          <p:cNvSpPr>
            <a:spLocks noGrp="1"/>
          </p:cNvSpPr>
          <p:nvPr/>
        </p:nvSpPr>
        <p:spPr>
          <a:xfrm>
            <a:off x="3044711" y="3640681"/>
            <a:ext cx="2454846" cy="1624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Category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Text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Numeric 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Date 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Cached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0F49112D-6F68-C6E5-0B50-6B59AB30E484}"/>
              </a:ext>
            </a:extLst>
          </p:cNvPr>
          <p:cNvSpPr>
            <a:spLocks noGrp="1"/>
          </p:cNvSpPr>
          <p:nvPr/>
        </p:nvSpPr>
        <p:spPr>
          <a:xfrm>
            <a:off x="2694105" y="3545300"/>
            <a:ext cx="223024" cy="223024"/>
          </a:xfrm>
          <a:prstGeom prst="roundRect">
            <a:avLst/>
          </a:prstGeom>
          <a:solidFill>
            <a:srgbClr val="6082ED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D8F60647-5611-3721-B2E2-AE1A380A0329}"/>
              </a:ext>
            </a:extLst>
          </p:cNvPr>
          <p:cNvSpPr>
            <a:spLocks noGrp="1"/>
          </p:cNvSpPr>
          <p:nvPr/>
        </p:nvSpPr>
        <p:spPr>
          <a:xfrm>
            <a:off x="2606918" y="3973398"/>
            <a:ext cx="487895" cy="306320"/>
          </a:xfrm>
          <a:prstGeom prst="roundRect">
            <a:avLst/>
          </a:prstGeom>
          <a:solidFill>
            <a:srgbClr val="65B8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5CA9535-D67F-5222-9B93-3EBDEBBBF430}"/>
              </a:ext>
            </a:extLst>
          </p:cNvPr>
          <p:cNvSpPr>
            <a:spLocks noGrp="1"/>
          </p:cNvSpPr>
          <p:nvPr/>
        </p:nvSpPr>
        <p:spPr>
          <a:xfrm>
            <a:off x="2639941" y="3973398"/>
            <a:ext cx="3602671" cy="306320"/>
          </a:xfrm>
          <a:prstGeom prst="roundRect">
            <a:avLst>
              <a:gd name="adj" fmla="val 19831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5" name="Text 3">
            <a:extLst>
              <a:ext uri="{FF2B5EF4-FFF2-40B4-BE49-F238E27FC236}">
                <a16:creationId xmlns:a16="http://schemas.microsoft.com/office/drawing/2014/main" id="{7B6851FF-AD57-D017-8363-EDE969240306}"/>
              </a:ext>
            </a:extLst>
          </p:cNvPr>
          <p:cNvSpPr>
            <a:spLocks noGrp="1"/>
          </p:cNvSpPr>
          <p:nvPr/>
        </p:nvSpPr>
        <p:spPr>
          <a:xfrm>
            <a:off x="3044711" y="3993246"/>
            <a:ext cx="954967" cy="1510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Export Engine</a:t>
            </a:r>
            <a:endParaRPr sz="900">
              <a:latin typeface="Montserrat"/>
              <a:ea typeface="Montserrat"/>
              <a:cs typeface="Montserrat"/>
            </a:endParaRPr>
          </a:p>
        </p:txBody>
      </p:sp>
      <p:sp>
        <p:nvSpPr>
          <p:cNvPr id="136" name="Text 3">
            <a:extLst>
              <a:ext uri="{FF2B5EF4-FFF2-40B4-BE49-F238E27FC236}">
                <a16:creationId xmlns:a16="http://schemas.microsoft.com/office/drawing/2014/main" id="{97EFBAA1-C487-2334-EE7B-E231D72106BC}"/>
              </a:ext>
            </a:extLst>
          </p:cNvPr>
          <p:cNvSpPr>
            <a:spLocks noGrp="1"/>
          </p:cNvSpPr>
          <p:nvPr/>
        </p:nvSpPr>
        <p:spPr>
          <a:xfrm>
            <a:off x="3044711" y="4113972"/>
            <a:ext cx="2040152" cy="1624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xlsx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csv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parquet</a:t>
            </a:r>
            <a:r>
              <a:rPr sz="7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700">
                <a:solidFill>
                  <a:schemeClr val="bg2">
                    <a:lumMod val="50000"/>
                  </a:schemeClr>
                </a:solidFill>
                <a:latin typeface="Montserrat"/>
                <a:ea typeface="Montserrat"/>
                <a:cs typeface="Montserrat"/>
              </a:rPr>
              <a:t>audit log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0CB900B9-FC14-DA65-8837-63D41DDFE51A}"/>
              </a:ext>
            </a:extLst>
          </p:cNvPr>
          <p:cNvSpPr>
            <a:spLocks noGrp="1"/>
          </p:cNvSpPr>
          <p:nvPr/>
        </p:nvSpPr>
        <p:spPr>
          <a:xfrm>
            <a:off x="2694105" y="4018591"/>
            <a:ext cx="223024" cy="223024"/>
          </a:xfrm>
          <a:prstGeom prst="roundRect">
            <a:avLst/>
          </a:prstGeom>
          <a:solidFill>
            <a:srgbClr val="65B88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cxnSp>
        <p:nvCxnSpPr>
          <p:cNvPr id="235" name="Straight Connector 151"/>
          <p:cNvCxnSpPr>
            <a:stCxn id="20" idx="3"/>
            <a:endCxn id="51" idx="1"/>
          </p:cNvCxnSpPr>
          <p:nvPr/>
        </p:nvCxnSpPr>
        <p:spPr>
          <a:xfrm flipV="1">
            <a:off x="1901601" y="3179976"/>
            <a:ext cx="705317" cy="1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Straight Connector 152">
            <a:extLst>
              <a:ext uri="{FF2B5EF4-FFF2-40B4-BE49-F238E27FC236}">
                <a16:creationId xmlns:a16="http://schemas.microsoft.com/office/drawing/2014/main" id="{937B19A6-4407-4E32-8602-A3CE309E3A82}"/>
              </a:ext>
            </a:extLst>
          </p:cNvPr>
          <p:cNvSpPr>
            <a:spLocks noGrp="1"/>
          </p:cNvSpPr>
          <p:nvPr/>
        </p:nvSpPr>
        <p:spPr>
          <a:xfrm>
            <a:off x="1908575" y="3803738"/>
            <a:ext cx="401853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5" name="Straight Connector 154">
            <a:extLst>
              <a:ext uri="{FF2B5EF4-FFF2-40B4-BE49-F238E27FC236}">
                <a16:creationId xmlns:a16="http://schemas.microsoft.com/office/drawing/2014/main" id="{8CB0F5DD-EB49-4615-8A21-0D400C5A737F}"/>
              </a:ext>
            </a:extLst>
          </p:cNvPr>
          <p:cNvSpPr>
            <a:spLocks noGrp="1"/>
          </p:cNvSpPr>
          <p:nvPr/>
        </p:nvSpPr>
        <p:spPr>
          <a:xfrm>
            <a:off x="1908574" y="2572653"/>
            <a:ext cx="401853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6" name="Straight Connector 155">
            <a:extLst>
              <a:ext uri="{FF2B5EF4-FFF2-40B4-BE49-F238E27FC236}">
                <a16:creationId xmlns:a16="http://schemas.microsoft.com/office/drawing/2014/main" id="{9C285555-078D-4EC1-9817-43373CE9BF7E}"/>
              </a:ext>
            </a:extLst>
          </p:cNvPr>
          <p:cNvSpPr>
            <a:spLocks noGrp="1"/>
          </p:cNvSpPr>
          <p:nvPr/>
        </p:nvSpPr>
        <p:spPr>
          <a:xfrm>
            <a:off x="2306582" y="2573373"/>
            <a:ext cx="11084" cy="123036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39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2252" y="2625502"/>
            <a:ext cx="173929" cy="173929"/>
          </a:xfrm>
          <a:prstGeom prst="rect">
            <a:avLst/>
          </a:prstGeom>
        </p:spPr>
      </p:pic>
      <p:pic>
        <p:nvPicPr>
          <p:cNvPr id="240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2252" y="3097940"/>
            <a:ext cx="173111" cy="173111"/>
          </a:xfrm>
          <a:prstGeom prst="rect">
            <a:avLst/>
          </a:prstGeom>
        </p:spPr>
      </p:pic>
      <p:pic>
        <p:nvPicPr>
          <p:cNvPr id="241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9179" y="3586100"/>
            <a:ext cx="152876" cy="152876"/>
          </a:xfrm>
          <a:prstGeom prst="rect">
            <a:avLst/>
          </a:prstGeom>
        </p:spPr>
      </p:pic>
      <p:pic>
        <p:nvPicPr>
          <p:cNvPr id="242" name="Imag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1430" y="4062065"/>
            <a:ext cx="131853" cy="131853"/>
          </a:xfrm>
          <a:prstGeom prst="rect">
            <a:avLst/>
          </a:prstGeom>
        </p:spPr>
      </p:pic>
      <p:sp>
        <p:nvSpPr>
          <p:cNvPr id="168" name="Shape 2">
            <a:extLst>
              <a:ext uri="{FF2B5EF4-FFF2-40B4-BE49-F238E27FC236}">
                <a16:creationId xmlns:a16="http://schemas.microsoft.com/office/drawing/2014/main" id="{B419EE03-AAB9-13C1-6D7D-7552B22F5FA0}"/>
              </a:ext>
            </a:extLst>
          </p:cNvPr>
          <p:cNvSpPr>
            <a:spLocks noGrp="1"/>
          </p:cNvSpPr>
          <p:nvPr/>
        </p:nvSpPr>
        <p:spPr>
          <a:xfrm>
            <a:off x="6731537" y="2571750"/>
            <a:ext cx="1421973" cy="1230365"/>
          </a:xfrm>
          <a:prstGeom prst="roundRect">
            <a:avLst/>
          </a:prstGeom>
          <a:solidFill>
            <a:srgbClr val="1E2A3B"/>
          </a:solidFill>
          <a:ln w="635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0" name="Text 3">
            <a:extLst>
              <a:ext uri="{FF2B5EF4-FFF2-40B4-BE49-F238E27FC236}">
                <a16:creationId xmlns:a16="http://schemas.microsoft.com/office/drawing/2014/main" id="{9D9B71DF-CE59-1E74-90CB-275AC58433B9}"/>
              </a:ext>
            </a:extLst>
          </p:cNvPr>
          <p:cNvSpPr>
            <a:spLocks noGrp="1"/>
          </p:cNvSpPr>
          <p:nvPr/>
        </p:nvSpPr>
        <p:spPr>
          <a:xfrm>
            <a:off x="7055766" y="3305246"/>
            <a:ext cx="785827" cy="34225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Clean</a:t>
            </a:r>
          </a:p>
          <a:p>
            <a:pPr marL="0" indent="0" algn="ctr">
              <a:buNone/>
            </a:pPr>
            <a:r>
              <a:rPr sz="1200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Output</a:t>
            </a:r>
            <a:endParaRPr sz="1200">
              <a:latin typeface="Montserrat"/>
              <a:ea typeface="Montserrat"/>
              <a:cs typeface="Montserrat"/>
            </a:endParaRPr>
          </a:p>
        </p:txBody>
      </p:sp>
      <p:pic>
        <p:nvPicPr>
          <p:cNvPr id="245" name="Picture 1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0790" y="2672215"/>
            <a:ext cx="612125" cy="612125"/>
          </a:xfrm>
          <a:prstGeom prst="rect">
            <a:avLst/>
          </a:prstGeom>
        </p:spPr>
      </p:pic>
      <p:cxnSp>
        <p:nvCxnSpPr>
          <p:cNvPr id="246" name="Straight Connector 174"/>
          <p:cNvCxnSpPr>
            <a:stCxn id="52" idx="3"/>
            <a:endCxn id="168" idx="1"/>
          </p:cNvCxnSpPr>
          <p:nvPr/>
        </p:nvCxnSpPr>
        <p:spPr>
          <a:xfrm>
            <a:off x="6242612" y="3179976"/>
            <a:ext cx="488925" cy="6957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7" name="Picture 24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2597A9-774F-EB79-53C7-C6638424D7E5}"/>
              </a:ext>
            </a:extLst>
          </p:cNvPr>
          <p:cNvSpPr>
            <a:spLocks noGrp="1"/>
          </p:cNvSpPr>
          <p:nvPr/>
        </p:nvSpPr>
        <p:spPr>
          <a:xfrm>
            <a:off x="457200" y="8860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Validation </a:t>
            </a:r>
            <a:r>
              <a:rPr sz="36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Before</a:t>
            </a: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Consolidation</a:t>
            </a:r>
            <a:endParaRPr sz="3600">
              <a:latin typeface="Montserrat"/>
              <a:ea typeface="Montserrat"/>
              <a:cs typeface="Montserra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A2120E-763D-D3D6-54D8-3BB228FD5B95}"/>
              </a:ext>
            </a:extLst>
          </p:cNvPr>
          <p:cNvSpPr>
            <a:spLocks noGrp="1"/>
          </p:cNvSpPr>
          <p:nvPr/>
        </p:nvSpPr>
        <p:spPr>
          <a:xfrm>
            <a:off x="457200" y="136083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The order of operations changes everything.</a:t>
            </a:r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D9D91FA5-2471-9B37-525C-5F5CA0117A76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1C07200-BC32-DDE3-4B60-978D7C0FE7E2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2563EB"/>
            </a:solidFill>
            <a:prstDash val="dash"/>
          </a:ln>
        </p:spPr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A6C43C19-F7F7-2924-9071-E34AB43EED4D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150">
                <a:solidFill>
                  <a:srgbClr val="3B82F6"/>
                </a:solidFill>
                <a:latin typeface="Trebuchet MS"/>
                <a:ea typeface="Trebuchet MS"/>
                <a:cs typeface="Trebuchet MS"/>
              </a:rPr>
              <a:t>METHODOLOGY</a:t>
            </a:r>
            <a:endParaRPr sz="850"/>
          </a:p>
        </p:txBody>
      </p:sp>
      <p:sp>
        <p:nvSpPr>
          <p:cNvPr id="11" name="Shape 20">
            <a:extLst>
              <a:ext uri="{FF2B5EF4-FFF2-40B4-BE49-F238E27FC236}">
                <a16:creationId xmlns:a16="http://schemas.microsoft.com/office/drawing/2014/main" id="{D4DA8E52-666B-41E9-DD2E-C41522D95290}"/>
              </a:ext>
            </a:extLst>
          </p:cNvPr>
          <p:cNvSpPr>
            <a:spLocks noGrp="1"/>
          </p:cNvSpPr>
          <p:nvPr/>
        </p:nvSpPr>
        <p:spPr>
          <a:xfrm>
            <a:off x="5343413" y="1879969"/>
            <a:ext cx="3112137" cy="2880000"/>
          </a:xfrm>
          <a:prstGeom prst="roundRect">
            <a:avLst>
              <a:gd name="adj" fmla="val 3494"/>
            </a:avLst>
          </a:prstGeom>
          <a:solidFill>
            <a:schemeClr val="tx1">
              <a:lumMod val="95000"/>
              <a:lumOff val="5000"/>
              <a:alpha val="57000"/>
            </a:schemeClr>
          </a:solidFill>
          <a:ln w="9525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B75B2DE6-ADB8-C910-3888-3981DD24F425}"/>
              </a:ext>
            </a:extLst>
          </p:cNvPr>
          <p:cNvSpPr>
            <a:spLocks noGrp="1"/>
          </p:cNvSpPr>
          <p:nvPr/>
        </p:nvSpPr>
        <p:spPr>
          <a:xfrm>
            <a:off x="6009342" y="2130541"/>
            <a:ext cx="1447078" cy="22801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14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14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1400">
              <a:solidFill>
                <a:srgbClr val="2563EB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C33EDB-205D-5172-297D-572C1BFB496A}"/>
              </a:ext>
            </a:extLst>
          </p:cNvPr>
          <p:cNvSpPr>
            <a:spLocks noGrp="1"/>
          </p:cNvSpPr>
          <p:nvPr/>
        </p:nvSpPr>
        <p:spPr>
          <a:xfrm>
            <a:off x="5648803" y="2103693"/>
            <a:ext cx="281716" cy="2817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490D9C-F22B-737D-E3CE-85650682754B}"/>
              </a:ext>
            </a:extLst>
          </p:cNvPr>
          <p:cNvSpPr>
            <a:spLocks noGrp="1"/>
          </p:cNvSpPr>
          <p:nvPr/>
        </p:nvSpPr>
        <p:spPr>
          <a:xfrm>
            <a:off x="5592005" y="2599039"/>
            <a:ext cx="2343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    Select folder or files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4E952F-73AF-F994-4CE1-7DD26E19E60A}"/>
              </a:ext>
            </a:extLst>
          </p:cNvPr>
          <p:cNvSpPr>
            <a:spLocks noGrp="1"/>
          </p:cNvSpPr>
          <p:nvPr/>
        </p:nvSpPr>
        <p:spPr>
          <a:xfrm>
            <a:off x="5592005" y="2939128"/>
            <a:ext cx="2729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2    Choose the reference template</a:t>
            </a:r>
            <a:endParaRPr sz="1200">
              <a:latin typeface="Montserrat"/>
              <a:ea typeface="Montserrat"/>
              <a:cs typeface="Montserra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BB3B10-5589-B81F-23D4-11F86AB0821A}"/>
              </a:ext>
            </a:extLst>
          </p:cNvPr>
          <p:cNvSpPr>
            <a:spLocks noGrp="1"/>
          </p:cNvSpPr>
          <p:nvPr/>
        </p:nvSpPr>
        <p:spPr>
          <a:xfrm>
            <a:off x="5592005" y="3277158"/>
            <a:ext cx="28211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3    PASS / WARN / FAIL per file</a:t>
            </a:r>
            <a:endParaRPr sz="1200">
              <a:solidFill>
                <a:srgbClr val="10B98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D43ADE-8DEF-7C0D-35EB-957039C8DEFA}"/>
              </a:ext>
            </a:extLst>
          </p:cNvPr>
          <p:cNvSpPr>
            <a:spLocks noGrp="1"/>
          </p:cNvSpPr>
          <p:nvPr/>
        </p:nvSpPr>
        <p:spPr>
          <a:xfrm>
            <a:off x="5592005" y="3584515"/>
            <a:ext cx="2343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4    Align columns by name</a:t>
            </a:r>
            <a:endParaRPr sz="1200">
              <a:solidFill>
                <a:srgbClr val="10B98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7E32AD-F683-A559-4C7C-A86DA5B5AC87}"/>
              </a:ext>
            </a:extLst>
          </p:cNvPr>
          <p:cNvSpPr>
            <a:spLocks noGrp="1"/>
          </p:cNvSpPr>
          <p:nvPr/>
        </p:nvSpPr>
        <p:spPr>
          <a:xfrm>
            <a:off x="5592005" y="3909150"/>
            <a:ext cx="2343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5    Filter and export with audit</a:t>
            </a:r>
            <a:endParaRPr sz="1200">
              <a:solidFill>
                <a:schemeClr val="bg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474A0BF-8E25-4F18-C6A2-4A9D226C1E64}"/>
              </a:ext>
            </a:extLst>
          </p:cNvPr>
          <p:cNvSpPr>
            <a:spLocks noGrp="1"/>
          </p:cNvSpPr>
          <p:nvPr/>
        </p:nvSpPr>
        <p:spPr>
          <a:xfrm>
            <a:off x="5648803" y="4318392"/>
            <a:ext cx="2471351" cy="276999"/>
          </a:xfrm>
          <a:prstGeom prst="roundRect">
            <a:avLst/>
          </a:prstGeom>
          <a:solidFill>
            <a:srgbClr val="10B981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A2513D-0E5F-D47D-20E3-0C1778BD9D3B}"/>
              </a:ext>
            </a:extLst>
          </p:cNvPr>
          <p:cNvSpPr>
            <a:spLocks noGrp="1"/>
          </p:cNvSpPr>
          <p:nvPr/>
        </p:nvSpPr>
        <p:spPr>
          <a:xfrm>
            <a:off x="5726474" y="4326338"/>
            <a:ext cx="23548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Issues handled before output</a:t>
            </a:r>
            <a:endParaRPr sz="1100">
              <a:solidFill>
                <a:srgbClr val="10B98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70" name="Shape 20">
            <a:extLst>
              <a:ext uri="{FF2B5EF4-FFF2-40B4-BE49-F238E27FC236}">
                <a16:creationId xmlns:a16="http://schemas.microsoft.com/office/drawing/2014/main" id="{6F1A4C02-FE51-90D5-4F12-58FEA80CC1E0}"/>
              </a:ext>
            </a:extLst>
          </p:cNvPr>
          <p:cNvSpPr>
            <a:spLocks noGrp="1"/>
          </p:cNvSpPr>
          <p:nvPr/>
        </p:nvSpPr>
        <p:spPr>
          <a:xfrm>
            <a:off x="4215384" y="2963353"/>
            <a:ext cx="713232" cy="713232"/>
          </a:xfrm>
          <a:prstGeom prst="ellipse">
            <a:avLst/>
          </a:prstGeom>
          <a:solidFill>
            <a:srgbClr val="1E2A3B"/>
          </a:solidFill>
          <a:ln w="25400">
            <a:solidFill>
              <a:srgbClr val="2433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288BD9-48B0-72BA-1C0D-766EF0787C90}"/>
              </a:ext>
            </a:extLst>
          </p:cNvPr>
          <p:cNvSpPr>
            <a:spLocks noGrp="1"/>
          </p:cNvSpPr>
          <p:nvPr/>
        </p:nvSpPr>
        <p:spPr>
          <a:xfrm>
            <a:off x="4333691" y="3129322"/>
            <a:ext cx="476617" cy="381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chemeClr val="bg2">
                    <a:lumMod val="50000"/>
                  </a:schemeClr>
                </a:solidFill>
              </a:rPr>
              <a:t>VS</a:t>
            </a:r>
          </a:p>
        </p:txBody>
      </p:sp>
      <p:sp>
        <p:nvSpPr>
          <p:cNvPr id="76" name="Shape 20">
            <a:extLst>
              <a:ext uri="{FF2B5EF4-FFF2-40B4-BE49-F238E27FC236}">
                <a16:creationId xmlns:a16="http://schemas.microsoft.com/office/drawing/2014/main" id="{D50B9F45-02D3-E173-35CB-D93BD6510FC7}"/>
              </a:ext>
            </a:extLst>
          </p:cNvPr>
          <p:cNvSpPr>
            <a:spLocks noGrp="1"/>
          </p:cNvSpPr>
          <p:nvPr/>
        </p:nvSpPr>
        <p:spPr>
          <a:xfrm>
            <a:off x="609599" y="1879969"/>
            <a:ext cx="3112137" cy="2880000"/>
          </a:xfrm>
          <a:prstGeom prst="roundRect">
            <a:avLst>
              <a:gd name="adj" fmla="val 3494"/>
            </a:avLst>
          </a:prstGeom>
          <a:solidFill>
            <a:schemeClr val="tx1">
              <a:lumMod val="95000"/>
              <a:lumOff val="5000"/>
              <a:alpha val="57000"/>
            </a:schemeClr>
          </a:solidFill>
          <a:ln w="9525">
            <a:solidFill>
              <a:srgbClr val="CE54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Text 22">
            <a:extLst>
              <a:ext uri="{FF2B5EF4-FFF2-40B4-BE49-F238E27FC236}">
                <a16:creationId xmlns:a16="http://schemas.microsoft.com/office/drawing/2014/main" id="{E46720FF-CEA2-878B-FBF1-9472B33A3DC3}"/>
              </a:ext>
            </a:extLst>
          </p:cNvPr>
          <p:cNvSpPr>
            <a:spLocks noGrp="1"/>
          </p:cNvSpPr>
          <p:nvPr/>
        </p:nvSpPr>
        <p:spPr>
          <a:xfrm>
            <a:off x="1275528" y="2130541"/>
            <a:ext cx="1447078" cy="22801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E544C"/>
                </a:solidFill>
                <a:latin typeface="Trebuchet MS"/>
                <a:ea typeface="Trebuchet MS"/>
                <a:cs typeface="Trebuchet MS"/>
              </a:rPr>
              <a:t>Traditional Tools</a:t>
            </a:r>
            <a:endParaRPr sz="1400" b="1">
              <a:solidFill>
                <a:srgbClr val="CE544C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49CF91E-C576-F198-C4F4-FB411053BA9D}"/>
              </a:ext>
            </a:extLst>
          </p:cNvPr>
          <p:cNvSpPr>
            <a:spLocks noGrp="1"/>
          </p:cNvSpPr>
          <p:nvPr/>
        </p:nvSpPr>
        <p:spPr>
          <a:xfrm>
            <a:off x="914989" y="2103693"/>
            <a:ext cx="281716" cy="281716"/>
          </a:xfrm>
          <a:prstGeom prst="roundRect">
            <a:avLst/>
          </a:prstGeom>
          <a:solidFill>
            <a:srgbClr val="CE54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2" name="Image 0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929817" y="2118521"/>
            <a:ext cx="252059" cy="252059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DC7B8D6C-3799-F6D9-49F1-191DE002A781}"/>
              </a:ext>
            </a:extLst>
          </p:cNvPr>
          <p:cNvSpPr>
            <a:spLocks noGrp="1"/>
          </p:cNvSpPr>
          <p:nvPr/>
        </p:nvSpPr>
        <p:spPr>
          <a:xfrm>
            <a:off x="858191" y="2599039"/>
            <a:ext cx="2343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    Merge files first</a:t>
            </a:r>
            <a:endParaRPr sz="1200">
              <a:latin typeface="Montserrat"/>
              <a:ea typeface="Montserrat"/>
              <a:cs typeface="Montserra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55BD2E-6C53-F0E1-47FC-AFE0ECEA80A4}"/>
              </a:ext>
            </a:extLst>
          </p:cNvPr>
          <p:cNvSpPr>
            <a:spLocks noGrp="1"/>
          </p:cNvSpPr>
          <p:nvPr/>
        </p:nvSpPr>
        <p:spPr>
          <a:xfrm>
            <a:off x="858191" y="2939128"/>
            <a:ext cx="2343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2    Discover exceptions late</a:t>
            </a:r>
            <a:endParaRPr sz="1200">
              <a:latin typeface="Montserrat"/>
              <a:ea typeface="Montserrat"/>
              <a:cs typeface="Montserra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00A6AD-716C-042C-D548-AC0C68647E6B}"/>
              </a:ext>
            </a:extLst>
          </p:cNvPr>
          <p:cNvSpPr>
            <a:spLocks noGrp="1"/>
          </p:cNvSpPr>
          <p:nvPr/>
        </p:nvSpPr>
        <p:spPr>
          <a:xfrm>
            <a:off x="858191" y="3277158"/>
            <a:ext cx="2343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544C"/>
                </a:solidFill>
                <a:latin typeface="Montserrat"/>
                <a:ea typeface="Montserrat"/>
                <a:cs typeface="Montserrat"/>
              </a:rPr>
              <a:t>3    Trace the problem source</a:t>
            </a:r>
            <a:endParaRPr sz="1200">
              <a:solidFill>
                <a:srgbClr val="CE544C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5F91C8-5579-98C2-3D43-9B0652346D70}"/>
              </a:ext>
            </a:extLst>
          </p:cNvPr>
          <p:cNvSpPr>
            <a:spLocks noGrp="1"/>
          </p:cNvSpPr>
          <p:nvPr/>
        </p:nvSpPr>
        <p:spPr>
          <a:xfrm>
            <a:off x="858191" y="3584515"/>
            <a:ext cx="2343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544C"/>
                </a:solidFill>
                <a:latin typeface="Montserrat"/>
                <a:ea typeface="Montserrat"/>
                <a:cs typeface="Montserrat"/>
              </a:rPr>
              <a:t>4    Rework mapping or code</a:t>
            </a:r>
            <a:endParaRPr sz="1200">
              <a:solidFill>
                <a:srgbClr val="CE544C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895F6B-4568-61BB-196D-3F42B4BDA828}"/>
              </a:ext>
            </a:extLst>
          </p:cNvPr>
          <p:cNvSpPr>
            <a:spLocks noGrp="1"/>
          </p:cNvSpPr>
          <p:nvPr/>
        </p:nvSpPr>
        <p:spPr>
          <a:xfrm>
            <a:off x="858191" y="3909150"/>
            <a:ext cx="2343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5    Re-run and reconcile</a:t>
            </a:r>
            <a:endParaRPr sz="1200">
              <a:solidFill>
                <a:schemeClr val="bg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C6C3CB2-C2B3-A1E4-45A8-2FF9A794A473}"/>
              </a:ext>
            </a:extLst>
          </p:cNvPr>
          <p:cNvSpPr>
            <a:spLocks noGrp="1"/>
          </p:cNvSpPr>
          <p:nvPr/>
        </p:nvSpPr>
        <p:spPr>
          <a:xfrm>
            <a:off x="914989" y="4318392"/>
            <a:ext cx="2471351" cy="276999"/>
          </a:xfrm>
          <a:prstGeom prst="roundRect">
            <a:avLst/>
          </a:prstGeom>
          <a:solidFill>
            <a:srgbClr val="CE544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9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52" y="4379329"/>
            <a:ext cx="155124" cy="155124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04C1772A-D887-39CD-F3B2-CFA368FFDD0D}"/>
              </a:ext>
            </a:extLst>
          </p:cNvPr>
          <p:cNvSpPr>
            <a:spLocks noGrp="1"/>
          </p:cNvSpPr>
          <p:nvPr/>
        </p:nvSpPr>
        <p:spPr>
          <a:xfrm>
            <a:off x="1199898" y="4326338"/>
            <a:ext cx="2147605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Exceptions handled after output</a:t>
            </a:r>
            <a:endParaRPr sz="1100">
              <a:solidFill>
                <a:schemeClr val="bg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21" name="Graphic 8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1274" y="2141287"/>
            <a:ext cx="200153" cy="200153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4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08D96D-928D-4921-AF76-A27D79981FFF}"/>
              </a:ext>
            </a:extLst>
          </p:cNvPr>
          <p:cNvSpPr>
            <a:spLocks noGrp="1"/>
          </p:cNvSpPr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Schema Alignment by Column Name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5CFBBB-8E98-4122-9465-CA071DADF2AC}"/>
              </a:ext>
            </a:extLst>
          </p:cNvPr>
          <p:cNvSpPr>
            <a:spLocks noGrp="1"/>
          </p:cNvSpPr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Header case and whitespace are normalised, then columns are validated and reordered before combine.</a:t>
            </a:r>
            <a:endParaRPr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240D8D4-9F33-4447-94CE-8690D19E022D}"/>
              </a:ext>
            </a:extLst>
          </p:cNvPr>
          <p:cNvSpPr>
            <a:spLocks noGrp="1"/>
          </p:cNvSpPr>
          <p:nvPr/>
        </p:nvSpPr>
        <p:spPr>
          <a:xfrm>
            <a:off x="365760" y="1234440"/>
            <a:ext cx="2560320" cy="1014984"/>
          </a:xfrm>
          <a:prstGeom prst="rect">
            <a:avLst/>
          </a:prstGeom>
          <a:solidFill>
            <a:srgbClr val="1E2A3B"/>
          </a:solidFill>
          <a:ln w="19050">
            <a:solidFill>
              <a:srgbClr val="3B82F6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65CB7D3-9B51-4C24-98F0-2B6A90DCCC5B}"/>
              </a:ext>
            </a:extLst>
          </p:cNvPr>
          <p:cNvSpPr>
            <a:spLocks noGrp="1"/>
          </p:cNvSpPr>
          <p:nvPr/>
        </p:nvSpPr>
        <p:spPr>
          <a:xfrm>
            <a:off x="365760" y="1234440"/>
            <a:ext cx="256032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7CAF70-1C5F-47EC-9EA8-4AD2BF520219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>
                <a:solidFill>
                  <a:srgbClr val="3B82F6"/>
                </a:solidFill>
                <a:latin typeface="Trebuchet MS"/>
                <a:ea typeface="Trebuchet MS"/>
                <a:cs typeface="Trebuchet MS"/>
              </a:rPr>
              <a:t>File A</a:t>
            </a:r>
            <a:endParaRPr sz="9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1F62B3F-E6AB-4C33-BC2B-9E72D3FF4092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75590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9C01D74-6633-4290-B9E8-6054771E1D51}"/>
              </a:ext>
            </a:extLst>
          </p:cNvPr>
          <p:cNvSpPr>
            <a:spLocks noGrp="1"/>
          </p:cNvSpPr>
          <p:nvPr/>
        </p:nvSpPr>
        <p:spPr>
          <a:xfrm>
            <a:off x="457200" y="1554480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ID</a:t>
            </a:r>
            <a:endParaRPr sz="9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3B04A0D-451D-486B-A01E-A6698404E83A}"/>
              </a:ext>
            </a:extLst>
          </p:cNvPr>
          <p:cNvSpPr>
            <a:spLocks noGrp="1"/>
          </p:cNvSpPr>
          <p:nvPr/>
        </p:nvSpPr>
        <p:spPr>
          <a:xfrm>
            <a:off x="457200" y="1901952"/>
            <a:ext cx="75590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8FEF8C-70E1-4D2A-A124-A151F22A7422}"/>
              </a:ext>
            </a:extLst>
          </p:cNvPr>
          <p:cNvSpPr>
            <a:spLocks noGrp="1"/>
          </p:cNvSpPr>
          <p:nvPr/>
        </p:nvSpPr>
        <p:spPr>
          <a:xfrm>
            <a:off x="457200" y="1901952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BFF495A-776B-4528-BD93-562A89EC0678}"/>
              </a:ext>
            </a:extLst>
          </p:cNvPr>
          <p:cNvSpPr>
            <a:spLocks noGrp="1"/>
          </p:cNvSpPr>
          <p:nvPr/>
        </p:nvSpPr>
        <p:spPr>
          <a:xfrm>
            <a:off x="1249680" y="1554480"/>
            <a:ext cx="75590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C0C0A8-8211-4531-B0AA-DF9A3C77C322}"/>
              </a:ext>
            </a:extLst>
          </p:cNvPr>
          <p:cNvSpPr>
            <a:spLocks noGrp="1"/>
          </p:cNvSpPr>
          <p:nvPr/>
        </p:nvSpPr>
        <p:spPr>
          <a:xfrm>
            <a:off x="1249680" y="1554480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Name</a:t>
            </a:r>
            <a:endParaRPr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5B8409E-D38C-43A8-B6AC-D099EAD756AB}"/>
              </a:ext>
            </a:extLst>
          </p:cNvPr>
          <p:cNvSpPr>
            <a:spLocks noGrp="1"/>
          </p:cNvSpPr>
          <p:nvPr/>
        </p:nvSpPr>
        <p:spPr>
          <a:xfrm>
            <a:off x="1249680" y="1901952"/>
            <a:ext cx="75590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92BFA41-D340-48C1-8C75-CCE43F043C3B}"/>
              </a:ext>
            </a:extLst>
          </p:cNvPr>
          <p:cNvSpPr>
            <a:spLocks noGrp="1"/>
          </p:cNvSpPr>
          <p:nvPr/>
        </p:nvSpPr>
        <p:spPr>
          <a:xfrm>
            <a:off x="1249680" y="1901952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28FC99C-F18A-466C-AA95-C4A8FF0C62B3}"/>
              </a:ext>
            </a:extLst>
          </p:cNvPr>
          <p:cNvSpPr>
            <a:spLocks noGrp="1"/>
          </p:cNvSpPr>
          <p:nvPr/>
        </p:nvSpPr>
        <p:spPr>
          <a:xfrm>
            <a:off x="2042160" y="1554480"/>
            <a:ext cx="75590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BD3ED52-4D56-4180-BBD0-3FB87622BD41}"/>
              </a:ext>
            </a:extLst>
          </p:cNvPr>
          <p:cNvSpPr>
            <a:spLocks noGrp="1"/>
          </p:cNvSpPr>
          <p:nvPr/>
        </p:nvSpPr>
        <p:spPr>
          <a:xfrm>
            <a:off x="2042160" y="1554480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Amount</a:t>
            </a:r>
            <a:endParaRPr sz="9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C10E3DA-AAB4-454A-B9B3-DAB949F72FF7}"/>
              </a:ext>
            </a:extLst>
          </p:cNvPr>
          <p:cNvSpPr>
            <a:spLocks noGrp="1"/>
          </p:cNvSpPr>
          <p:nvPr/>
        </p:nvSpPr>
        <p:spPr>
          <a:xfrm>
            <a:off x="2042160" y="1901952"/>
            <a:ext cx="75590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52CE8BD-BCF2-42CD-98BE-0B41846C9CA3}"/>
              </a:ext>
            </a:extLst>
          </p:cNvPr>
          <p:cNvSpPr>
            <a:spLocks noGrp="1"/>
          </p:cNvSpPr>
          <p:nvPr/>
        </p:nvSpPr>
        <p:spPr>
          <a:xfrm>
            <a:off x="2042160" y="1901952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B663801-D2F2-40D1-B482-841702BB5D47}"/>
              </a:ext>
            </a:extLst>
          </p:cNvPr>
          <p:cNvSpPr>
            <a:spLocks noGrp="1"/>
          </p:cNvSpPr>
          <p:nvPr/>
        </p:nvSpPr>
        <p:spPr>
          <a:xfrm>
            <a:off x="3200400" y="1234440"/>
            <a:ext cx="2560320" cy="1014984"/>
          </a:xfrm>
          <a:prstGeom prst="rect">
            <a:avLst/>
          </a:prstGeom>
          <a:solidFill>
            <a:srgbClr val="1E2A3B"/>
          </a:solidFill>
          <a:ln w="1905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D81DE40-D695-40C4-9F4F-C754D188AD9D}"/>
              </a:ext>
            </a:extLst>
          </p:cNvPr>
          <p:cNvSpPr>
            <a:spLocks noGrp="1"/>
          </p:cNvSpPr>
          <p:nvPr/>
        </p:nvSpPr>
        <p:spPr>
          <a:xfrm>
            <a:off x="3200400" y="1234440"/>
            <a:ext cx="256032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C5EC5A2-C1FD-4170-B94A-1AF3B3F42B47}"/>
              </a:ext>
            </a:extLst>
          </p:cNvPr>
          <p:cNvSpPr>
            <a:spLocks noGrp="1"/>
          </p:cNvSpPr>
          <p:nvPr/>
        </p:nvSpPr>
        <p:spPr>
          <a:xfrm>
            <a:off x="3291840" y="12344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>
                <a:solidFill>
                  <a:srgbClr val="F59E0B"/>
                </a:solidFill>
                <a:latin typeface="Trebuchet MS"/>
                <a:ea typeface="Trebuchet MS"/>
                <a:cs typeface="Trebuchet MS"/>
              </a:rPr>
              <a:t>File B  (shuffled!)</a:t>
            </a:r>
            <a:endParaRPr sz="9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CFE65CE-68CA-447A-9A15-A874C5133091}"/>
              </a:ext>
            </a:extLst>
          </p:cNvPr>
          <p:cNvSpPr>
            <a:spLocks noGrp="1"/>
          </p:cNvSpPr>
          <p:nvPr/>
        </p:nvSpPr>
        <p:spPr>
          <a:xfrm>
            <a:off x="3291840" y="1554480"/>
            <a:ext cx="75590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1ECC992-F67F-45CA-828E-E707BACC3EC9}"/>
              </a:ext>
            </a:extLst>
          </p:cNvPr>
          <p:cNvSpPr>
            <a:spLocks noGrp="1"/>
          </p:cNvSpPr>
          <p:nvPr/>
        </p:nvSpPr>
        <p:spPr>
          <a:xfrm>
            <a:off x="3291840" y="1554480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Amount</a:t>
            </a:r>
            <a:endParaRPr sz="9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77EC77B-DAD9-49A3-AC7B-0D02BABC5972}"/>
              </a:ext>
            </a:extLst>
          </p:cNvPr>
          <p:cNvSpPr>
            <a:spLocks noGrp="1"/>
          </p:cNvSpPr>
          <p:nvPr/>
        </p:nvSpPr>
        <p:spPr>
          <a:xfrm>
            <a:off x="3291840" y="1901952"/>
            <a:ext cx="75590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E900694-6829-41E6-9351-DD781AE98412}"/>
              </a:ext>
            </a:extLst>
          </p:cNvPr>
          <p:cNvSpPr>
            <a:spLocks noGrp="1"/>
          </p:cNvSpPr>
          <p:nvPr/>
        </p:nvSpPr>
        <p:spPr>
          <a:xfrm>
            <a:off x="3291840" y="1901952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E4454ED-A651-47A1-B583-DA487E9E2220}"/>
              </a:ext>
            </a:extLst>
          </p:cNvPr>
          <p:cNvSpPr>
            <a:spLocks noGrp="1"/>
          </p:cNvSpPr>
          <p:nvPr/>
        </p:nvSpPr>
        <p:spPr>
          <a:xfrm>
            <a:off x="4084320" y="1554480"/>
            <a:ext cx="75590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69BCD68-F733-4A10-95B4-C1B2740727B5}"/>
              </a:ext>
            </a:extLst>
          </p:cNvPr>
          <p:cNvSpPr>
            <a:spLocks noGrp="1"/>
          </p:cNvSpPr>
          <p:nvPr/>
        </p:nvSpPr>
        <p:spPr>
          <a:xfrm>
            <a:off x="4084320" y="1554480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ID</a:t>
            </a:r>
            <a:endParaRPr sz="9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6FBA153-5113-4D97-9797-B2FB9AF55466}"/>
              </a:ext>
            </a:extLst>
          </p:cNvPr>
          <p:cNvSpPr>
            <a:spLocks noGrp="1"/>
          </p:cNvSpPr>
          <p:nvPr/>
        </p:nvSpPr>
        <p:spPr>
          <a:xfrm>
            <a:off x="4084320" y="1901952"/>
            <a:ext cx="75590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AA368C5-C02E-406D-A316-163F9DC18EFF}"/>
              </a:ext>
            </a:extLst>
          </p:cNvPr>
          <p:cNvSpPr>
            <a:spLocks noGrp="1"/>
          </p:cNvSpPr>
          <p:nvPr/>
        </p:nvSpPr>
        <p:spPr>
          <a:xfrm>
            <a:off x="4084320" y="1901952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21A7E13-8860-4AA5-8EC6-DBD14E2E2575}"/>
              </a:ext>
            </a:extLst>
          </p:cNvPr>
          <p:cNvSpPr>
            <a:spLocks noGrp="1"/>
          </p:cNvSpPr>
          <p:nvPr/>
        </p:nvSpPr>
        <p:spPr>
          <a:xfrm>
            <a:off x="4876800" y="1554480"/>
            <a:ext cx="75590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1099DBA-19A0-4D95-9ECC-904145786953}"/>
              </a:ext>
            </a:extLst>
          </p:cNvPr>
          <p:cNvSpPr>
            <a:spLocks noGrp="1"/>
          </p:cNvSpPr>
          <p:nvPr/>
        </p:nvSpPr>
        <p:spPr>
          <a:xfrm>
            <a:off x="4876800" y="1554480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Name</a:t>
            </a:r>
            <a:endParaRPr sz="9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15683DA-19E4-411E-A720-59D2BD21CB3A}"/>
              </a:ext>
            </a:extLst>
          </p:cNvPr>
          <p:cNvSpPr>
            <a:spLocks noGrp="1"/>
          </p:cNvSpPr>
          <p:nvPr/>
        </p:nvSpPr>
        <p:spPr>
          <a:xfrm>
            <a:off x="4876800" y="1901952"/>
            <a:ext cx="75590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6F52FE5-159F-4A03-AB9E-85D910B29520}"/>
              </a:ext>
            </a:extLst>
          </p:cNvPr>
          <p:cNvSpPr>
            <a:spLocks noGrp="1"/>
          </p:cNvSpPr>
          <p:nvPr/>
        </p:nvSpPr>
        <p:spPr>
          <a:xfrm>
            <a:off x="4876800" y="1901952"/>
            <a:ext cx="75590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1320F42-46DF-4CDC-856D-173AF3AFA43E}"/>
              </a:ext>
            </a:extLst>
          </p:cNvPr>
          <p:cNvSpPr>
            <a:spLocks noGrp="1"/>
          </p:cNvSpPr>
          <p:nvPr/>
        </p:nvSpPr>
        <p:spPr>
          <a:xfrm>
            <a:off x="4069080" y="224028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↓</a:t>
            </a:r>
            <a:endParaRPr sz="32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728D365-9AC7-439F-BE23-752272739021}"/>
              </a:ext>
            </a:extLst>
          </p:cNvPr>
          <p:cNvSpPr>
            <a:spLocks noGrp="1"/>
          </p:cNvSpPr>
          <p:nvPr/>
        </p:nvSpPr>
        <p:spPr>
          <a:xfrm>
            <a:off x="3200400" y="2816352"/>
            <a:ext cx="2743200" cy="502920"/>
          </a:xfrm>
          <a:prstGeom prst="rect">
            <a:avLst/>
          </a:prstGeom>
          <a:solidFill>
            <a:srgbClr val="2563EB"/>
          </a:solidFill>
          <a:ln w="1905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2880360"/>
            <a:ext cx="365760" cy="365760"/>
          </a:xfrm>
          <a:prstGeom prst="rect">
            <a:avLst/>
          </a:prstGeom>
        </p:spPr>
      </p:pic>
      <p:sp>
        <p:nvSpPr>
          <p:cNvPr id="37" name="Text 34">
            <a:extLst>
              <a:ext uri="{FF2B5EF4-FFF2-40B4-BE49-F238E27FC236}">
                <a16:creationId xmlns:a16="http://schemas.microsoft.com/office/drawing/2014/main" id="{F4A5B79A-2C3C-4DBB-A1C2-45422F133DB8}"/>
              </a:ext>
            </a:extLst>
          </p:cNvPr>
          <p:cNvSpPr>
            <a:spLocks noGrp="1"/>
          </p:cNvSpPr>
          <p:nvPr/>
        </p:nvSpPr>
        <p:spPr>
          <a:xfrm>
            <a:off x="3803904" y="281635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MergeGuru — Schema Alignment</a:t>
            </a:r>
            <a:endParaRPr sz="110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EB1431E-99DD-4705-97E0-DAA85D267BED}"/>
              </a:ext>
            </a:extLst>
          </p:cNvPr>
          <p:cNvSpPr>
            <a:spLocks noGrp="1"/>
          </p:cNvSpPr>
          <p:nvPr/>
        </p:nvSpPr>
        <p:spPr>
          <a:xfrm>
            <a:off x="4069080" y="333756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↓</a:t>
            </a:r>
            <a:endParaRPr sz="32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71F8F726-2EDE-4EAA-B433-FBEC06DDA5DB}"/>
              </a:ext>
            </a:extLst>
          </p:cNvPr>
          <p:cNvSpPr>
            <a:spLocks noGrp="1"/>
          </p:cNvSpPr>
          <p:nvPr/>
        </p:nvSpPr>
        <p:spPr>
          <a:xfrm>
            <a:off x="3200400" y="3858768"/>
            <a:ext cx="2743200" cy="1014984"/>
          </a:xfrm>
          <a:prstGeom prst="rect">
            <a:avLst/>
          </a:prstGeom>
          <a:solidFill>
            <a:srgbClr val="1E2A3B"/>
          </a:solidFill>
          <a:ln w="1905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D40F6573-1B7B-4159-BBC6-C9A9E851CC60}"/>
              </a:ext>
            </a:extLst>
          </p:cNvPr>
          <p:cNvSpPr>
            <a:spLocks noGrp="1"/>
          </p:cNvSpPr>
          <p:nvPr/>
        </p:nvSpPr>
        <p:spPr>
          <a:xfrm>
            <a:off x="3200400" y="3858768"/>
            <a:ext cx="274320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BA3495CC-43D6-4B5C-B116-F521CF55FF15}"/>
              </a:ext>
            </a:extLst>
          </p:cNvPr>
          <p:cNvSpPr>
            <a:spLocks noGrp="1"/>
          </p:cNvSpPr>
          <p:nvPr/>
        </p:nvSpPr>
        <p:spPr>
          <a:xfrm>
            <a:off x="3291840" y="385876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✅  Aligned output</a:t>
            </a:r>
            <a:endParaRPr sz="95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E80ABE4A-BAE5-4D9B-B32E-CCD7F88DA00E}"/>
              </a:ext>
            </a:extLst>
          </p:cNvPr>
          <p:cNvSpPr>
            <a:spLocks noGrp="1"/>
          </p:cNvSpPr>
          <p:nvPr/>
        </p:nvSpPr>
        <p:spPr>
          <a:xfrm>
            <a:off x="3291840" y="4178808"/>
            <a:ext cx="81686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0E8F6A2A-A267-4080-B00E-17656F51BF0A}"/>
              </a:ext>
            </a:extLst>
          </p:cNvPr>
          <p:cNvSpPr>
            <a:spLocks noGrp="1"/>
          </p:cNvSpPr>
          <p:nvPr/>
        </p:nvSpPr>
        <p:spPr>
          <a:xfrm>
            <a:off x="3291840" y="4178808"/>
            <a:ext cx="81686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ID</a:t>
            </a:r>
            <a:endParaRPr sz="90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A7C9D5AC-27A5-4CE9-8844-F5EDB54EC5F0}"/>
              </a:ext>
            </a:extLst>
          </p:cNvPr>
          <p:cNvSpPr>
            <a:spLocks noGrp="1"/>
          </p:cNvSpPr>
          <p:nvPr/>
        </p:nvSpPr>
        <p:spPr>
          <a:xfrm>
            <a:off x="3291840" y="4526280"/>
            <a:ext cx="81686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DADAB17B-599B-4FE6-A99C-7246334A232E}"/>
              </a:ext>
            </a:extLst>
          </p:cNvPr>
          <p:cNvSpPr>
            <a:spLocks noGrp="1"/>
          </p:cNvSpPr>
          <p:nvPr/>
        </p:nvSpPr>
        <p:spPr>
          <a:xfrm>
            <a:off x="3291840" y="4526280"/>
            <a:ext cx="81686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FF8551EC-F0F6-4703-8636-DC1526F0BCA9}"/>
              </a:ext>
            </a:extLst>
          </p:cNvPr>
          <p:cNvSpPr>
            <a:spLocks noGrp="1"/>
          </p:cNvSpPr>
          <p:nvPr/>
        </p:nvSpPr>
        <p:spPr>
          <a:xfrm>
            <a:off x="4145280" y="4178808"/>
            <a:ext cx="81686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D8E557E9-239A-49C0-B7D5-C16A570A29BB}"/>
              </a:ext>
            </a:extLst>
          </p:cNvPr>
          <p:cNvSpPr>
            <a:spLocks noGrp="1"/>
          </p:cNvSpPr>
          <p:nvPr/>
        </p:nvSpPr>
        <p:spPr>
          <a:xfrm>
            <a:off x="4145280" y="4178808"/>
            <a:ext cx="81686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Name</a:t>
            </a:r>
            <a:endParaRPr sz="900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101A0536-CA2E-4F7B-8F66-6221FEF0505D}"/>
              </a:ext>
            </a:extLst>
          </p:cNvPr>
          <p:cNvSpPr>
            <a:spLocks noGrp="1"/>
          </p:cNvSpPr>
          <p:nvPr/>
        </p:nvSpPr>
        <p:spPr>
          <a:xfrm>
            <a:off x="4145280" y="4526280"/>
            <a:ext cx="81686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6BBA0AED-E853-477D-9D30-8698C3915381}"/>
              </a:ext>
            </a:extLst>
          </p:cNvPr>
          <p:cNvSpPr>
            <a:spLocks noGrp="1"/>
          </p:cNvSpPr>
          <p:nvPr/>
        </p:nvSpPr>
        <p:spPr>
          <a:xfrm>
            <a:off x="4145280" y="4526280"/>
            <a:ext cx="81686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06033507-0EB0-4AD9-A74D-07A56943B90F}"/>
              </a:ext>
            </a:extLst>
          </p:cNvPr>
          <p:cNvSpPr>
            <a:spLocks noGrp="1"/>
          </p:cNvSpPr>
          <p:nvPr/>
        </p:nvSpPr>
        <p:spPr>
          <a:xfrm>
            <a:off x="4998720" y="4178808"/>
            <a:ext cx="816864" cy="310896"/>
          </a:xfrm>
          <a:prstGeom prst="rect">
            <a:avLst/>
          </a:prstGeom>
          <a:solidFill>
            <a:srgbClr val="24334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77DD9643-C6CB-4354-AE20-682F298F681E}"/>
              </a:ext>
            </a:extLst>
          </p:cNvPr>
          <p:cNvSpPr>
            <a:spLocks noGrp="1"/>
          </p:cNvSpPr>
          <p:nvPr/>
        </p:nvSpPr>
        <p:spPr>
          <a:xfrm>
            <a:off x="4998720" y="4178808"/>
            <a:ext cx="81686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Amount</a:t>
            </a:r>
            <a:endParaRPr sz="900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0C043A2E-F01D-494F-B42E-966202BBBB1E}"/>
              </a:ext>
            </a:extLst>
          </p:cNvPr>
          <p:cNvSpPr>
            <a:spLocks noGrp="1"/>
          </p:cNvSpPr>
          <p:nvPr/>
        </p:nvSpPr>
        <p:spPr>
          <a:xfrm>
            <a:off x="4998720" y="4526280"/>
            <a:ext cx="816864" cy="310896"/>
          </a:xfrm>
          <a:prstGeom prst="rect">
            <a:avLst/>
          </a:prstGeom>
          <a:solidFill>
            <a:srgbClr val="16203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4D59C305-FBEA-415B-BFF2-80C8F187675C}"/>
              </a:ext>
            </a:extLst>
          </p:cNvPr>
          <p:cNvSpPr>
            <a:spLocks noGrp="1"/>
          </p:cNvSpPr>
          <p:nvPr/>
        </p:nvSpPr>
        <p:spPr>
          <a:xfrm>
            <a:off x="4998720" y="4526280"/>
            <a:ext cx="81686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—</a:t>
            </a:r>
            <a:endParaRPr sz="80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73AF6562-E900-4457-B568-9E22AB225ECB}"/>
              </a:ext>
            </a:extLst>
          </p:cNvPr>
          <p:cNvSpPr>
            <a:spLocks noGrp="1"/>
          </p:cNvSpPr>
          <p:nvPr/>
        </p:nvSpPr>
        <p:spPr>
          <a:xfrm>
            <a:off x="6126480" y="123444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What the engine catches</a:t>
            </a:r>
            <a:endParaRPr sz="110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FE00B6A7-0E9A-4BE0-8F2E-7CCC9A5CAE1A}"/>
              </a:ext>
            </a:extLst>
          </p:cNvPr>
          <p:cNvSpPr>
            <a:spLocks noGrp="1"/>
          </p:cNvSpPr>
          <p:nvPr/>
        </p:nvSpPr>
        <p:spPr>
          <a:xfrm>
            <a:off x="6181344" y="169164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880D5BBA-E83C-4137-B107-996943BAED2D}"/>
              </a:ext>
            </a:extLst>
          </p:cNvPr>
          <p:cNvSpPr>
            <a:spLocks noGrp="1"/>
          </p:cNvSpPr>
          <p:nvPr/>
        </p:nvSpPr>
        <p:spPr>
          <a:xfrm>
            <a:off x="6455664" y="1664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Shuffled column order</a:t>
            </a:r>
            <a:endParaRPr sz="1050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6D96B50D-C5B9-434A-BD8D-54156D551910}"/>
              </a:ext>
            </a:extLst>
          </p:cNvPr>
          <p:cNvSpPr>
            <a:spLocks noGrp="1"/>
          </p:cNvSpPr>
          <p:nvPr/>
        </p:nvSpPr>
        <p:spPr>
          <a:xfrm>
            <a:off x="6181344" y="21671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63665B03-16F5-4F9E-8A2D-326313205731}"/>
              </a:ext>
            </a:extLst>
          </p:cNvPr>
          <p:cNvSpPr>
            <a:spLocks noGrp="1"/>
          </p:cNvSpPr>
          <p:nvPr/>
        </p:nvSpPr>
        <p:spPr>
          <a:xfrm>
            <a:off x="6455664" y="21396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Duplicate column names</a:t>
            </a:r>
            <a:endParaRPr sz="1050"/>
          </a:p>
        </p:txBody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F3A24AF8-895E-4C8F-80C9-0F66885664C6}"/>
              </a:ext>
            </a:extLst>
          </p:cNvPr>
          <p:cNvSpPr>
            <a:spLocks noGrp="1"/>
          </p:cNvSpPr>
          <p:nvPr/>
        </p:nvSpPr>
        <p:spPr>
          <a:xfrm>
            <a:off x="6181344" y="264261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C1A150E1-0F75-4BC2-B13F-732645ECCBFE}"/>
              </a:ext>
            </a:extLst>
          </p:cNvPr>
          <p:cNvSpPr>
            <a:spLocks noGrp="1"/>
          </p:cNvSpPr>
          <p:nvPr/>
        </p:nvSpPr>
        <p:spPr>
          <a:xfrm>
            <a:off x="6455664" y="26151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Missing required columns</a:t>
            </a:r>
            <a:endParaRPr sz="1050"/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2AFF4337-2FF2-4418-8BD7-C3ED5EC02000}"/>
              </a:ext>
            </a:extLst>
          </p:cNvPr>
          <p:cNvSpPr>
            <a:spLocks noGrp="1"/>
          </p:cNvSpPr>
          <p:nvPr/>
        </p:nvSpPr>
        <p:spPr>
          <a:xfrm>
            <a:off x="6181344" y="311810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76583C35-4473-45EF-9D8D-1AB2E33BF302}"/>
              </a:ext>
            </a:extLst>
          </p:cNvPr>
          <p:cNvSpPr>
            <a:spLocks noGrp="1"/>
          </p:cNvSpPr>
          <p:nvPr/>
        </p:nvSpPr>
        <p:spPr>
          <a:xfrm>
            <a:off x="6455664" y="30906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Optional extra columns</a:t>
            </a:r>
            <a:endParaRPr sz="1050"/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EDF911B5-0ACE-4913-979F-D16C93D170FA}"/>
              </a:ext>
            </a:extLst>
          </p:cNvPr>
          <p:cNvSpPr>
            <a:spLocks noGrp="1"/>
          </p:cNvSpPr>
          <p:nvPr/>
        </p:nvSpPr>
        <p:spPr>
          <a:xfrm>
            <a:off x="6181344" y="359359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46F42CA3-D325-4AB6-8CA9-2A939354AF61}"/>
              </a:ext>
            </a:extLst>
          </p:cNvPr>
          <p:cNvSpPr>
            <a:spLocks noGrp="1"/>
          </p:cNvSpPr>
          <p:nvPr/>
        </p:nvSpPr>
        <p:spPr>
          <a:xfrm>
            <a:off x="6455664" y="35661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Whitespace in headers</a:t>
            </a:r>
            <a:endParaRPr sz="1050"/>
          </a:p>
        </p:txBody>
      </p:sp>
      <p:sp>
        <p:nvSpPr>
          <p:cNvPr id="65" name="Shape 62">
            <a:extLst>
              <a:ext uri="{FF2B5EF4-FFF2-40B4-BE49-F238E27FC236}">
                <a16:creationId xmlns:a16="http://schemas.microsoft.com/office/drawing/2014/main" id="{295AF502-777B-463D-9B58-B0CE050FA05B}"/>
              </a:ext>
            </a:extLst>
          </p:cNvPr>
          <p:cNvSpPr>
            <a:spLocks noGrp="1"/>
          </p:cNvSpPr>
          <p:nvPr/>
        </p:nvSpPr>
        <p:spPr>
          <a:xfrm>
            <a:off x="6181344" y="406908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B8D5F8C8-EEA8-4A11-8E4C-896BC1C95238}"/>
              </a:ext>
            </a:extLst>
          </p:cNvPr>
          <p:cNvSpPr>
            <a:spLocks noGrp="1"/>
          </p:cNvSpPr>
          <p:nvPr/>
        </p:nvSpPr>
        <p:spPr>
          <a:xfrm>
            <a:off x="6455664" y="40416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Case differences</a:t>
            </a:r>
            <a:endParaRPr sz="105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9BE43388-5BEF-285F-F114-BE6B08655EA1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pic>
        <p:nvPicPr>
          <p:cNvPr id="136" name="Picture 1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18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>
            <a:extLst>
              <a:ext uri="{FF2B5EF4-FFF2-40B4-BE49-F238E27FC236}">
                <a16:creationId xmlns:a16="http://schemas.microsoft.com/office/drawing/2014/main" id="{DB0A8B88-2805-55FC-51F7-328EDBB8CE3D}"/>
              </a:ext>
            </a:extLst>
          </p:cNvPr>
          <p:cNvSpPr>
            <a:spLocks noGrp="1"/>
          </p:cNvSpPr>
          <p:nvPr/>
        </p:nvSpPr>
        <p:spPr>
          <a:xfrm>
            <a:off x="457200" y="822449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3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Large-File Safeguards</a:t>
            </a: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84732EEB-5330-A51A-D8A9-7843C412597B}"/>
              </a:ext>
            </a:extLst>
          </p:cNvPr>
          <p:cNvSpPr>
            <a:spLocks noGrp="1"/>
          </p:cNvSpPr>
          <p:nvPr/>
        </p:nvSpPr>
        <p:spPr>
          <a:xfrm>
            <a:off x="457200" y="12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Controls for memory, progress and output format.</a:t>
            </a:r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C3A1E049-A5B8-DA2D-606F-4BF43492D3EB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2563EB"/>
            </a:solidFill>
            <a:prstDash val="dash"/>
          </a:ln>
        </p:spPr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2D33C466-0C48-EC4D-4AAB-A0534E99EBA7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150">
                <a:solidFill>
                  <a:srgbClr val="3B82F6"/>
                </a:solidFill>
                <a:latin typeface="Trebuchet MS"/>
                <a:ea typeface="Trebuchet MS"/>
                <a:cs typeface="Trebuchet MS"/>
              </a:rPr>
              <a:t>PERFORMANCE</a:t>
            </a:r>
            <a:endParaRPr sz="85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19B66725-4A4E-4FE2-7149-36E85BA68816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sp>
        <p:nvSpPr>
          <p:cNvPr id="81" name="Shape 2">
            <a:extLst>
              <a:ext uri="{FF2B5EF4-FFF2-40B4-BE49-F238E27FC236}">
                <a16:creationId xmlns:a16="http://schemas.microsoft.com/office/drawing/2014/main" id="{D3C00549-0D3F-2A7E-5C90-FE3FF7152872}"/>
              </a:ext>
            </a:extLst>
          </p:cNvPr>
          <p:cNvSpPr>
            <a:spLocks noGrp="1"/>
          </p:cNvSpPr>
          <p:nvPr/>
        </p:nvSpPr>
        <p:spPr>
          <a:xfrm>
            <a:off x="522805" y="1684357"/>
            <a:ext cx="1808035" cy="1033985"/>
          </a:xfrm>
          <a:prstGeom prst="roundRect">
            <a:avLst>
              <a:gd name="adj" fmla="val 6632"/>
            </a:avLst>
          </a:prstGeom>
          <a:solidFill>
            <a:srgbClr val="1E2A3B"/>
          </a:solidFill>
          <a:ln w="6350">
            <a:solidFill>
              <a:srgbClr val="10B981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92457A4-D056-7413-B778-9260F3C84F78}"/>
              </a:ext>
            </a:extLst>
          </p:cNvPr>
          <p:cNvSpPr>
            <a:spLocks noGrp="1"/>
          </p:cNvSpPr>
          <p:nvPr/>
        </p:nvSpPr>
        <p:spPr>
          <a:xfrm>
            <a:off x="594976" y="1752919"/>
            <a:ext cx="281716" cy="2817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59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70" y="1791153"/>
            <a:ext cx="201528" cy="201528"/>
          </a:xfrm>
          <a:prstGeom prst="rect">
            <a:avLst/>
          </a:prstGeom>
        </p:spPr>
      </p:pic>
      <p:sp>
        <p:nvSpPr>
          <p:cNvPr id="88" name="Text 22">
            <a:extLst>
              <a:ext uri="{FF2B5EF4-FFF2-40B4-BE49-F238E27FC236}">
                <a16:creationId xmlns:a16="http://schemas.microsoft.com/office/drawing/2014/main" id="{145D9686-519B-C4AC-66D3-72E7F62EBDB6}"/>
              </a:ext>
            </a:extLst>
          </p:cNvPr>
          <p:cNvSpPr>
            <a:spLocks noGrp="1"/>
          </p:cNvSpPr>
          <p:nvPr/>
        </p:nvSpPr>
        <p:spPr>
          <a:xfrm>
            <a:off x="496745" y="2052049"/>
            <a:ext cx="1447078" cy="22801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Memory Safety</a:t>
            </a:r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D9A0C2FF-70EE-EDA6-67BF-344D4506CC88}"/>
              </a:ext>
            </a:extLst>
          </p:cNvPr>
          <p:cNvSpPr>
            <a:spLocks noGrp="1"/>
          </p:cNvSpPr>
          <p:nvPr/>
        </p:nvSpPr>
        <p:spPr>
          <a:xfrm>
            <a:off x="613556" y="2262664"/>
            <a:ext cx="1447078" cy="708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RAM pre-flight</a:t>
            </a:r>
          </a:p>
        </p:txBody>
      </p:sp>
      <p:sp>
        <p:nvSpPr>
          <p:cNvPr id="90" name="Text 22">
            <a:extLst>
              <a:ext uri="{FF2B5EF4-FFF2-40B4-BE49-F238E27FC236}">
                <a16:creationId xmlns:a16="http://schemas.microsoft.com/office/drawing/2014/main" id="{9A020FF1-E327-EB5F-ED94-90A24811241C}"/>
              </a:ext>
            </a:extLst>
          </p:cNvPr>
          <p:cNvSpPr>
            <a:spLocks noGrp="1"/>
          </p:cNvSpPr>
          <p:nvPr/>
        </p:nvSpPr>
        <p:spPr>
          <a:xfrm>
            <a:off x="613556" y="2425315"/>
            <a:ext cx="1656931" cy="1802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</a:rPr>
              <a:t>Warns when estimated memory may exceed available RAM.</a:t>
            </a:r>
          </a:p>
        </p:txBody>
      </p:sp>
      <p:sp>
        <p:nvSpPr>
          <p:cNvPr id="118" name="Shape 2">
            <a:extLst>
              <a:ext uri="{FF2B5EF4-FFF2-40B4-BE49-F238E27FC236}">
                <a16:creationId xmlns:a16="http://schemas.microsoft.com/office/drawing/2014/main" id="{CA84F188-7A30-8DEA-E3A9-202F9E0940A6}"/>
              </a:ext>
            </a:extLst>
          </p:cNvPr>
          <p:cNvSpPr>
            <a:spLocks noGrp="1"/>
          </p:cNvSpPr>
          <p:nvPr/>
        </p:nvSpPr>
        <p:spPr>
          <a:xfrm>
            <a:off x="2628277" y="1684357"/>
            <a:ext cx="1808035" cy="1033985"/>
          </a:xfrm>
          <a:prstGeom prst="roundRect">
            <a:avLst>
              <a:gd name="adj" fmla="val 6632"/>
            </a:avLst>
          </a:prstGeom>
          <a:solidFill>
            <a:srgbClr val="1E2A3B"/>
          </a:solidFill>
          <a:ln w="6350">
            <a:solidFill>
              <a:srgbClr val="6082ED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4923EC38-F5EE-90EF-6156-96A70F48BE15}"/>
              </a:ext>
            </a:extLst>
          </p:cNvPr>
          <p:cNvSpPr>
            <a:spLocks noGrp="1"/>
          </p:cNvSpPr>
          <p:nvPr/>
        </p:nvSpPr>
        <p:spPr>
          <a:xfrm>
            <a:off x="2700448" y="1752919"/>
            <a:ext cx="281716" cy="281716"/>
          </a:xfrm>
          <a:prstGeom prst="roundRect">
            <a:avLst/>
          </a:prstGeom>
          <a:solidFill>
            <a:srgbClr val="608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5" name="Picture 119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0542" y="1791153"/>
            <a:ext cx="201528" cy="201528"/>
          </a:xfrm>
          <a:prstGeom prst="rect">
            <a:avLst/>
          </a:prstGeom>
        </p:spPr>
      </p:pic>
      <p:sp>
        <p:nvSpPr>
          <p:cNvPr id="121" name="Text 22">
            <a:extLst>
              <a:ext uri="{FF2B5EF4-FFF2-40B4-BE49-F238E27FC236}">
                <a16:creationId xmlns:a16="http://schemas.microsoft.com/office/drawing/2014/main" id="{54225841-32FC-5C78-6BFE-5ACBC25A1FCE}"/>
              </a:ext>
            </a:extLst>
          </p:cNvPr>
          <p:cNvSpPr>
            <a:spLocks noGrp="1"/>
          </p:cNvSpPr>
          <p:nvPr/>
        </p:nvSpPr>
        <p:spPr>
          <a:xfrm>
            <a:off x="2602217" y="2052049"/>
            <a:ext cx="1447078" cy="22801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Rolling Concat</a:t>
            </a:r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E37D4425-B7FD-B68E-42DE-F5C2833A3B99}"/>
              </a:ext>
            </a:extLst>
          </p:cNvPr>
          <p:cNvSpPr>
            <a:spLocks noGrp="1"/>
          </p:cNvSpPr>
          <p:nvPr/>
        </p:nvSpPr>
        <p:spPr>
          <a:xfrm>
            <a:off x="2719028" y="2262664"/>
            <a:ext cx="1447078" cy="708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>
                <a:solidFill>
                  <a:srgbClr val="6082ED"/>
                </a:solidFill>
                <a:latin typeface="Montserrat"/>
                <a:ea typeface="Montserrat"/>
                <a:cs typeface="Montserrat"/>
              </a:rPr>
              <a:t>10-frame batching</a:t>
            </a:r>
          </a:p>
        </p:txBody>
      </p:sp>
      <p:sp>
        <p:nvSpPr>
          <p:cNvPr id="123" name="Text 22">
            <a:extLst>
              <a:ext uri="{FF2B5EF4-FFF2-40B4-BE49-F238E27FC236}">
                <a16:creationId xmlns:a16="http://schemas.microsoft.com/office/drawing/2014/main" id="{DCDA7D72-2C94-DF93-F6CD-84A2D23983BB}"/>
              </a:ext>
            </a:extLst>
          </p:cNvPr>
          <p:cNvSpPr>
            <a:spLocks noGrp="1"/>
          </p:cNvSpPr>
          <p:nvPr/>
        </p:nvSpPr>
        <p:spPr>
          <a:xfrm>
            <a:off x="2719028" y="2425315"/>
            <a:ext cx="1656931" cy="1802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</a:rPr>
              <a:t>Reduces peak RAM during final concatenation.</a:t>
            </a:r>
          </a:p>
        </p:txBody>
      </p:sp>
      <p:sp>
        <p:nvSpPr>
          <p:cNvPr id="125" name="Shape 2">
            <a:extLst>
              <a:ext uri="{FF2B5EF4-FFF2-40B4-BE49-F238E27FC236}">
                <a16:creationId xmlns:a16="http://schemas.microsoft.com/office/drawing/2014/main" id="{0F4C6B60-6469-1190-104F-DAD02E4C71AE}"/>
              </a:ext>
            </a:extLst>
          </p:cNvPr>
          <p:cNvSpPr>
            <a:spLocks noGrp="1"/>
          </p:cNvSpPr>
          <p:nvPr/>
        </p:nvSpPr>
        <p:spPr>
          <a:xfrm>
            <a:off x="4733749" y="1684357"/>
            <a:ext cx="1808035" cy="1033985"/>
          </a:xfrm>
          <a:prstGeom prst="roundRect">
            <a:avLst>
              <a:gd name="adj" fmla="val 6632"/>
            </a:avLst>
          </a:prstGeom>
          <a:solidFill>
            <a:srgbClr val="1E2A3B"/>
          </a:solidFill>
          <a:ln w="6350">
            <a:solidFill>
              <a:srgbClr val="8760ED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4D7DFE32-33C8-3233-3FFC-821B452C72D9}"/>
              </a:ext>
            </a:extLst>
          </p:cNvPr>
          <p:cNvSpPr>
            <a:spLocks noGrp="1"/>
          </p:cNvSpPr>
          <p:nvPr/>
        </p:nvSpPr>
        <p:spPr>
          <a:xfrm>
            <a:off x="4805920" y="1752919"/>
            <a:ext cx="281716" cy="281716"/>
          </a:xfrm>
          <a:prstGeom prst="roundRect">
            <a:avLst/>
          </a:prstGeom>
          <a:solidFill>
            <a:srgbClr val="8760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1" name="Picture 12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014" y="1791153"/>
            <a:ext cx="201528" cy="201528"/>
          </a:xfrm>
          <a:prstGeom prst="rect">
            <a:avLst/>
          </a:prstGeom>
        </p:spPr>
      </p:pic>
      <p:sp>
        <p:nvSpPr>
          <p:cNvPr id="128" name="Text 22">
            <a:extLst>
              <a:ext uri="{FF2B5EF4-FFF2-40B4-BE49-F238E27FC236}">
                <a16:creationId xmlns:a16="http://schemas.microsoft.com/office/drawing/2014/main" id="{2D3B078D-EAC6-215D-1CB3-C7530296A0FE}"/>
              </a:ext>
            </a:extLst>
          </p:cNvPr>
          <p:cNvSpPr>
            <a:spLocks noGrp="1"/>
          </p:cNvSpPr>
          <p:nvPr/>
        </p:nvSpPr>
        <p:spPr>
          <a:xfrm>
            <a:off x="4813609" y="2052049"/>
            <a:ext cx="1447078" cy="22801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Chunked Export</a:t>
            </a:r>
          </a:p>
        </p:txBody>
      </p:sp>
      <p:sp>
        <p:nvSpPr>
          <p:cNvPr id="129" name="Text 22">
            <a:extLst>
              <a:ext uri="{FF2B5EF4-FFF2-40B4-BE49-F238E27FC236}">
                <a16:creationId xmlns:a16="http://schemas.microsoft.com/office/drawing/2014/main" id="{3A36D586-6678-AE6F-F985-AF7178D3C3E6}"/>
              </a:ext>
            </a:extLst>
          </p:cNvPr>
          <p:cNvSpPr>
            <a:spLocks noGrp="1"/>
          </p:cNvSpPr>
          <p:nvPr/>
        </p:nvSpPr>
        <p:spPr>
          <a:xfrm>
            <a:off x="4824500" y="2262664"/>
            <a:ext cx="1447078" cy="708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>
                <a:solidFill>
                  <a:srgbClr val="8760ED"/>
                </a:solidFill>
                <a:latin typeface="Montserrat"/>
                <a:ea typeface="Montserrat"/>
                <a:cs typeface="Montserrat"/>
              </a:rPr>
              <a:t>CSV and Excel chunks</a:t>
            </a:r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A82C9F38-28E1-A634-DC90-A8878774CCBE}"/>
              </a:ext>
            </a:extLst>
          </p:cNvPr>
          <p:cNvSpPr>
            <a:spLocks noGrp="1"/>
          </p:cNvSpPr>
          <p:nvPr/>
        </p:nvSpPr>
        <p:spPr>
          <a:xfrm>
            <a:off x="4824500" y="2425315"/>
            <a:ext cx="1656931" cy="1802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</a:rPr>
              <a:t>Limits write-time memory spikes and reports progress.</a:t>
            </a:r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9F9BD0DD-FC69-79CD-5E21-83BE385DD260}"/>
              </a:ext>
            </a:extLst>
          </p:cNvPr>
          <p:cNvSpPr>
            <a:spLocks noGrp="1"/>
          </p:cNvSpPr>
          <p:nvPr/>
        </p:nvSpPr>
        <p:spPr>
          <a:xfrm>
            <a:off x="6839221" y="1684357"/>
            <a:ext cx="1808035" cy="1033985"/>
          </a:xfrm>
          <a:prstGeom prst="roundRect">
            <a:avLst>
              <a:gd name="adj" fmla="val 6632"/>
            </a:avLst>
          </a:prstGeom>
          <a:solidFill>
            <a:srgbClr val="1E2A3B"/>
          </a:solidFill>
          <a:ln w="6350">
            <a:solidFill>
              <a:srgbClr val="E0A03C"/>
            </a:solidFill>
            <a:prstDash val="solid"/>
          </a:ln>
          <a:effectLst>
            <a:outerShdw blurRad="762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B8092831-A0E1-07D5-5BFE-C4745A061800}"/>
              </a:ext>
            </a:extLst>
          </p:cNvPr>
          <p:cNvSpPr>
            <a:spLocks noGrp="1"/>
          </p:cNvSpPr>
          <p:nvPr/>
        </p:nvSpPr>
        <p:spPr>
          <a:xfrm>
            <a:off x="6911392" y="1752919"/>
            <a:ext cx="281716" cy="281716"/>
          </a:xfrm>
          <a:prstGeom prst="roundRect">
            <a:avLst/>
          </a:prstGeom>
          <a:solidFill>
            <a:srgbClr val="E0A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7" name="Picture 13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51486" y="1791153"/>
            <a:ext cx="201528" cy="201528"/>
          </a:xfrm>
          <a:prstGeom prst="rect">
            <a:avLst/>
          </a:prstGeom>
        </p:spPr>
      </p:pic>
      <p:sp>
        <p:nvSpPr>
          <p:cNvPr id="135" name="Text 22">
            <a:extLst>
              <a:ext uri="{FF2B5EF4-FFF2-40B4-BE49-F238E27FC236}">
                <a16:creationId xmlns:a16="http://schemas.microsoft.com/office/drawing/2014/main" id="{2C71A3E4-B22D-F4CE-FCC4-4A8927FC2823}"/>
              </a:ext>
            </a:extLst>
          </p:cNvPr>
          <p:cNvSpPr>
            <a:spLocks noGrp="1"/>
          </p:cNvSpPr>
          <p:nvPr/>
        </p:nvSpPr>
        <p:spPr>
          <a:xfrm>
            <a:off x="6919077" y="2052049"/>
            <a:ext cx="1447078" cy="22801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Parquet Support</a:t>
            </a:r>
          </a:p>
        </p:txBody>
      </p:sp>
      <p:sp>
        <p:nvSpPr>
          <p:cNvPr id="136" name="Text 22">
            <a:extLst>
              <a:ext uri="{FF2B5EF4-FFF2-40B4-BE49-F238E27FC236}">
                <a16:creationId xmlns:a16="http://schemas.microsoft.com/office/drawing/2014/main" id="{DDF3BA63-2975-EE85-0E8C-7BB402FF24F2}"/>
              </a:ext>
            </a:extLst>
          </p:cNvPr>
          <p:cNvSpPr>
            <a:spLocks noGrp="1"/>
          </p:cNvSpPr>
          <p:nvPr/>
        </p:nvSpPr>
        <p:spPr>
          <a:xfrm>
            <a:off x="6929972" y="2262664"/>
            <a:ext cx="1447078" cy="708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>
                <a:solidFill>
                  <a:srgbClr val="E0A03C"/>
                </a:solidFill>
                <a:latin typeface="Montserrat"/>
                <a:ea typeface="Montserrat"/>
                <a:cs typeface="Montserrat"/>
              </a:rPr>
              <a:t>Analytics-ready output</a:t>
            </a:r>
          </a:p>
        </p:txBody>
      </p:sp>
      <p:sp>
        <p:nvSpPr>
          <p:cNvPr id="137" name="Text 22">
            <a:extLst>
              <a:ext uri="{FF2B5EF4-FFF2-40B4-BE49-F238E27FC236}">
                <a16:creationId xmlns:a16="http://schemas.microsoft.com/office/drawing/2014/main" id="{09C794CF-5B0E-A256-147E-289BBF20D969}"/>
              </a:ext>
            </a:extLst>
          </p:cNvPr>
          <p:cNvSpPr>
            <a:spLocks noGrp="1"/>
          </p:cNvSpPr>
          <p:nvPr/>
        </p:nvSpPr>
        <p:spPr>
          <a:xfrm>
            <a:off x="6929972" y="2425315"/>
            <a:ext cx="1656931" cy="1802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</a:rPr>
              <a:t>Compact columnar format for downstream analytics.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C22E98AE-96C8-48B5-9509-5102D4259040}"/>
              </a:ext>
            </a:extLst>
          </p:cNvPr>
          <p:cNvSpPr>
            <a:spLocks noGrp="1"/>
          </p:cNvSpPr>
          <p:nvPr/>
        </p:nvSpPr>
        <p:spPr>
          <a:xfrm>
            <a:off x="523875" y="3200400"/>
            <a:ext cx="8096250" cy="1304925"/>
          </a:xfrm>
          <a:prstGeom prst="roundRect">
            <a:avLst>
              <a:gd name="adj" fmla="val 8759"/>
            </a:avLst>
          </a:prstGeom>
          <a:solidFill>
            <a:srgbClr val="1E2A3B"/>
          </a:solidFill>
          <a:ln w="9525">
            <a:solidFill>
              <a:srgbClr val="243348"/>
            </a:solidFill>
          </a:ln>
        </p:spPr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3E42E4C-C00E-4E7D-968C-E4B0BE4F554F}"/>
              </a:ext>
            </a:extLst>
          </p:cNvPr>
          <p:cNvSpPr>
            <a:spLocks noGrp="1"/>
          </p:cNvSpPr>
          <p:nvPr/>
        </p:nvSpPr>
        <p:spPr>
          <a:xfrm>
            <a:off x="523875" y="2886075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OPERATING CONTROLS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54B6188-97B5-4BCC-B4C9-B6182C5DC793}"/>
              </a:ext>
            </a:extLst>
          </p:cNvPr>
          <p:cNvSpPr>
            <a:spLocks noGrp="1"/>
          </p:cNvSpPr>
          <p:nvPr/>
        </p:nvSpPr>
        <p:spPr>
          <a:xfrm>
            <a:off x="742950" y="34004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10B981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BEFORE RUN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1707F7F-0D29-47E3-8F53-ADB06751AED7}"/>
              </a:ext>
            </a:extLst>
          </p:cNvPr>
          <p:cNvSpPr>
            <a:spLocks noGrp="1"/>
          </p:cNvSpPr>
          <p:nvPr/>
        </p:nvSpPr>
        <p:spPr>
          <a:xfrm>
            <a:off x="742950" y="3762375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1125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RAM estimate and recommended mode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7347773-CA37-4040-9793-096DCD31D432}"/>
              </a:ext>
            </a:extLst>
          </p:cNvPr>
          <p:cNvSpPr>
            <a:spLocks noGrp="1"/>
          </p:cNvSpPr>
          <p:nvPr/>
        </p:nvSpPr>
        <p:spPr>
          <a:xfrm>
            <a:off x="3390900" y="34004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3B82F6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3B82F6"/>
                </a:solidFill>
                <a:latin typeface="Montserrat"/>
                <a:ea typeface="Montserrat"/>
                <a:cs typeface="Montserrat"/>
              </a:rPr>
              <a:t>DURING RUN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F72E604-C974-43C8-BBD0-06A54AEC255D}"/>
              </a:ext>
            </a:extLst>
          </p:cNvPr>
          <p:cNvSpPr>
            <a:spLocks noGrp="1"/>
          </p:cNvSpPr>
          <p:nvPr/>
        </p:nvSpPr>
        <p:spPr>
          <a:xfrm>
            <a:off x="3390900" y="3762375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1125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Progress, elapsed time, ETA and cancel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D895DC4-F0F1-41D2-B91E-5DAD3D8467F2}"/>
              </a:ext>
            </a:extLst>
          </p:cNvPr>
          <p:cNvSpPr>
            <a:spLocks noGrp="1"/>
          </p:cNvSpPr>
          <p:nvPr/>
        </p:nvSpPr>
        <p:spPr>
          <a:xfrm>
            <a:off x="6038850" y="34004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8B5CF6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8B5CF6"/>
                </a:solidFill>
                <a:latin typeface="Montserrat"/>
                <a:ea typeface="Montserrat"/>
                <a:cs typeface="Montserrat"/>
              </a:rPr>
              <a:t>AT EXPORT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5D23461-361D-488B-A612-58AB9144EE8D}"/>
              </a:ext>
            </a:extLst>
          </p:cNvPr>
          <p:cNvSpPr>
            <a:spLocks noGrp="1"/>
          </p:cNvSpPr>
          <p:nvPr/>
        </p:nvSpPr>
        <p:spPr>
          <a:xfrm>
            <a:off x="6038850" y="3762375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1125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Format limits, chunked writes and atomic save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358E966-C2FD-4E67-B823-2349F39AFF56}"/>
              </a:ext>
            </a:extLst>
          </p:cNvPr>
          <p:cNvSpPr>
            <a:spLocks noGrp="1"/>
          </p:cNvSpPr>
          <p:nvPr/>
        </p:nvSpPr>
        <p:spPr>
          <a:xfrm>
            <a:off x="552450" y="4562475"/>
            <a:ext cx="804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>
                <a:solidFill>
                  <a:srgbClr val="94A3B8"/>
                </a:solidFill>
                <a:latin typeface="Trebuchet MS"/>
                <a:ea typeface="Trebuchet MS"/>
                <a:cs typeface="Trebuchet MS"/>
              </a:defRPr>
            </a:pPr>
            <a:r>
              <a:rPr sz="825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Benchmark on target hardware before using external speed or reliability claims.</a:t>
            </a:r>
          </a:p>
        </p:txBody>
      </p:sp>
      <p:pic>
        <p:nvPicPr>
          <p:cNvPr id="190" name="Picture 189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3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718F819-88F9-4E41-89AB-0FAEC57BEB56}"/>
              </a:ext>
            </a:extLst>
          </p:cNvPr>
          <p:cNvSpPr>
            <a:spLocks noGrp="1"/>
          </p:cNvSpPr>
          <p:nvPr/>
        </p:nvSpPr>
        <p:spPr>
          <a:xfrm>
            <a:off x="457200" y="1709271"/>
            <a:ext cx="2480475" cy="401286"/>
          </a:xfrm>
          <a:prstGeom prst="rect">
            <a:avLst/>
          </a:prstGeom>
          <a:solidFill>
            <a:srgbClr val="162032"/>
          </a:solidFill>
          <a:ln w="10160">
            <a:solidFill>
              <a:srgbClr val="243348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4B16CD-3513-485C-BB04-07C0B5173699}"/>
              </a:ext>
            </a:extLst>
          </p:cNvPr>
          <p:cNvSpPr>
            <a:spLocks noGrp="1"/>
          </p:cNvSpPr>
          <p:nvPr/>
        </p:nvSpPr>
        <p:spPr>
          <a:xfrm>
            <a:off x="457200" y="1709271"/>
            <a:ext cx="2480475" cy="40128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Capability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FE290B-6876-4688-A7D3-017FDE8E9E2E}"/>
              </a:ext>
            </a:extLst>
          </p:cNvPr>
          <p:cNvSpPr>
            <a:spLocks noGrp="1"/>
          </p:cNvSpPr>
          <p:nvPr/>
        </p:nvSpPr>
        <p:spPr>
          <a:xfrm>
            <a:off x="2937676" y="1709271"/>
            <a:ext cx="1230770" cy="401286"/>
          </a:xfrm>
          <a:prstGeom prst="rect">
            <a:avLst/>
          </a:prstGeom>
          <a:solidFill>
            <a:srgbClr val="162032"/>
          </a:solidFill>
          <a:ln w="10160">
            <a:solidFill>
              <a:srgbClr val="24334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5A84DE-F068-4ADC-A913-6B0DE5A97BBD}"/>
              </a:ext>
            </a:extLst>
          </p:cNvPr>
          <p:cNvSpPr>
            <a:spLocks noGrp="1"/>
          </p:cNvSpPr>
          <p:nvPr/>
        </p:nvSpPr>
        <p:spPr>
          <a:xfrm>
            <a:off x="2937676" y="1709271"/>
            <a:ext cx="1230770" cy="40128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Excel</a:t>
            </a:r>
            <a:endParaRPr sz="1000"/>
          </a:p>
          <a:p>
            <a:pPr marL="0" indent="0" algn="ctr">
              <a:lnSpc>
                <a:spcPct val="110000"/>
              </a:lnSpc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Manual</a:t>
            </a:r>
            <a:endParaRPr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BDDB65-C958-43AE-B732-8F50B5C42B82}"/>
              </a:ext>
            </a:extLst>
          </p:cNvPr>
          <p:cNvSpPr>
            <a:spLocks noGrp="1"/>
          </p:cNvSpPr>
          <p:nvPr/>
        </p:nvSpPr>
        <p:spPr>
          <a:xfrm>
            <a:off x="4168447" y="1709271"/>
            <a:ext cx="1230770" cy="401286"/>
          </a:xfrm>
          <a:prstGeom prst="rect">
            <a:avLst/>
          </a:prstGeom>
          <a:solidFill>
            <a:srgbClr val="162032"/>
          </a:solidFill>
          <a:ln w="10160">
            <a:solidFill>
              <a:srgbClr val="24334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073C723-AB34-4182-981A-4143C226C1B5}"/>
              </a:ext>
            </a:extLst>
          </p:cNvPr>
          <p:cNvSpPr>
            <a:spLocks noGrp="1"/>
          </p:cNvSpPr>
          <p:nvPr/>
        </p:nvSpPr>
        <p:spPr>
          <a:xfrm>
            <a:off x="4168447" y="1709271"/>
            <a:ext cx="1230770" cy="40128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Power</a:t>
            </a:r>
            <a:endParaRPr sz="1000"/>
          </a:p>
          <a:p>
            <a:pPr marL="0" indent="0" algn="ctr">
              <a:lnSpc>
                <a:spcPct val="110000"/>
              </a:lnSpc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Query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9D5ABA5-F3E7-439F-BAF7-6E59E8969454}"/>
              </a:ext>
            </a:extLst>
          </p:cNvPr>
          <p:cNvSpPr>
            <a:spLocks noGrp="1"/>
          </p:cNvSpPr>
          <p:nvPr/>
        </p:nvSpPr>
        <p:spPr>
          <a:xfrm>
            <a:off x="5399218" y="1709271"/>
            <a:ext cx="1230770" cy="401286"/>
          </a:xfrm>
          <a:prstGeom prst="rect">
            <a:avLst/>
          </a:prstGeom>
          <a:solidFill>
            <a:srgbClr val="162032"/>
          </a:solidFill>
          <a:ln w="10160">
            <a:solidFill>
              <a:srgbClr val="243348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BD577B8-CE9F-4193-B22E-3D6046E50A47}"/>
              </a:ext>
            </a:extLst>
          </p:cNvPr>
          <p:cNvSpPr>
            <a:spLocks noGrp="1"/>
          </p:cNvSpPr>
          <p:nvPr/>
        </p:nvSpPr>
        <p:spPr>
          <a:xfrm>
            <a:off x="5399218" y="1709271"/>
            <a:ext cx="1230770" cy="40128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VBA /</a:t>
            </a:r>
            <a:endParaRPr sz="1000"/>
          </a:p>
          <a:p>
            <a:pPr marL="0" indent="0" algn="ctr">
              <a:lnSpc>
                <a:spcPct val="110000"/>
              </a:lnSpc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Macros</a:t>
            </a:r>
            <a:endParaRPr sz="10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F8A2062-41CD-4E3F-A827-8C6A7E2FC838}"/>
              </a:ext>
            </a:extLst>
          </p:cNvPr>
          <p:cNvSpPr>
            <a:spLocks noGrp="1"/>
          </p:cNvSpPr>
          <p:nvPr/>
        </p:nvSpPr>
        <p:spPr>
          <a:xfrm>
            <a:off x="6629988" y="1709271"/>
            <a:ext cx="1817753" cy="401286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7C45F8-9A13-4116-8208-86672E6B2929}"/>
              </a:ext>
            </a:extLst>
          </p:cNvPr>
          <p:cNvSpPr>
            <a:spLocks noGrp="1"/>
          </p:cNvSpPr>
          <p:nvPr/>
        </p:nvSpPr>
        <p:spPr>
          <a:xfrm>
            <a:off x="6629988" y="1709271"/>
            <a:ext cx="1817753" cy="40128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1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MergeGuru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D462BC5-59FE-4585-A16B-C8C13840903D}"/>
              </a:ext>
            </a:extLst>
          </p:cNvPr>
          <p:cNvSpPr>
            <a:spLocks noGrp="1"/>
          </p:cNvSpPr>
          <p:nvPr/>
        </p:nvSpPr>
        <p:spPr>
          <a:xfrm>
            <a:off x="457200" y="2125991"/>
            <a:ext cx="2480475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4379D8E-4253-4A80-82F6-A82D83905BF0}"/>
              </a:ext>
            </a:extLst>
          </p:cNvPr>
          <p:cNvSpPr>
            <a:spLocks noGrp="1"/>
          </p:cNvSpPr>
          <p:nvPr/>
        </p:nvSpPr>
        <p:spPr>
          <a:xfrm>
            <a:off x="457200" y="2125991"/>
            <a:ext cx="2480475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Guided schema validation</a:t>
            </a:r>
            <a:endParaRPr sz="1050">
              <a:solidFill>
                <a:schemeClr val="bg1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022D358-448A-4007-8228-700DB07CF166}"/>
              </a:ext>
            </a:extLst>
          </p:cNvPr>
          <p:cNvSpPr>
            <a:spLocks noGrp="1"/>
          </p:cNvSpPr>
          <p:nvPr/>
        </p:nvSpPr>
        <p:spPr>
          <a:xfrm>
            <a:off x="2937676" y="2125991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CDAB0FB-6CDA-4CB2-9985-09754CE8AD6D}"/>
              </a:ext>
            </a:extLst>
          </p:cNvPr>
          <p:cNvSpPr>
            <a:spLocks noGrp="1"/>
          </p:cNvSpPr>
          <p:nvPr/>
        </p:nvSpPr>
        <p:spPr>
          <a:xfrm>
            <a:off x="2937676" y="2125991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9E3B311-B808-4FFC-809A-04ACE772BA5B}"/>
              </a:ext>
            </a:extLst>
          </p:cNvPr>
          <p:cNvSpPr>
            <a:spLocks noGrp="1"/>
          </p:cNvSpPr>
          <p:nvPr/>
        </p:nvSpPr>
        <p:spPr>
          <a:xfrm>
            <a:off x="4168447" y="2125991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6CEB693-5DDE-46FD-80B7-C8E43C91EB0F}"/>
              </a:ext>
            </a:extLst>
          </p:cNvPr>
          <p:cNvSpPr>
            <a:spLocks noGrp="1"/>
          </p:cNvSpPr>
          <p:nvPr/>
        </p:nvSpPr>
        <p:spPr>
          <a:xfrm>
            <a:off x="4168447" y="2125991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F59E0B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97C8D1A-D00A-435A-B9D7-61CEAB13D33C}"/>
              </a:ext>
            </a:extLst>
          </p:cNvPr>
          <p:cNvSpPr>
            <a:spLocks noGrp="1"/>
          </p:cNvSpPr>
          <p:nvPr/>
        </p:nvSpPr>
        <p:spPr>
          <a:xfrm>
            <a:off x="5399218" y="2125991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119E71-A3DE-4D58-84E1-F88440AD4646}"/>
              </a:ext>
            </a:extLst>
          </p:cNvPr>
          <p:cNvSpPr>
            <a:spLocks noGrp="1"/>
          </p:cNvSpPr>
          <p:nvPr/>
        </p:nvSpPr>
        <p:spPr>
          <a:xfrm>
            <a:off x="5399218" y="2125991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F59E0B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D60C2C1-B3A4-4576-BAB2-BD7D67FBFAC0}"/>
              </a:ext>
            </a:extLst>
          </p:cNvPr>
          <p:cNvSpPr>
            <a:spLocks noGrp="1"/>
          </p:cNvSpPr>
          <p:nvPr/>
        </p:nvSpPr>
        <p:spPr>
          <a:xfrm>
            <a:off x="6629988" y="2125991"/>
            <a:ext cx="1817753" cy="308681"/>
          </a:xfrm>
          <a:prstGeom prst="rect">
            <a:avLst/>
          </a:prstGeom>
          <a:solidFill>
            <a:srgbClr val="102040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6B187BD-5233-4938-BFED-0FAE8C4C954F}"/>
              </a:ext>
            </a:extLst>
          </p:cNvPr>
          <p:cNvSpPr>
            <a:spLocks noGrp="1"/>
          </p:cNvSpPr>
          <p:nvPr/>
        </p:nvSpPr>
        <p:spPr>
          <a:xfrm>
            <a:off x="6629988" y="2125991"/>
            <a:ext cx="1817753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F2F7DD6-A427-4120-A2E2-82DCB55977F7}"/>
              </a:ext>
            </a:extLst>
          </p:cNvPr>
          <p:cNvSpPr>
            <a:spLocks noGrp="1"/>
          </p:cNvSpPr>
          <p:nvPr/>
        </p:nvSpPr>
        <p:spPr>
          <a:xfrm>
            <a:off x="457200" y="2450107"/>
            <a:ext cx="2480475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5758C9A-A338-4362-ADC5-FD345C862B7A}"/>
              </a:ext>
            </a:extLst>
          </p:cNvPr>
          <p:cNvSpPr>
            <a:spLocks noGrp="1"/>
          </p:cNvSpPr>
          <p:nvPr/>
        </p:nvSpPr>
        <p:spPr>
          <a:xfrm>
            <a:off x="457200" y="2450107"/>
            <a:ext cx="2480475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Per-file validation report</a:t>
            </a:r>
            <a:endParaRPr sz="1050">
              <a:solidFill>
                <a:schemeClr val="bg1"/>
              </a:solidFill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8936CA1-1F7E-444B-BD27-A7066C5BF78F}"/>
              </a:ext>
            </a:extLst>
          </p:cNvPr>
          <p:cNvSpPr>
            <a:spLocks noGrp="1"/>
          </p:cNvSpPr>
          <p:nvPr/>
        </p:nvSpPr>
        <p:spPr>
          <a:xfrm>
            <a:off x="2937676" y="2450107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682C2FF-7557-4FC8-B78F-5047CE3D06D7}"/>
              </a:ext>
            </a:extLst>
          </p:cNvPr>
          <p:cNvSpPr>
            <a:spLocks noGrp="1"/>
          </p:cNvSpPr>
          <p:nvPr/>
        </p:nvSpPr>
        <p:spPr>
          <a:xfrm>
            <a:off x="2937676" y="2450107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❌</a:t>
            </a:r>
            <a:endParaRPr sz="14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FC6F7F8-CEBB-410F-936C-A89363F38DC1}"/>
              </a:ext>
            </a:extLst>
          </p:cNvPr>
          <p:cNvSpPr>
            <a:spLocks noGrp="1"/>
          </p:cNvSpPr>
          <p:nvPr/>
        </p:nvSpPr>
        <p:spPr>
          <a:xfrm>
            <a:off x="4168447" y="2450107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EF14A9C-E3A8-4E47-AC0C-19A30A12CE92}"/>
              </a:ext>
            </a:extLst>
          </p:cNvPr>
          <p:cNvSpPr>
            <a:spLocks noGrp="1"/>
          </p:cNvSpPr>
          <p:nvPr/>
        </p:nvSpPr>
        <p:spPr>
          <a:xfrm>
            <a:off x="4168447" y="2450107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9DF95DF-8C67-4F4E-98F6-328CD648B093}"/>
              </a:ext>
            </a:extLst>
          </p:cNvPr>
          <p:cNvSpPr>
            <a:spLocks noGrp="1"/>
          </p:cNvSpPr>
          <p:nvPr/>
        </p:nvSpPr>
        <p:spPr>
          <a:xfrm>
            <a:off x="5399218" y="2450107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54E60FB-2217-4E09-9325-82E7C8A2ED85}"/>
              </a:ext>
            </a:extLst>
          </p:cNvPr>
          <p:cNvSpPr>
            <a:spLocks noGrp="1"/>
          </p:cNvSpPr>
          <p:nvPr/>
        </p:nvSpPr>
        <p:spPr>
          <a:xfrm>
            <a:off x="5399218" y="2450107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F59E0B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B277324-A0D7-4409-BDE9-79A558852280}"/>
              </a:ext>
            </a:extLst>
          </p:cNvPr>
          <p:cNvSpPr>
            <a:spLocks noGrp="1"/>
          </p:cNvSpPr>
          <p:nvPr/>
        </p:nvSpPr>
        <p:spPr>
          <a:xfrm>
            <a:off x="6629988" y="2450107"/>
            <a:ext cx="1817753" cy="308681"/>
          </a:xfrm>
          <a:prstGeom prst="rect">
            <a:avLst/>
          </a:prstGeom>
          <a:solidFill>
            <a:srgbClr val="0C1C3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11DE13F-1AED-46AF-94F6-16D56E65440D}"/>
              </a:ext>
            </a:extLst>
          </p:cNvPr>
          <p:cNvSpPr>
            <a:spLocks noGrp="1"/>
          </p:cNvSpPr>
          <p:nvPr/>
        </p:nvSpPr>
        <p:spPr>
          <a:xfrm>
            <a:off x="6629988" y="2450107"/>
            <a:ext cx="1817753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9309798-5CA0-4D6C-AC0F-4C2EB41B86A2}"/>
              </a:ext>
            </a:extLst>
          </p:cNvPr>
          <p:cNvSpPr>
            <a:spLocks noGrp="1"/>
          </p:cNvSpPr>
          <p:nvPr/>
        </p:nvSpPr>
        <p:spPr>
          <a:xfrm>
            <a:off x="457200" y="2774222"/>
            <a:ext cx="2480475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324B51F-9D15-4BB3-9945-F9728BD880EF}"/>
              </a:ext>
            </a:extLst>
          </p:cNvPr>
          <p:cNvSpPr>
            <a:spLocks noGrp="1"/>
          </p:cNvSpPr>
          <p:nvPr/>
        </p:nvSpPr>
        <p:spPr>
          <a:xfrm>
            <a:off x="457200" y="2774222"/>
            <a:ext cx="2480475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ZIP source discovery</a:t>
            </a:r>
            <a:endParaRPr sz="1050">
              <a:solidFill>
                <a:schemeClr val="bg1"/>
              </a:solidFill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7CA149A-FA7E-4E5D-89F4-BF0F3C0834F1}"/>
              </a:ext>
            </a:extLst>
          </p:cNvPr>
          <p:cNvSpPr>
            <a:spLocks noGrp="1"/>
          </p:cNvSpPr>
          <p:nvPr/>
        </p:nvSpPr>
        <p:spPr>
          <a:xfrm>
            <a:off x="2937676" y="2774222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5BDC35A-D670-4CB9-B489-B8579F19EF5F}"/>
              </a:ext>
            </a:extLst>
          </p:cNvPr>
          <p:cNvSpPr>
            <a:spLocks noGrp="1"/>
          </p:cNvSpPr>
          <p:nvPr/>
        </p:nvSpPr>
        <p:spPr>
          <a:xfrm>
            <a:off x="2937676" y="2774222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3CA7593-512A-4624-A6ED-9A2481DC0E05}"/>
              </a:ext>
            </a:extLst>
          </p:cNvPr>
          <p:cNvSpPr>
            <a:spLocks noGrp="1"/>
          </p:cNvSpPr>
          <p:nvPr/>
        </p:nvSpPr>
        <p:spPr>
          <a:xfrm>
            <a:off x="4168447" y="2774222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A31CDA3-D16B-44EC-97E5-28D8AC9361EB}"/>
              </a:ext>
            </a:extLst>
          </p:cNvPr>
          <p:cNvSpPr>
            <a:spLocks noGrp="1"/>
          </p:cNvSpPr>
          <p:nvPr/>
        </p:nvSpPr>
        <p:spPr>
          <a:xfrm>
            <a:off x="4168447" y="2774222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54700B6-115A-49BD-B940-90A028D1B8A4}"/>
              </a:ext>
            </a:extLst>
          </p:cNvPr>
          <p:cNvSpPr>
            <a:spLocks noGrp="1"/>
          </p:cNvSpPr>
          <p:nvPr/>
        </p:nvSpPr>
        <p:spPr>
          <a:xfrm>
            <a:off x="5399218" y="2774222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1494A3D-F8D5-4E95-B928-A2BEA2F7107D}"/>
              </a:ext>
            </a:extLst>
          </p:cNvPr>
          <p:cNvSpPr>
            <a:spLocks noGrp="1"/>
          </p:cNvSpPr>
          <p:nvPr/>
        </p:nvSpPr>
        <p:spPr>
          <a:xfrm>
            <a:off x="5399218" y="2774222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F59E0B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9B481CC-50E4-4E26-98F1-C6FC3E8D03DF}"/>
              </a:ext>
            </a:extLst>
          </p:cNvPr>
          <p:cNvSpPr>
            <a:spLocks noGrp="1"/>
          </p:cNvSpPr>
          <p:nvPr/>
        </p:nvSpPr>
        <p:spPr>
          <a:xfrm>
            <a:off x="6629988" y="2774222"/>
            <a:ext cx="1817753" cy="308681"/>
          </a:xfrm>
          <a:prstGeom prst="rect">
            <a:avLst/>
          </a:prstGeom>
          <a:solidFill>
            <a:srgbClr val="102040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01C5545-36A7-421C-829C-23A7A5B65663}"/>
              </a:ext>
            </a:extLst>
          </p:cNvPr>
          <p:cNvSpPr>
            <a:spLocks noGrp="1"/>
          </p:cNvSpPr>
          <p:nvPr/>
        </p:nvSpPr>
        <p:spPr>
          <a:xfrm>
            <a:off x="6629988" y="2774222"/>
            <a:ext cx="1817753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A309263-D9F7-47ED-9DD3-BAC6D98C9C06}"/>
              </a:ext>
            </a:extLst>
          </p:cNvPr>
          <p:cNvSpPr>
            <a:spLocks noGrp="1"/>
          </p:cNvSpPr>
          <p:nvPr/>
        </p:nvSpPr>
        <p:spPr>
          <a:xfrm>
            <a:off x="457200" y="3098338"/>
            <a:ext cx="2480475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1849AF7-F204-4311-99F8-A8C7B57D772B}"/>
              </a:ext>
            </a:extLst>
          </p:cNvPr>
          <p:cNvSpPr>
            <a:spLocks noGrp="1"/>
          </p:cNvSpPr>
          <p:nvPr/>
        </p:nvSpPr>
        <p:spPr>
          <a:xfrm>
            <a:off x="457200" y="3098338"/>
            <a:ext cx="2480475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No-code guided workflow</a:t>
            </a:r>
            <a:endParaRPr sz="1050">
              <a:solidFill>
                <a:schemeClr val="bg1"/>
              </a:solidFill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4A37EBC-3576-4D6F-B802-4F1BD56996C2}"/>
              </a:ext>
            </a:extLst>
          </p:cNvPr>
          <p:cNvSpPr>
            <a:spLocks noGrp="1"/>
          </p:cNvSpPr>
          <p:nvPr/>
        </p:nvSpPr>
        <p:spPr>
          <a:xfrm>
            <a:off x="2937676" y="3098338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F5B61DF-8876-4FD5-A4F5-C5DA3059629B}"/>
              </a:ext>
            </a:extLst>
          </p:cNvPr>
          <p:cNvSpPr>
            <a:spLocks noGrp="1"/>
          </p:cNvSpPr>
          <p:nvPr/>
        </p:nvSpPr>
        <p:spPr>
          <a:xfrm>
            <a:off x="2937676" y="3098338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F59E0B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8A234BD7-57EF-4C65-A66C-937268370934}"/>
              </a:ext>
            </a:extLst>
          </p:cNvPr>
          <p:cNvSpPr>
            <a:spLocks noGrp="1"/>
          </p:cNvSpPr>
          <p:nvPr/>
        </p:nvSpPr>
        <p:spPr>
          <a:xfrm>
            <a:off x="4168447" y="3098338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D3EE32BF-038C-4E99-BA2B-AB9AEB2C896D}"/>
              </a:ext>
            </a:extLst>
          </p:cNvPr>
          <p:cNvSpPr>
            <a:spLocks noGrp="1"/>
          </p:cNvSpPr>
          <p:nvPr/>
        </p:nvSpPr>
        <p:spPr>
          <a:xfrm>
            <a:off x="4168447" y="3098338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F59E0B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F73A7D87-6C03-4FE9-A8FD-EC293B113EFA}"/>
              </a:ext>
            </a:extLst>
          </p:cNvPr>
          <p:cNvSpPr>
            <a:spLocks noGrp="1"/>
          </p:cNvSpPr>
          <p:nvPr/>
        </p:nvSpPr>
        <p:spPr>
          <a:xfrm>
            <a:off x="5399218" y="3098338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4CAD47E0-417F-4E35-A9CF-E9D0B58B28FF}"/>
              </a:ext>
            </a:extLst>
          </p:cNvPr>
          <p:cNvSpPr>
            <a:spLocks noGrp="1"/>
          </p:cNvSpPr>
          <p:nvPr/>
        </p:nvSpPr>
        <p:spPr>
          <a:xfrm>
            <a:off x="5399218" y="3098338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❌</a:t>
            </a:r>
            <a:endParaRPr sz="140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78023181-4914-45A4-BD16-44C17DCDEDE4}"/>
              </a:ext>
            </a:extLst>
          </p:cNvPr>
          <p:cNvSpPr>
            <a:spLocks noGrp="1"/>
          </p:cNvSpPr>
          <p:nvPr/>
        </p:nvSpPr>
        <p:spPr>
          <a:xfrm>
            <a:off x="6629988" y="3098338"/>
            <a:ext cx="1817753" cy="308681"/>
          </a:xfrm>
          <a:prstGeom prst="rect">
            <a:avLst/>
          </a:prstGeom>
          <a:solidFill>
            <a:srgbClr val="0C1C3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393F7A0-D3B4-459B-BB61-4A6F971642D7}"/>
              </a:ext>
            </a:extLst>
          </p:cNvPr>
          <p:cNvSpPr>
            <a:spLocks noGrp="1"/>
          </p:cNvSpPr>
          <p:nvPr/>
        </p:nvSpPr>
        <p:spPr>
          <a:xfrm>
            <a:off x="6629988" y="3098338"/>
            <a:ext cx="1817753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0A8FA0A9-9A2C-48D6-8591-C256B64ABD8C}"/>
              </a:ext>
            </a:extLst>
          </p:cNvPr>
          <p:cNvSpPr>
            <a:spLocks noGrp="1"/>
          </p:cNvSpPr>
          <p:nvPr/>
        </p:nvSpPr>
        <p:spPr>
          <a:xfrm>
            <a:off x="457200" y="3422454"/>
            <a:ext cx="2480475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67989D64-951E-4746-B5CA-B6BA9CA0A9C0}"/>
              </a:ext>
            </a:extLst>
          </p:cNvPr>
          <p:cNvSpPr>
            <a:spLocks noGrp="1"/>
          </p:cNvSpPr>
          <p:nvPr/>
        </p:nvSpPr>
        <p:spPr>
          <a:xfrm>
            <a:off x="457200" y="3422454"/>
            <a:ext cx="2480475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Header-order alignment</a:t>
            </a:r>
            <a:endParaRPr sz="1050">
              <a:solidFill>
                <a:schemeClr val="bg1"/>
              </a:solidFill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003FECD-EE12-4C9D-BA14-72320F218C53}"/>
              </a:ext>
            </a:extLst>
          </p:cNvPr>
          <p:cNvSpPr>
            <a:spLocks noGrp="1"/>
          </p:cNvSpPr>
          <p:nvPr/>
        </p:nvSpPr>
        <p:spPr>
          <a:xfrm>
            <a:off x="2937676" y="3422454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89010E8C-F538-44F9-8491-0BA7AE7599DD}"/>
              </a:ext>
            </a:extLst>
          </p:cNvPr>
          <p:cNvSpPr>
            <a:spLocks noGrp="1"/>
          </p:cNvSpPr>
          <p:nvPr/>
        </p:nvSpPr>
        <p:spPr>
          <a:xfrm>
            <a:off x="2937676" y="3422454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❌</a:t>
            </a:r>
            <a:endParaRPr sz="140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77A0763-521C-439A-BEDC-5EBD20B01405}"/>
              </a:ext>
            </a:extLst>
          </p:cNvPr>
          <p:cNvSpPr>
            <a:spLocks noGrp="1"/>
          </p:cNvSpPr>
          <p:nvPr/>
        </p:nvSpPr>
        <p:spPr>
          <a:xfrm>
            <a:off x="4168447" y="3422454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D274EEF1-8423-43C7-9DFB-7469F389EE44}"/>
              </a:ext>
            </a:extLst>
          </p:cNvPr>
          <p:cNvSpPr>
            <a:spLocks noGrp="1"/>
          </p:cNvSpPr>
          <p:nvPr/>
        </p:nvSpPr>
        <p:spPr>
          <a:xfrm>
            <a:off x="4168447" y="3422454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F59E0B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949B047-06A6-46F3-B03C-9A399DC1E84B}"/>
              </a:ext>
            </a:extLst>
          </p:cNvPr>
          <p:cNvSpPr>
            <a:spLocks noGrp="1"/>
          </p:cNvSpPr>
          <p:nvPr/>
        </p:nvSpPr>
        <p:spPr>
          <a:xfrm>
            <a:off x="5399218" y="3422454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F48FB13-E50C-4EC6-9834-C7A0523441D9}"/>
              </a:ext>
            </a:extLst>
          </p:cNvPr>
          <p:cNvSpPr>
            <a:spLocks noGrp="1"/>
          </p:cNvSpPr>
          <p:nvPr/>
        </p:nvSpPr>
        <p:spPr>
          <a:xfrm>
            <a:off x="5399218" y="3422454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⚠️</a:t>
            </a:r>
            <a:endParaRPr sz="140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608CC5AB-4357-4B33-B8F2-A65B8FBD3C04}"/>
              </a:ext>
            </a:extLst>
          </p:cNvPr>
          <p:cNvSpPr>
            <a:spLocks noGrp="1"/>
          </p:cNvSpPr>
          <p:nvPr/>
        </p:nvSpPr>
        <p:spPr>
          <a:xfrm>
            <a:off x="6629988" y="3422454"/>
            <a:ext cx="1817753" cy="308681"/>
          </a:xfrm>
          <a:prstGeom prst="rect">
            <a:avLst/>
          </a:prstGeom>
          <a:solidFill>
            <a:srgbClr val="102040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BE10D71-FA58-4312-9081-72DC02B9DB96}"/>
              </a:ext>
            </a:extLst>
          </p:cNvPr>
          <p:cNvSpPr>
            <a:spLocks noGrp="1"/>
          </p:cNvSpPr>
          <p:nvPr/>
        </p:nvSpPr>
        <p:spPr>
          <a:xfrm>
            <a:off x="6629988" y="3422454"/>
            <a:ext cx="1817753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85609302-CE58-4F01-BA48-7803C2BEC645}"/>
              </a:ext>
            </a:extLst>
          </p:cNvPr>
          <p:cNvSpPr>
            <a:spLocks noGrp="1"/>
          </p:cNvSpPr>
          <p:nvPr/>
        </p:nvSpPr>
        <p:spPr>
          <a:xfrm>
            <a:off x="457200" y="3746570"/>
            <a:ext cx="2480475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6486042D-FD75-4B1E-809E-7C26CEE8C19C}"/>
              </a:ext>
            </a:extLst>
          </p:cNvPr>
          <p:cNvSpPr>
            <a:spLocks noGrp="1"/>
          </p:cNvSpPr>
          <p:nvPr/>
        </p:nvSpPr>
        <p:spPr>
          <a:xfrm>
            <a:off x="457200" y="3746570"/>
            <a:ext cx="2480475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Memory pre-flight warning</a:t>
            </a:r>
            <a:endParaRPr sz="1050">
              <a:solidFill>
                <a:schemeClr val="bg1"/>
              </a:solidFill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0596071B-F16E-470D-9B85-D0AC696A7554}"/>
              </a:ext>
            </a:extLst>
          </p:cNvPr>
          <p:cNvSpPr>
            <a:spLocks noGrp="1"/>
          </p:cNvSpPr>
          <p:nvPr/>
        </p:nvSpPr>
        <p:spPr>
          <a:xfrm>
            <a:off x="2937676" y="3746570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5816370A-AC34-49CB-A9D9-58759E52954A}"/>
              </a:ext>
            </a:extLst>
          </p:cNvPr>
          <p:cNvSpPr>
            <a:spLocks noGrp="1"/>
          </p:cNvSpPr>
          <p:nvPr/>
        </p:nvSpPr>
        <p:spPr>
          <a:xfrm>
            <a:off x="2937676" y="3746570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❌</a:t>
            </a:r>
            <a:endParaRPr sz="140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E2F2215D-AC13-4C72-B13B-25B58937EAD4}"/>
              </a:ext>
            </a:extLst>
          </p:cNvPr>
          <p:cNvSpPr>
            <a:spLocks noGrp="1"/>
          </p:cNvSpPr>
          <p:nvPr/>
        </p:nvSpPr>
        <p:spPr>
          <a:xfrm>
            <a:off x="4168447" y="3746570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C71B4F4E-F59E-48D1-8490-E869D1506C3E}"/>
              </a:ext>
            </a:extLst>
          </p:cNvPr>
          <p:cNvSpPr>
            <a:spLocks noGrp="1"/>
          </p:cNvSpPr>
          <p:nvPr/>
        </p:nvSpPr>
        <p:spPr>
          <a:xfrm>
            <a:off x="4168447" y="3746570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❌</a:t>
            </a:r>
            <a:endParaRPr sz="140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8849788F-C1AF-409C-9D11-961F8B8E1076}"/>
              </a:ext>
            </a:extLst>
          </p:cNvPr>
          <p:cNvSpPr>
            <a:spLocks noGrp="1"/>
          </p:cNvSpPr>
          <p:nvPr/>
        </p:nvSpPr>
        <p:spPr>
          <a:xfrm>
            <a:off x="5399218" y="3746570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C0458022-3EC6-4F4A-AFA7-897D4ACFF8D8}"/>
              </a:ext>
            </a:extLst>
          </p:cNvPr>
          <p:cNvSpPr>
            <a:spLocks noGrp="1"/>
          </p:cNvSpPr>
          <p:nvPr/>
        </p:nvSpPr>
        <p:spPr>
          <a:xfrm>
            <a:off x="5399218" y="3746570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❌</a:t>
            </a:r>
            <a:endParaRPr sz="140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1CA54F60-6E1E-4466-93E9-9907AD15977E}"/>
              </a:ext>
            </a:extLst>
          </p:cNvPr>
          <p:cNvSpPr>
            <a:spLocks noGrp="1"/>
          </p:cNvSpPr>
          <p:nvPr/>
        </p:nvSpPr>
        <p:spPr>
          <a:xfrm>
            <a:off x="6629988" y="3746570"/>
            <a:ext cx="1817753" cy="308681"/>
          </a:xfrm>
          <a:prstGeom prst="rect">
            <a:avLst/>
          </a:prstGeom>
          <a:solidFill>
            <a:srgbClr val="0C1C3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D7EDB85A-68AB-457E-ADA0-E899CBCF8A25}"/>
              </a:ext>
            </a:extLst>
          </p:cNvPr>
          <p:cNvSpPr>
            <a:spLocks noGrp="1"/>
          </p:cNvSpPr>
          <p:nvPr/>
        </p:nvSpPr>
        <p:spPr>
          <a:xfrm>
            <a:off x="6629988" y="3746570"/>
            <a:ext cx="1817753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2D86D015-9180-4278-B2FC-FD3EDCC23359}"/>
              </a:ext>
            </a:extLst>
          </p:cNvPr>
          <p:cNvSpPr>
            <a:spLocks noGrp="1"/>
          </p:cNvSpPr>
          <p:nvPr/>
        </p:nvSpPr>
        <p:spPr>
          <a:xfrm>
            <a:off x="457200" y="4070685"/>
            <a:ext cx="2480475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265F62E9-4DF3-4204-9F5B-4ED965025A2E}"/>
              </a:ext>
            </a:extLst>
          </p:cNvPr>
          <p:cNvSpPr>
            <a:spLocks noGrp="1"/>
          </p:cNvSpPr>
          <p:nvPr/>
        </p:nvSpPr>
        <p:spPr>
          <a:xfrm>
            <a:off x="457200" y="4070685"/>
            <a:ext cx="2480475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Local processing available</a:t>
            </a:r>
            <a:endParaRPr sz="1050">
              <a:solidFill>
                <a:schemeClr val="bg1"/>
              </a:solidFill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BA5E04D3-5823-4BF2-AC32-57B5A071971F}"/>
              </a:ext>
            </a:extLst>
          </p:cNvPr>
          <p:cNvSpPr>
            <a:spLocks noGrp="1"/>
          </p:cNvSpPr>
          <p:nvPr/>
        </p:nvSpPr>
        <p:spPr>
          <a:xfrm>
            <a:off x="2937676" y="4070685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A09F7890-53ED-4507-B68F-5258DB347E94}"/>
              </a:ext>
            </a:extLst>
          </p:cNvPr>
          <p:cNvSpPr>
            <a:spLocks noGrp="1"/>
          </p:cNvSpPr>
          <p:nvPr/>
        </p:nvSpPr>
        <p:spPr>
          <a:xfrm>
            <a:off x="2937676" y="4070685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1AF742E8-CE95-4B0E-AAA1-D68C0E4BBDFD}"/>
              </a:ext>
            </a:extLst>
          </p:cNvPr>
          <p:cNvSpPr>
            <a:spLocks noGrp="1"/>
          </p:cNvSpPr>
          <p:nvPr/>
        </p:nvSpPr>
        <p:spPr>
          <a:xfrm>
            <a:off x="4168447" y="4070685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BDF80C7D-4E9F-475C-9156-27A92212077D}"/>
              </a:ext>
            </a:extLst>
          </p:cNvPr>
          <p:cNvSpPr>
            <a:spLocks noGrp="1"/>
          </p:cNvSpPr>
          <p:nvPr/>
        </p:nvSpPr>
        <p:spPr>
          <a:xfrm>
            <a:off x="4168447" y="4070685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8D5A8819-F293-483A-A182-9DC35DD1F3CE}"/>
              </a:ext>
            </a:extLst>
          </p:cNvPr>
          <p:cNvSpPr>
            <a:spLocks noGrp="1"/>
          </p:cNvSpPr>
          <p:nvPr/>
        </p:nvSpPr>
        <p:spPr>
          <a:xfrm>
            <a:off x="5399218" y="4070685"/>
            <a:ext cx="1230770" cy="308681"/>
          </a:xfrm>
          <a:prstGeom prst="rect">
            <a:avLst/>
          </a:prstGeom>
          <a:solidFill>
            <a:srgbClr val="1E2A3B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3EAB6B20-3065-4C08-B5F7-3ED5388A721A}"/>
              </a:ext>
            </a:extLst>
          </p:cNvPr>
          <p:cNvSpPr>
            <a:spLocks noGrp="1"/>
          </p:cNvSpPr>
          <p:nvPr/>
        </p:nvSpPr>
        <p:spPr>
          <a:xfrm>
            <a:off x="5399218" y="4070685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8FDB26F2-F5FA-43B6-BCE5-F8DBA497981F}"/>
              </a:ext>
            </a:extLst>
          </p:cNvPr>
          <p:cNvSpPr>
            <a:spLocks noGrp="1"/>
          </p:cNvSpPr>
          <p:nvPr/>
        </p:nvSpPr>
        <p:spPr>
          <a:xfrm>
            <a:off x="6629988" y="4070685"/>
            <a:ext cx="1817753" cy="308681"/>
          </a:xfrm>
          <a:prstGeom prst="rect">
            <a:avLst/>
          </a:prstGeom>
          <a:solidFill>
            <a:srgbClr val="102040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48B4D310-41FF-4704-873B-E4FE4A62FDE9}"/>
              </a:ext>
            </a:extLst>
          </p:cNvPr>
          <p:cNvSpPr>
            <a:spLocks noGrp="1"/>
          </p:cNvSpPr>
          <p:nvPr/>
        </p:nvSpPr>
        <p:spPr>
          <a:xfrm>
            <a:off x="6629988" y="4070685"/>
            <a:ext cx="1817753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BFB70D5A-DC23-468C-9092-ABEF466E081E}"/>
              </a:ext>
            </a:extLst>
          </p:cNvPr>
          <p:cNvSpPr>
            <a:spLocks noGrp="1"/>
          </p:cNvSpPr>
          <p:nvPr/>
        </p:nvSpPr>
        <p:spPr>
          <a:xfrm>
            <a:off x="457200" y="4394801"/>
            <a:ext cx="2480475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1FFDF917-6C12-4792-9729-1875E39CFD18}"/>
              </a:ext>
            </a:extLst>
          </p:cNvPr>
          <p:cNvSpPr>
            <a:spLocks noGrp="1"/>
          </p:cNvSpPr>
          <p:nvPr/>
        </p:nvSpPr>
        <p:spPr>
          <a:xfrm>
            <a:off x="457200" y="4394801"/>
            <a:ext cx="2480475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Macro-free operation</a:t>
            </a:r>
            <a:endParaRPr sz="1050">
              <a:solidFill>
                <a:schemeClr val="bg1"/>
              </a:solidFill>
            </a:endParaRPr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F44D84A5-2EA4-4AF4-B79F-4398FA02BEEF}"/>
              </a:ext>
            </a:extLst>
          </p:cNvPr>
          <p:cNvSpPr>
            <a:spLocks noGrp="1"/>
          </p:cNvSpPr>
          <p:nvPr/>
        </p:nvSpPr>
        <p:spPr>
          <a:xfrm>
            <a:off x="2937676" y="4394801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106BC4EE-026E-4E29-94D1-854BE5B93544}"/>
              </a:ext>
            </a:extLst>
          </p:cNvPr>
          <p:cNvSpPr>
            <a:spLocks noGrp="1"/>
          </p:cNvSpPr>
          <p:nvPr/>
        </p:nvSpPr>
        <p:spPr>
          <a:xfrm>
            <a:off x="2937676" y="4394801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74AEE115-73CC-49A1-8574-8E33205D47DD}"/>
              </a:ext>
            </a:extLst>
          </p:cNvPr>
          <p:cNvSpPr>
            <a:spLocks noGrp="1"/>
          </p:cNvSpPr>
          <p:nvPr/>
        </p:nvSpPr>
        <p:spPr>
          <a:xfrm>
            <a:off x="4168447" y="4394801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BF5FA75C-2CA3-442E-A5AF-D98256533E59}"/>
              </a:ext>
            </a:extLst>
          </p:cNvPr>
          <p:cNvSpPr>
            <a:spLocks noGrp="1"/>
          </p:cNvSpPr>
          <p:nvPr/>
        </p:nvSpPr>
        <p:spPr>
          <a:xfrm>
            <a:off x="4168447" y="4394801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5471A81C-3FBC-4822-A67C-03A36741A3C1}"/>
              </a:ext>
            </a:extLst>
          </p:cNvPr>
          <p:cNvSpPr>
            <a:spLocks noGrp="1"/>
          </p:cNvSpPr>
          <p:nvPr/>
        </p:nvSpPr>
        <p:spPr>
          <a:xfrm>
            <a:off x="5399218" y="4394801"/>
            <a:ext cx="1230770" cy="308681"/>
          </a:xfrm>
          <a:prstGeom prst="rect">
            <a:avLst/>
          </a:prstGeom>
          <a:solidFill>
            <a:srgbClr val="162032"/>
          </a:solidFill>
          <a:ln w="3810">
            <a:solidFill>
              <a:srgbClr val="243348"/>
            </a:solidFill>
            <a:prstDash val="solid"/>
          </a:ln>
        </p:spPr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E65B607D-046B-438B-9172-682148D14E2B}"/>
              </a:ext>
            </a:extLst>
          </p:cNvPr>
          <p:cNvSpPr>
            <a:spLocks noGrp="1"/>
          </p:cNvSpPr>
          <p:nvPr/>
        </p:nvSpPr>
        <p:spPr>
          <a:xfrm>
            <a:off x="5399218" y="4394801"/>
            <a:ext cx="1230770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EF4444"/>
                </a:solidFill>
                <a:latin typeface="Segoe UI Symbol"/>
                <a:ea typeface="Segoe UI Symbol"/>
                <a:cs typeface="Segoe UI Symbol"/>
              </a:rPr>
              <a:t>❌</a:t>
            </a:r>
            <a:endParaRPr sz="140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CE26A07D-A15F-4156-B375-624B299855C4}"/>
              </a:ext>
            </a:extLst>
          </p:cNvPr>
          <p:cNvSpPr>
            <a:spLocks noGrp="1"/>
          </p:cNvSpPr>
          <p:nvPr/>
        </p:nvSpPr>
        <p:spPr>
          <a:xfrm>
            <a:off x="6629988" y="4394801"/>
            <a:ext cx="1817753" cy="308681"/>
          </a:xfrm>
          <a:prstGeom prst="rect">
            <a:avLst/>
          </a:prstGeom>
          <a:solidFill>
            <a:srgbClr val="0C1C3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F8B4C7E8-FA9D-4C2F-8228-4833AB393B85}"/>
              </a:ext>
            </a:extLst>
          </p:cNvPr>
          <p:cNvSpPr>
            <a:spLocks noGrp="1"/>
          </p:cNvSpPr>
          <p:nvPr/>
        </p:nvSpPr>
        <p:spPr>
          <a:xfrm>
            <a:off x="6629988" y="4394801"/>
            <a:ext cx="1817753" cy="3086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0B981"/>
                </a:solidFill>
                <a:latin typeface="Segoe UI Symbol"/>
                <a:ea typeface="Segoe UI Symbol"/>
                <a:cs typeface="Segoe UI Symbol"/>
              </a:rPr>
              <a:t>✅</a:t>
            </a:r>
            <a:endParaRPr sz="140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C1BFC9C6-CEA0-4A2E-892F-DCEBCF44DBD4}"/>
              </a:ext>
            </a:extLst>
          </p:cNvPr>
          <p:cNvSpPr>
            <a:spLocks noGrp="1"/>
          </p:cNvSpPr>
          <p:nvPr/>
        </p:nvSpPr>
        <p:spPr>
          <a:xfrm>
            <a:off x="5058480" y="4809869"/>
            <a:ext cx="3535684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i="1">
                <a:solidFill>
                  <a:srgbClr val="475569"/>
                </a:solidFill>
                <a:latin typeface="Trebuchet MS"/>
                <a:ea typeface="Trebuchet MS"/>
                <a:cs typeface="Trebuchet MS"/>
              </a:rPr>
              <a:t>✅ Built in  ·  ⚠️ Setup or custom logic  ·  ❌ Not native to the workflow</a:t>
            </a:r>
            <a:endParaRPr sz="900"/>
          </a:p>
        </p:txBody>
      </p:sp>
      <p:sp>
        <p:nvSpPr>
          <p:cNvPr id="96" name="Text 0">
            <a:extLst>
              <a:ext uri="{FF2B5EF4-FFF2-40B4-BE49-F238E27FC236}">
                <a16:creationId xmlns:a16="http://schemas.microsoft.com/office/drawing/2014/main" id="{F824FE52-9721-4112-E617-CB5914CB9ADE}"/>
              </a:ext>
            </a:extLst>
          </p:cNvPr>
          <p:cNvSpPr>
            <a:spLocks noGrp="1"/>
          </p:cNvSpPr>
          <p:nvPr/>
        </p:nvSpPr>
        <p:spPr>
          <a:xfrm>
            <a:off x="457200" y="822449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MergeGuru vs The Alternatives</a:t>
            </a:r>
          </a:p>
        </p:txBody>
      </p:sp>
      <p:sp>
        <p:nvSpPr>
          <p:cNvPr id="97" name="Text 1">
            <a:extLst>
              <a:ext uri="{FF2B5EF4-FFF2-40B4-BE49-F238E27FC236}">
                <a16:creationId xmlns:a16="http://schemas.microsoft.com/office/drawing/2014/main" id="{998A7997-CEBF-4064-1843-88E7F63483F8}"/>
              </a:ext>
            </a:extLst>
          </p:cNvPr>
          <p:cNvSpPr>
            <a:spLocks noGrp="1"/>
          </p:cNvSpPr>
          <p:nvPr/>
        </p:nvSpPr>
        <p:spPr>
          <a:xfrm>
            <a:off x="457200" y="12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MergeGuru packages controls that other tools usually require users to build and maintain.</a:t>
            </a:r>
          </a:p>
        </p:txBody>
      </p:sp>
      <p:sp>
        <p:nvSpPr>
          <p:cNvPr id="99" name="Shape 21">
            <a:extLst>
              <a:ext uri="{FF2B5EF4-FFF2-40B4-BE49-F238E27FC236}">
                <a16:creationId xmlns:a16="http://schemas.microsoft.com/office/drawing/2014/main" id="{7F7E2E37-069E-42DB-8BEB-F65B0F41DC10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2563EB"/>
            </a:solidFill>
            <a:prstDash val="dash"/>
          </a:ln>
        </p:spPr>
      </p:sp>
      <p:sp>
        <p:nvSpPr>
          <p:cNvPr id="100" name="Text 22">
            <a:extLst>
              <a:ext uri="{FF2B5EF4-FFF2-40B4-BE49-F238E27FC236}">
                <a16:creationId xmlns:a16="http://schemas.microsoft.com/office/drawing/2014/main" id="{8F4BFCF0-0BDE-4B30-8A0D-31D90461F963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150">
                <a:solidFill>
                  <a:srgbClr val="3B82F6"/>
                </a:solidFill>
                <a:latin typeface="Trebuchet MS"/>
                <a:ea typeface="Trebuchet MS"/>
                <a:cs typeface="Trebuchet MS"/>
              </a:rPr>
              <a:t>COMPETITIVE LANDSCAPE</a:t>
            </a:r>
            <a:endParaRPr sz="850"/>
          </a:p>
        </p:txBody>
      </p:sp>
      <p:sp>
        <p:nvSpPr>
          <p:cNvPr id="101" name="Text 23">
            <a:extLst>
              <a:ext uri="{FF2B5EF4-FFF2-40B4-BE49-F238E27FC236}">
                <a16:creationId xmlns:a16="http://schemas.microsoft.com/office/drawing/2014/main" id="{B67A272B-1796-B1DC-8B72-8ED2A7B32929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pic>
        <p:nvPicPr>
          <p:cNvPr id="199" name="Picture 19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69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F04F92B-23F5-4A87-852C-594C7CFD4A43}"/>
              </a:ext>
            </a:extLst>
          </p:cNvPr>
          <p:cNvSpPr>
            <a:spLocks noGrp="1"/>
          </p:cNvSpPr>
          <p:nvPr/>
        </p:nvSpPr>
        <p:spPr>
          <a:xfrm>
            <a:off x="466763" y="1757082"/>
            <a:ext cx="4266004" cy="3008778"/>
          </a:xfrm>
          <a:prstGeom prst="rect">
            <a:avLst/>
          </a:prstGeom>
          <a:solidFill>
            <a:srgbClr val="080F1A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2BEABE-F490-4AFE-8689-665DAED2910C}"/>
              </a:ext>
            </a:extLst>
          </p:cNvPr>
          <p:cNvSpPr>
            <a:spLocks noGrp="1"/>
          </p:cNvSpPr>
          <p:nvPr/>
        </p:nvSpPr>
        <p:spPr>
          <a:xfrm>
            <a:off x="466763" y="1757082"/>
            <a:ext cx="4266004" cy="285833"/>
          </a:xfrm>
          <a:prstGeom prst="rect">
            <a:avLst/>
          </a:prstGeom>
          <a:solidFill>
            <a:srgbClr val="0D1F12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B794EA-ACDE-4179-B572-D0F73873B660}"/>
              </a:ext>
            </a:extLst>
          </p:cNvPr>
          <p:cNvSpPr>
            <a:spLocks noGrp="1"/>
          </p:cNvSpPr>
          <p:nvPr/>
        </p:nvSpPr>
        <p:spPr>
          <a:xfrm>
            <a:off x="1191984" y="1757082"/>
            <a:ext cx="3327483" cy="2858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sales_combined.audit.txt</a:t>
            </a:r>
            <a:endParaRPr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E17F82-1191-45FB-B092-A2D0A9EB0493}"/>
              </a:ext>
            </a:extLst>
          </p:cNvPr>
          <p:cNvSpPr>
            <a:spLocks noGrp="1"/>
          </p:cNvSpPr>
          <p:nvPr/>
        </p:nvSpPr>
        <p:spPr>
          <a:xfrm>
            <a:off x="594743" y="2148223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App Version:</a:t>
            </a:r>
            <a:endParaRPr sz="8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C6A98E-028D-43B4-ADD1-3BF8EB06064B}"/>
              </a:ext>
            </a:extLst>
          </p:cNvPr>
          <p:cNvSpPr>
            <a:spLocks noGrp="1"/>
          </p:cNvSpPr>
          <p:nvPr/>
        </p:nvSpPr>
        <p:spPr>
          <a:xfrm>
            <a:off x="1934268" y="2148223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MergeGuru v3.0</a:t>
            </a:r>
            <a:endParaRPr sz="8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6335C3-33D3-46A8-8617-D09A066AA20C}"/>
              </a:ext>
            </a:extLst>
          </p:cNvPr>
          <p:cNvSpPr>
            <a:spLocks noGrp="1"/>
          </p:cNvSpPr>
          <p:nvPr/>
        </p:nvSpPr>
        <p:spPr>
          <a:xfrm>
            <a:off x="594743" y="2358838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Export Date:</a:t>
            </a:r>
            <a:endParaRPr sz="8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D7C70D-5ABF-467A-876B-6855F66AEA5A}"/>
              </a:ext>
            </a:extLst>
          </p:cNvPr>
          <p:cNvSpPr>
            <a:spLocks noGrp="1"/>
          </p:cNvSpPr>
          <p:nvPr/>
        </p:nvSpPr>
        <p:spPr>
          <a:xfrm>
            <a:off x="1934268" y="2358838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2026-06-07  09:14:32</a:t>
            </a:r>
            <a:endParaRPr sz="8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2FA21A-860B-4146-BB99-244EAB56EF97}"/>
              </a:ext>
            </a:extLst>
          </p:cNvPr>
          <p:cNvSpPr>
            <a:spLocks noGrp="1"/>
          </p:cNvSpPr>
          <p:nvPr/>
        </p:nvSpPr>
        <p:spPr>
          <a:xfrm>
            <a:off x="594743" y="2569452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Source Folder:</a:t>
            </a:r>
            <a:endParaRPr sz="8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3F69BD7-6CFB-4ACA-BC89-9B7A83DBAD2F}"/>
              </a:ext>
            </a:extLst>
          </p:cNvPr>
          <p:cNvSpPr>
            <a:spLocks noGrp="1"/>
          </p:cNvSpPr>
          <p:nvPr/>
        </p:nvSpPr>
        <p:spPr>
          <a:xfrm>
            <a:off x="1934268" y="2569452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/data/sales/Q1/</a:t>
            </a:r>
            <a:endParaRPr sz="8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81D0376-14FD-443C-832A-0BA53653B3B1}"/>
              </a:ext>
            </a:extLst>
          </p:cNvPr>
          <p:cNvSpPr>
            <a:spLocks noGrp="1"/>
          </p:cNvSpPr>
          <p:nvPr/>
        </p:nvSpPr>
        <p:spPr>
          <a:xfrm>
            <a:off x="594743" y="2780066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Reference File:</a:t>
            </a:r>
            <a:endParaRPr sz="8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CDA3BDC-9DA1-4444-B421-4D9F17C42BD2}"/>
              </a:ext>
            </a:extLst>
          </p:cNvPr>
          <p:cNvSpPr>
            <a:spLocks noGrp="1"/>
          </p:cNvSpPr>
          <p:nvPr/>
        </p:nvSpPr>
        <p:spPr>
          <a:xfrm>
            <a:off x="1934268" y="2780066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template_jan.xlsx</a:t>
            </a:r>
            <a:endParaRPr sz="8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8CCDF8-DAF2-40D1-B63B-5A440CF8F38A}"/>
              </a:ext>
            </a:extLst>
          </p:cNvPr>
          <p:cNvSpPr>
            <a:spLocks noGrp="1"/>
          </p:cNvSpPr>
          <p:nvPr/>
        </p:nvSpPr>
        <p:spPr>
          <a:xfrm>
            <a:off x="594743" y="2990681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Files Included:</a:t>
            </a:r>
            <a:endParaRPr sz="8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87B6080-D9FE-4139-8D06-D36892E5BD2F}"/>
              </a:ext>
            </a:extLst>
          </p:cNvPr>
          <p:cNvSpPr>
            <a:spLocks noGrp="1"/>
          </p:cNvSpPr>
          <p:nvPr/>
        </p:nvSpPr>
        <p:spPr>
          <a:xfrm>
            <a:off x="1934268" y="2990681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8  (PASS: 7 · WARN: 1 · FAIL: 0)</a:t>
            </a:r>
            <a:endParaRPr sz="8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D473A9C-C0A3-49E7-8D7F-902037E09BFA}"/>
              </a:ext>
            </a:extLst>
          </p:cNvPr>
          <p:cNvSpPr>
            <a:spLocks noGrp="1"/>
          </p:cNvSpPr>
          <p:nvPr/>
        </p:nvSpPr>
        <p:spPr>
          <a:xfrm>
            <a:off x="594743" y="3201295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Header Row:</a:t>
            </a:r>
            <a:endParaRPr sz="8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988D9EC-5FE4-46D6-9898-8BB2F8DDF744}"/>
              </a:ext>
            </a:extLst>
          </p:cNvPr>
          <p:cNvSpPr>
            <a:spLocks noGrp="1"/>
          </p:cNvSpPr>
          <p:nvPr/>
        </p:nvSpPr>
        <p:spPr>
          <a:xfrm>
            <a:off x="1934268" y="3201295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Row 2  (title row skipped)</a:t>
            </a:r>
            <a:endParaRPr sz="8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0C5BE75-B0C3-4093-AA4C-278E15B955F6}"/>
              </a:ext>
            </a:extLst>
          </p:cNvPr>
          <p:cNvSpPr>
            <a:spLocks noGrp="1"/>
          </p:cNvSpPr>
          <p:nvPr/>
        </p:nvSpPr>
        <p:spPr>
          <a:xfrm>
            <a:off x="594743" y="3411910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Footer Stripped:</a:t>
            </a:r>
            <a:endParaRPr sz="8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0F969FE-4449-471A-9478-16D48C5521D6}"/>
              </a:ext>
            </a:extLst>
          </p:cNvPr>
          <p:cNvSpPr>
            <a:spLocks noGrp="1"/>
          </p:cNvSpPr>
          <p:nvPr/>
        </p:nvSpPr>
        <p:spPr>
          <a:xfrm>
            <a:off x="1934268" y="3411910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2 rows</a:t>
            </a:r>
            <a:endParaRPr sz="8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27AAC84-C085-476A-96E0-7435FC7F93D2}"/>
              </a:ext>
            </a:extLst>
          </p:cNvPr>
          <p:cNvSpPr>
            <a:spLocks noGrp="1"/>
          </p:cNvSpPr>
          <p:nvPr/>
        </p:nvSpPr>
        <p:spPr>
          <a:xfrm>
            <a:off x="594743" y="3622524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Filters Active:</a:t>
            </a:r>
            <a:endParaRPr sz="8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1EE374F-08C1-4D11-9E57-EBF0E85C01C2}"/>
              </a:ext>
            </a:extLst>
          </p:cNvPr>
          <p:cNvSpPr>
            <a:spLocks noGrp="1"/>
          </p:cNvSpPr>
          <p:nvPr/>
        </p:nvSpPr>
        <p:spPr>
          <a:xfrm>
            <a:off x="1934268" y="3622524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Region = [North, East]  ·  Date ≥ 2026-01-01</a:t>
            </a:r>
            <a:endParaRPr sz="8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7DDBDD6-B967-4706-8B88-8C0848E38614}"/>
              </a:ext>
            </a:extLst>
          </p:cNvPr>
          <p:cNvSpPr>
            <a:spLocks noGrp="1"/>
          </p:cNvSpPr>
          <p:nvPr/>
        </p:nvSpPr>
        <p:spPr>
          <a:xfrm>
            <a:off x="594743" y="3833139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Rows Exported:</a:t>
            </a:r>
            <a:endParaRPr sz="8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03F42C6-2CC6-4E2B-8534-258EBE2BA2F7}"/>
              </a:ext>
            </a:extLst>
          </p:cNvPr>
          <p:cNvSpPr>
            <a:spLocks noGrp="1"/>
          </p:cNvSpPr>
          <p:nvPr/>
        </p:nvSpPr>
        <p:spPr>
          <a:xfrm>
            <a:off x="1934268" y="3833139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124,882</a:t>
            </a:r>
            <a:endParaRPr sz="8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77B527E-13D9-4E92-B8CB-DBA13A45014C}"/>
              </a:ext>
            </a:extLst>
          </p:cNvPr>
          <p:cNvSpPr>
            <a:spLocks noGrp="1"/>
          </p:cNvSpPr>
          <p:nvPr/>
        </p:nvSpPr>
        <p:spPr>
          <a:xfrm>
            <a:off x="594743" y="4043753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Output Format:</a:t>
            </a:r>
            <a:endParaRPr sz="8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FAED47D-704B-4DD2-B7B1-241E18C972CA}"/>
              </a:ext>
            </a:extLst>
          </p:cNvPr>
          <p:cNvSpPr>
            <a:spLocks noGrp="1"/>
          </p:cNvSpPr>
          <p:nvPr/>
        </p:nvSpPr>
        <p:spPr>
          <a:xfrm>
            <a:off x="1934268" y="4043753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CSV (chunked  ·  22 chunks)</a:t>
            </a:r>
            <a:endParaRPr sz="8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32D581C-8114-41AD-A3F8-29E357862AC1}"/>
              </a:ext>
            </a:extLst>
          </p:cNvPr>
          <p:cNvSpPr>
            <a:spLocks noGrp="1"/>
          </p:cNvSpPr>
          <p:nvPr/>
        </p:nvSpPr>
        <p:spPr>
          <a:xfrm>
            <a:off x="594743" y="4254368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File Size:</a:t>
            </a:r>
            <a:endParaRPr sz="8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8F0438F-A1FE-4C57-ABC5-0EC15F1EB9B1}"/>
              </a:ext>
            </a:extLst>
          </p:cNvPr>
          <p:cNvSpPr>
            <a:spLocks noGrp="1"/>
          </p:cNvSpPr>
          <p:nvPr/>
        </p:nvSpPr>
        <p:spPr>
          <a:xfrm>
            <a:off x="1934268" y="4254368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18.4 MB</a:t>
            </a:r>
            <a:endParaRPr sz="8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5C7FFBE-51AA-424E-860C-679DE16F4574}"/>
              </a:ext>
            </a:extLst>
          </p:cNvPr>
          <p:cNvSpPr>
            <a:spLocks noGrp="1"/>
          </p:cNvSpPr>
          <p:nvPr/>
        </p:nvSpPr>
        <p:spPr>
          <a:xfrm>
            <a:off x="594743" y="4464982"/>
            <a:ext cx="1279801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Output Path:</a:t>
            </a:r>
            <a:endParaRPr sz="8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3E6EE56-1BEF-4E4A-A3D2-0F6C4FEAD417}"/>
              </a:ext>
            </a:extLst>
          </p:cNvPr>
          <p:cNvSpPr>
            <a:spLocks noGrp="1"/>
          </p:cNvSpPr>
          <p:nvPr/>
        </p:nvSpPr>
        <p:spPr>
          <a:xfrm>
            <a:off x="1934268" y="4464982"/>
            <a:ext cx="2644922" cy="188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F1F5F9"/>
                </a:solidFill>
                <a:latin typeface="Consolas"/>
                <a:ea typeface="Consolas"/>
                <a:cs typeface="Consolas"/>
              </a:rPr>
              <a:t>/exports/sales_Q1_combined.csv</a:t>
            </a:r>
            <a:endParaRPr sz="8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8E1BD90-3948-4684-8BD6-0150505C7A28}"/>
              </a:ext>
            </a:extLst>
          </p:cNvPr>
          <p:cNvSpPr>
            <a:spLocks noGrp="1"/>
          </p:cNvSpPr>
          <p:nvPr/>
        </p:nvSpPr>
        <p:spPr>
          <a:xfrm>
            <a:off x="5185423" y="1589705"/>
            <a:ext cx="2808108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Every export. </a:t>
            </a:r>
            <a:r>
              <a:rPr sz="1600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Every time.</a:t>
            </a:r>
            <a:endParaRPr sz="1600">
              <a:solidFill>
                <a:srgbClr val="10B98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92E2BC0-E8EC-4E62-8E6A-C7D8E42BE141}"/>
              </a:ext>
            </a:extLst>
          </p:cNvPr>
          <p:cNvSpPr>
            <a:spLocks noGrp="1"/>
          </p:cNvSpPr>
          <p:nvPr/>
        </p:nvSpPr>
        <p:spPr>
          <a:xfrm>
            <a:off x="5181004" y="2001729"/>
            <a:ext cx="2812527" cy="342265"/>
          </a:xfrm>
          <a:prstGeom prst="rect">
            <a:avLst/>
          </a:prstGeom>
          <a:solidFill>
            <a:srgbClr val="1E2A3B"/>
          </a:solidFill>
          <a:ln w="10160">
            <a:solidFill>
              <a:srgbClr val="243348"/>
            </a:solidFill>
            <a:prstDash val="solid"/>
          </a:ln>
        </p:spPr>
      </p:sp>
      <p:pic>
        <p:nvPicPr>
          <p:cNvPr id="10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34" y="2046372"/>
            <a:ext cx="238097" cy="238097"/>
          </a:xfrm>
          <a:prstGeom prst="rect">
            <a:avLst/>
          </a:prstGeom>
        </p:spPr>
      </p:pic>
      <p:sp>
        <p:nvSpPr>
          <p:cNvPr id="35" name="Text 32">
            <a:extLst>
              <a:ext uri="{FF2B5EF4-FFF2-40B4-BE49-F238E27FC236}">
                <a16:creationId xmlns:a16="http://schemas.microsoft.com/office/drawing/2014/main" id="{C71EF455-C706-4751-9ECB-566B545985E6}"/>
              </a:ext>
            </a:extLst>
          </p:cNvPr>
          <p:cNvSpPr>
            <a:spLocks noGrp="1"/>
          </p:cNvSpPr>
          <p:nvPr/>
        </p:nvSpPr>
        <p:spPr>
          <a:xfrm>
            <a:off x="5627437" y="2001729"/>
            <a:ext cx="2306569" cy="342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Export timestamp &amp; version</a:t>
            </a:r>
            <a:endParaRPr sz="110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C6750C21-5199-4F40-BC21-86B51316ECE0}"/>
              </a:ext>
            </a:extLst>
          </p:cNvPr>
          <p:cNvSpPr>
            <a:spLocks noGrp="1"/>
          </p:cNvSpPr>
          <p:nvPr/>
        </p:nvSpPr>
        <p:spPr>
          <a:xfrm>
            <a:off x="5181004" y="2410959"/>
            <a:ext cx="2812527" cy="342265"/>
          </a:xfrm>
          <a:prstGeom prst="rect">
            <a:avLst/>
          </a:prstGeom>
          <a:solidFill>
            <a:srgbClr val="1E2A3B"/>
          </a:solidFill>
          <a:ln w="10160">
            <a:solidFill>
              <a:srgbClr val="243348"/>
            </a:solidFill>
            <a:prstDash val="solid"/>
          </a:ln>
        </p:spPr>
      </p:sp>
      <p:pic>
        <p:nvPicPr>
          <p:cNvPr id="11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34" y="2455603"/>
            <a:ext cx="238097" cy="238097"/>
          </a:xfrm>
          <a:prstGeom prst="rect">
            <a:avLst/>
          </a:prstGeom>
        </p:spPr>
      </p:pic>
      <p:sp>
        <p:nvSpPr>
          <p:cNvPr id="38" name="Text 34">
            <a:extLst>
              <a:ext uri="{FF2B5EF4-FFF2-40B4-BE49-F238E27FC236}">
                <a16:creationId xmlns:a16="http://schemas.microsoft.com/office/drawing/2014/main" id="{CBF00655-DC66-416C-B35D-BD6CBD6AAA6F}"/>
              </a:ext>
            </a:extLst>
          </p:cNvPr>
          <p:cNvSpPr>
            <a:spLocks noGrp="1"/>
          </p:cNvSpPr>
          <p:nvPr/>
        </p:nvSpPr>
        <p:spPr>
          <a:xfrm>
            <a:off x="5627437" y="2410959"/>
            <a:ext cx="2306569" cy="342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Source folder &amp; files used</a:t>
            </a:r>
            <a:endParaRPr sz="110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DB889FCA-D606-4F81-B0EF-5B82DE78AF16}"/>
              </a:ext>
            </a:extLst>
          </p:cNvPr>
          <p:cNvSpPr>
            <a:spLocks noGrp="1"/>
          </p:cNvSpPr>
          <p:nvPr/>
        </p:nvSpPr>
        <p:spPr>
          <a:xfrm>
            <a:off x="5181004" y="2820189"/>
            <a:ext cx="2812527" cy="342265"/>
          </a:xfrm>
          <a:prstGeom prst="rect">
            <a:avLst/>
          </a:prstGeom>
          <a:solidFill>
            <a:srgbClr val="1E2A3B"/>
          </a:solidFill>
          <a:ln w="10160">
            <a:solidFill>
              <a:srgbClr val="243348"/>
            </a:solidFill>
            <a:prstDash val="solid"/>
          </a:ln>
        </p:spPr>
      </p:sp>
      <p:pic>
        <p:nvPicPr>
          <p:cNvPr id="11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934" y="2864833"/>
            <a:ext cx="238097" cy="238097"/>
          </a:xfrm>
          <a:prstGeom prst="rect">
            <a:avLst/>
          </a:prstGeom>
        </p:spPr>
      </p:pic>
      <p:sp>
        <p:nvSpPr>
          <p:cNvPr id="41" name="Text 36">
            <a:extLst>
              <a:ext uri="{FF2B5EF4-FFF2-40B4-BE49-F238E27FC236}">
                <a16:creationId xmlns:a16="http://schemas.microsoft.com/office/drawing/2014/main" id="{AA858C22-4C72-4189-B608-6C3527C0048C}"/>
              </a:ext>
            </a:extLst>
          </p:cNvPr>
          <p:cNvSpPr>
            <a:spLocks noGrp="1"/>
          </p:cNvSpPr>
          <p:nvPr/>
        </p:nvSpPr>
        <p:spPr>
          <a:xfrm>
            <a:off x="5627437" y="2820189"/>
            <a:ext cx="2306569" cy="342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Validation result per file</a:t>
            </a:r>
            <a:endParaRPr sz="11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834A6B4C-9EC3-41B6-8CA7-93264FCF95AB}"/>
              </a:ext>
            </a:extLst>
          </p:cNvPr>
          <p:cNvSpPr>
            <a:spLocks noGrp="1"/>
          </p:cNvSpPr>
          <p:nvPr/>
        </p:nvSpPr>
        <p:spPr>
          <a:xfrm>
            <a:off x="5181004" y="3229420"/>
            <a:ext cx="2812527" cy="342265"/>
          </a:xfrm>
          <a:prstGeom prst="rect">
            <a:avLst/>
          </a:prstGeom>
          <a:solidFill>
            <a:srgbClr val="1E2A3B"/>
          </a:solidFill>
          <a:ln w="10160">
            <a:solidFill>
              <a:srgbClr val="243348"/>
            </a:solidFill>
            <a:prstDash val="solid"/>
          </a:ln>
        </p:spPr>
      </p:sp>
      <p:pic>
        <p:nvPicPr>
          <p:cNvPr id="11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934" y="3274063"/>
            <a:ext cx="238097" cy="238097"/>
          </a:xfrm>
          <a:prstGeom prst="rect">
            <a:avLst/>
          </a:prstGeom>
        </p:spPr>
      </p:pic>
      <p:sp>
        <p:nvSpPr>
          <p:cNvPr id="44" name="Text 38">
            <a:extLst>
              <a:ext uri="{FF2B5EF4-FFF2-40B4-BE49-F238E27FC236}">
                <a16:creationId xmlns:a16="http://schemas.microsoft.com/office/drawing/2014/main" id="{0ABDB303-44B1-4AF6-9C1A-47C3B7F41526}"/>
              </a:ext>
            </a:extLst>
          </p:cNvPr>
          <p:cNvSpPr>
            <a:spLocks noGrp="1"/>
          </p:cNvSpPr>
          <p:nvPr/>
        </p:nvSpPr>
        <p:spPr>
          <a:xfrm>
            <a:off x="5627437" y="3229420"/>
            <a:ext cx="2306569" cy="342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Every filter applied</a:t>
            </a:r>
            <a:endParaRPr sz="1100"/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69D199E6-9FB6-4007-B7EE-3874CEBD8752}"/>
              </a:ext>
            </a:extLst>
          </p:cNvPr>
          <p:cNvSpPr>
            <a:spLocks noGrp="1"/>
          </p:cNvSpPr>
          <p:nvPr/>
        </p:nvSpPr>
        <p:spPr>
          <a:xfrm>
            <a:off x="5181004" y="3638650"/>
            <a:ext cx="2812527" cy="342265"/>
          </a:xfrm>
          <a:prstGeom prst="rect">
            <a:avLst/>
          </a:prstGeom>
          <a:solidFill>
            <a:srgbClr val="1E2A3B"/>
          </a:solidFill>
          <a:ln w="10160">
            <a:solidFill>
              <a:srgbClr val="243348"/>
            </a:solidFill>
            <a:prstDash val="solid"/>
          </a:ln>
        </p:spPr>
      </p:sp>
      <p:pic>
        <p:nvPicPr>
          <p:cNvPr id="120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34" y="3683293"/>
            <a:ext cx="238097" cy="238097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2DDA5670-7D43-4348-9EFB-2CC45350484D}"/>
              </a:ext>
            </a:extLst>
          </p:cNvPr>
          <p:cNvSpPr>
            <a:spLocks noGrp="1"/>
          </p:cNvSpPr>
          <p:nvPr/>
        </p:nvSpPr>
        <p:spPr>
          <a:xfrm>
            <a:off x="5627437" y="3638650"/>
            <a:ext cx="2306569" cy="342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Row count &amp; output size</a:t>
            </a:r>
            <a:endParaRPr sz="1100"/>
          </a:p>
        </p:txBody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375C21F6-EB33-452D-AABD-938D254C12A4}"/>
              </a:ext>
            </a:extLst>
          </p:cNvPr>
          <p:cNvSpPr>
            <a:spLocks noGrp="1"/>
          </p:cNvSpPr>
          <p:nvPr/>
        </p:nvSpPr>
        <p:spPr>
          <a:xfrm>
            <a:off x="5181004" y="4047880"/>
            <a:ext cx="2812527" cy="342265"/>
          </a:xfrm>
          <a:prstGeom prst="rect">
            <a:avLst/>
          </a:prstGeom>
          <a:solidFill>
            <a:srgbClr val="1E2A3B"/>
          </a:solidFill>
          <a:ln w="10160">
            <a:solidFill>
              <a:srgbClr val="243348"/>
            </a:solidFill>
            <a:prstDash val="solid"/>
          </a:ln>
        </p:spPr>
      </p:sp>
      <p:pic>
        <p:nvPicPr>
          <p:cNvPr id="123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4934" y="4092523"/>
            <a:ext cx="238097" cy="238097"/>
          </a:xfrm>
          <a:prstGeom prst="rect">
            <a:avLst/>
          </a:prstGeom>
        </p:spPr>
      </p:pic>
      <p:sp>
        <p:nvSpPr>
          <p:cNvPr id="50" name="Text 42">
            <a:extLst>
              <a:ext uri="{FF2B5EF4-FFF2-40B4-BE49-F238E27FC236}">
                <a16:creationId xmlns:a16="http://schemas.microsoft.com/office/drawing/2014/main" id="{F1EBD45F-5179-40A3-8CDA-08A85AC4F6B2}"/>
              </a:ext>
            </a:extLst>
          </p:cNvPr>
          <p:cNvSpPr>
            <a:spLocks noGrp="1"/>
          </p:cNvSpPr>
          <p:nvPr/>
        </p:nvSpPr>
        <p:spPr>
          <a:xfrm>
            <a:off x="5627437" y="4047880"/>
            <a:ext cx="2306569" cy="3422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Output path recorded</a:t>
            </a:r>
            <a:endParaRPr sz="1100"/>
          </a:p>
        </p:txBody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350413B3-D7BC-46B9-B5B1-D9003AACDB61}"/>
              </a:ext>
            </a:extLst>
          </p:cNvPr>
          <p:cNvSpPr>
            <a:spLocks noGrp="1"/>
          </p:cNvSpPr>
          <p:nvPr/>
        </p:nvSpPr>
        <p:spPr>
          <a:xfrm>
            <a:off x="5181004" y="4460603"/>
            <a:ext cx="2812527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9225AD10-7C5A-4BB6-8A1F-29D8E9327D5D}"/>
              </a:ext>
            </a:extLst>
          </p:cNvPr>
          <p:cNvSpPr>
            <a:spLocks noGrp="1"/>
          </p:cNvSpPr>
          <p:nvPr/>
        </p:nvSpPr>
        <p:spPr>
          <a:xfrm>
            <a:off x="5181004" y="4460603"/>
            <a:ext cx="2812527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Placed automatically beside every export file</a:t>
            </a:r>
            <a:endParaRPr sz="100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597226C5-4351-EFB3-18CF-8A2663230B1E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sp>
        <p:nvSpPr>
          <p:cNvPr id="62" name="Text 0">
            <a:extLst>
              <a:ext uri="{FF2B5EF4-FFF2-40B4-BE49-F238E27FC236}">
                <a16:creationId xmlns:a16="http://schemas.microsoft.com/office/drawing/2014/main" id="{E3D05AC1-03EC-E764-4EBB-A41BCDFBD316}"/>
              </a:ext>
            </a:extLst>
          </p:cNvPr>
          <p:cNvSpPr>
            <a:spLocks noGrp="1"/>
          </p:cNvSpPr>
          <p:nvPr/>
        </p:nvSpPr>
        <p:spPr>
          <a:xfrm>
            <a:off x="457200" y="822449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36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Export Evidence Built In</a:t>
            </a:r>
          </a:p>
        </p:txBody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3410F19C-C998-D6AD-1915-7B7F6F510FA5}"/>
              </a:ext>
            </a:extLst>
          </p:cNvPr>
          <p:cNvSpPr>
            <a:spLocks noGrp="1"/>
          </p:cNvSpPr>
          <p:nvPr/>
        </p:nvSpPr>
        <p:spPr>
          <a:xfrm>
            <a:off x="457200" y="12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Every successful export creates a human-readable audit report beside the output.</a:t>
            </a:r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1C059C48-C1B8-3C97-296D-453071E92C4A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10B981"/>
            </a:solidFill>
            <a:prstDash val="dash"/>
          </a:ln>
        </p:spPr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38FA0D78-891F-5746-266B-F4A7DF75F5F8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850" b="1" spc="150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FEATURE</a:t>
            </a:r>
            <a:r>
              <a:rPr sz="1000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 · </a:t>
            </a:r>
            <a:r>
              <a:rPr sz="850" b="1" spc="150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AUDIT</a:t>
            </a:r>
            <a:endParaRPr sz="850">
              <a:solidFill>
                <a:srgbClr val="10B98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F0D3A09-3211-810E-B4F6-06C920B6D878}"/>
              </a:ext>
            </a:extLst>
          </p:cNvPr>
          <p:cNvSpPr>
            <a:spLocks noGrp="1"/>
          </p:cNvSpPr>
          <p:nvPr/>
        </p:nvSpPr>
        <p:spPr>
          <a:xfrm>
            <a:off x="586820" y="1857156"/>
            <a:ext cx="83671" cy="83671"/>
          </a:xfrm>
          <a:prstGeom prst="ellipse">
            <a:avLst/>
          </a:prstGeom>
          <a:solidFill>
            <a:srgbClr val="D25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24E1D7A-3BDD-061E-18C9-63E604050A7C}"/>
              </a:ext>
            </a:extLst>
          </p:cNvPr>
          <p:cNvSpPr>
            <a:spLocks noGrp="1"/>
          </p:cNvSpPr>
          <p:nvPr/>
        </p:nvSpPr>
        <p:spPr>
          <a:xfrm>
            <a:off x="719797" y="1856119"/>
            <a:ext cx="83671" cy="83671"/>
          </a:xfrm>
          <a:prstGeom prst="ellipse">
            <a:avLst/>
          </a:prstGeom>
          <a:solidFill>
            <a:srgbClr val="E0A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3ECCF0F-5B11-5C53-7966-E967448CBBE6}"/>
              </a:ext>
            </a:extLst>
          </p:cNvPr>
          <p:cNvSpPr>
            <a:spLocks noGrp="1"/>
          </p:cNvSpPr>
          <p:nvPr/>
        </p:nvSpPr>
        <p:spPr>
          <a:xfrm>
            <a:off x="852774" y="1854168"/>
            <a:ext cx="83671" cy="83671"/>
          </a:xfrm>
          <a:prstGeom prst="ellipse">
            <a:avLst/>
          </a:prstGeom>
          <a:solidFill>
            <a:srgbClr val="64B7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35" name="Picture 13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5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8AF8FDA-5654-4FBC-A676-3229E43065E0}"/>
              </a:ext>
            </a:extLst>
          </p:cNvPr>
          <p:cNvSpPr>
            <a:spLocks noGrp="1"/>
          </p:cNvSpPr>
          <p:nvPr/>
        </p:nvSpPr>
        <p:spPr>
          <a:xfrm>
            <a:off x="484632" y="910332"/>
            <a:ext cx="82296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Local by Design</a:t>
            </a:r>
            <a:endParaRPr sz="3800">
              <a:latin typeface="Montserrat"/>
              <a:ea typeface="Montserrat"/>
              <a:cs typeface="Montserra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05AB5A-5688-42C7-ADFA-D59CA2077D35}"/>
              </a:ext>
            </a:extLst>
          </p:cNvPr>
          <p:cNvSpPr>
            <a:spLocks noGrp="1"/>
          </p:cNvSpPr>
          <p:nvPr/>
        </p:nvSpPr>
        <p:spPr>
          <a:xfrm>
            <a:off x="457200" y="1410443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The application processes selected files without a built-in cloud service.</a:t>
            </a:r>
            <a:endParaRPr sz="1400">
              <a:latin typeface="Montserrat"/>
              <a:ea typeface="Montserrat"/>
              <a:cs typeface="Montserrat"/>
            </a:endParaRPr>
          </a:p>
        </p:txBody>
      </p:sp>
      <p:pic>
        <p:nvPicPr>
          <p:cNvPr id="7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169698"/>
            <a:ext cx="1280160" cy="128016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BB243BA2-151E-4916-9083-5CA93361F5C2}"/>
              </a:ext>
            </a:extLst>
          </p:cNvPr>
          <p:cNvSpPr>
            <a:spLocks noGrp="1"/>
          </p:cNvSpPr>
          <p:nvPr/>
        </p:nvSpPr>
        <p:spPr>
          <a:xfrm>
            <a:off x="365760" y="1874520"/>
            <a:ext cx="3154680" cy="752139"/>
          </a:xfrm>
          <a:prstGeom prst="roundRect">
            <a:avLst>
              <a:gd name="adj" fmla="val 11065"/>
            </a:avLst>
          </a:prstGeom>
          <a:solidFill>
            <a:srgbClr val="1E2A3B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1AB58BD-506E-4212-B48F-E0425C41AD3B}"/>
              </a:ext>
            </a:extLst>
          </p:cNvPr>
          <p:cNvSpPr>
            <a:spLocks noGrp="1"/>
          </p:cNvSpPr>
          <p:nvPr/>
        </p:nvSpPr>
        <p:spPr>
          <a:xfrm>
            <a:off x="512064" y="2031133"/>
            <a:ext cx="438912" cy="438912"/>
          </a:xfrm>
          <a:prstGeom prst="ellipse">
            <a:avLst/>
          </a:prstGeom>
          <a:solidFill>
            <a:srgbClr val="0D2E1A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8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85997"/>
            <a:ext cx="329184" cy="32918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9C7E445B-0DDB-490F-8FEE-F4B845BF77F0}"/>
              </a:ext>
            </a:extLst>
          </p:cNvPr>
          <p:cNvSpPr>
            <a:spLocks noGrp="1"/>
          </p:cNvSpPr>
          <p:nvPr/>
        </p:nvSpPr>
        <p:spPr>
          <a:xfrm>
            <a:off x="1097280" y="199168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✓ No built-in cloud upload</a:t>
            </a:r>
            <a:endParaRPr sz="1400"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E0A3D28-7992-4957-826C-E9C4372BEC17}"/>
              </a:ext>
            </a:extLst>
          </p:cNvPr>
          <p:cNvSpPr>
            <a:spLocks noGrp="1"/>
          </p:cNvSpPr>
          <p:nvPr/>
        </p:nvSpPr>
        <p:spPr>
          <a:xfrm>
            <a:off x="1069848" y="2302615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Files are processed by the desktop application</a:t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F5D83AC4-968F-4102-AD82-336371921E91}"/>
              </a:ext>
            </a:extLst>
          </p:cNvPr>
          <p:cNvSpPr>
            <a:spLocks noGrp="1"/>
          </p:cNvSpPr>
          <p:nvPr/>
        </p:nvSpPr>
        <p:spPr>
          <a:xfrm>
            <a:off x="365760" y="3990768"/>
            <a:ext cx="8412480" cy="685800"/>
          </a:xfrm>
          <a:prstGeom prst="roundRect">
            <a:avLst>
              <a:gd name="adj" fmla="val 12310"/>
            </a:avLst>
          </a:prstGeom>
          <a:solidFill>
            <a:srgbClr val="1E2A3B"/>
          </a:solidFill>
          <a:ln w="12700">
            <a:solidFill>
              <a:srgbClr val="243348"/>
            </a:solidFill>
            <a:prstDash val="solid"/>
          </a:ln>
        </p:spPr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9DCAB537-DE46-468F-A55D-9DB4856069B4}"/>
              </a:ext>
            </a:extLst>
          </p:cNvPr>
          <p:cNvSpPr>
            <a:spLocks noGrp="1"/>
          </p:cNvSpPr>
          <p:nvPr/>
        </p:nvSpPr>
        <p:spPr>
          <a:xfrm>
            <a:off x="537882" y="4173648"/>
            <a:ext cx="142807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CONTROL SUPPORT</a:t>
            </a:r>
            <a:endParaRPr sz="950">
              <a:latin typeface="Montserrat"/>
              <a:ea typeface="Montserrat"/>
              <a:cs typeface="Montserrat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8B54E216-2107-4D4C-8119-456DFAAE9623}"/>
              </a:ext>
            </a:extLst>
          </p:cNvPr>
          <p:cNvSpPr>
            <a:spLocks noGrp="1"/>
          </p:cNvSpPr>
          <p:nvPr/>
        </p:nvSpPr>
        <p:spPr>
          <a:xfrm>
            <a:off x="1983593" y="4159932"/>
            <a:ext cx="987552" cy="347472"/>
          </a:xfrm>
          <a:prstGeom prst="roundRect">
            <a:avLst/>
          </a:prstGeom>
          <a:solidFill>
            <a:srgbClr val="1620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A0449E31-3E1D-4AFF-B797-41A0F86FC410}"/>
              </a:ext>
            </a:extLst>
          </p:cNvPr>
          <p:cNvSpPr>
            <a:spLocks noGrp="1"/>
          </p:cNvSpPr>
          <p:nvPr/>
        </p:nvSpPr>
        <p:spPr>
          <a:xfrm>
            <a:off x="1983593" y="41599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DATA LOCALITY</a:t>
            </a:r>
            <a:endParaRPr sz="95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0A15D9CF-5963-413F-95DC-FD7A0F16207F}"/>
              </a:ext>
            </a:extLst>
          </p:cNvPr>
          <p:cNvSpPr>
            <a:spLocks noGrp="1"/>
          </p:cNvSpPr>
          <p:nvPr/>
        </p:nvSpPr>
        <p:spPr>
          <a:xfrm>
            <a:off x="3099161" y="4159932"/>
            <a:ext cx="987552" cy="347472"/>
          </a:xfrm>
          <a:prstGeom prst="roundRect">
            <a:avLst/>
          </a:prstGeom>
          <a:solidFill>
            <a:srgbClr val="1620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56A79D56-61ED-4A76-84D1-CE81D26E233F}"/>
              </a:ext>
            </a:extLst>
          </p:cNvPr>
          <p:cNvSpPr>
            <a:spLocks noGrp="1"/>
          </p:cNvSpPr>
          <p:nvPr/>
        </p:nvSpPr>
        <p:spPr>
          <a:xfrm>
            <a:off x="3099161" y="41599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NO VBA</a:t>
            </a:r>
            <a:endParaRPr sz="95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B5040A69-63CD-4BC4-8627-1569B38D3F68}"/>
              </a:ext>
            </a:extLst>
          </p:cNvPr>
          <p:cNvSpPr>
            <a:spLocks noGrp="1"/>
          </p:cNvSpPr>
          <p:nvPr/>
        </p:nvSpPr>
        <p:spPr>
          <a:xfrm>
            <a:off x="4214729" y="4159932"/>
            <a:ext cx="987552" cy="347472"/>
          </a:xfrm>
          <a:prstGeom prst="roundRect">
            <a:avLst/>
          </a:prstGeom>
          <a:solidFill>
            <a:srgbClr val="1620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EFB7AE6-91D1-48CB-8EDB-8F833E68CB4B}"/>
              </a:ext>
            </a:extLst>
          </p:cNvPr>
          <p:cNvSpPr>
            <a:spLocks noGrp="1"/>
          </p:cNvSpPr>
          <p:nvPr/>
        </p:nvSpPr>
        <p:spPr>
          <a:xfrm>
            <a:off x="4214729" y="41599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TEXT AUDIT</a:t>
            </a:r>
            <a:endParaRPr sz="95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97C59443-663A-479A-9BE5-E1A9EBB4E1E3}"/>
              </a:ext>
            </a:extLst>
          </p:cNvPr>
          <p:cNvSpPr>
            <a:spLocks noGrp="1"/>
          </p:cNvSpPr>
          <p:nvPr/>
        </p:nvSpPr>
        <p:spPr>
          <a:xfrm>
            <a:off x="5330297" y="4159932"/>
            <a:ext cx="987552" cy="347472"/>
          </a:xfrm>
          <a:prstGeom prst="roundRect">
            <a:avLst/>
          </a:prstGeom>
          <a:solidFill>
            <a:srgbClr val="1620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BB1E08C9-42EF-4061-8AB1-9A7772381993}"/>
              </a:ext>
            </a:extLst>
          </p:cNvPr>
          <p:cNvSpPr>
            <a:spLocks noGrp="1"/>
          </p:cNvSpPr>
          <p:nvPr/>
        </p:nvSpPr>
        <p:spPr>
          <a:xfrm>
            <a:off x="5330297" y="41599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ATOMIC SAVE</a:t>
            </a:r>
            <a:endParaRPr sz="950"/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4BA75996-2298-4410-AF1E-F16099354138}"/>
              </a:ext>
            </a:extLst>
          </p:cNvPr>
          <p:cNvSpPr>
            <a:spLocks noGrp="1"/>
          </p:cNvSpPr>
          <p:nvPr/>
        </p:nvSpPr>
        <p:spPr>
          <a:xfrm>
            <a:off x="6445865" y="4159932"/>
            <a:ext cx="987552" cy="347472"/>
          </a:xfrm>
          <a:prstGeom prst="roundRect">
            <a:avLst/>
          </a:prstGeom>
          <a:solidFill>
            <a:srgbClr val="1620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48CFD1A3-39A7-44AD-B1BD-E9325D4E468D}"/>
              </a:ext>
            </a:extLst>
          </p:cNvPr>
          <p:cNvSpPr>
            <a:spLocks noGrp="1"/>
          </p:cNvSpPr>
          <p:nvPr/>
        </p:nvSpPr>
        <p:spPr>
          <a:xfrm>
            <a:off x="6445865" y="41599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LOCAL DIAGNOSTICS</a:t>
            </a:r>
            <a:endParaRPr sz="950"/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73EABF40-BF7E-435A-8D15-61FE31A5797A}"/>
              </a:ext>
            </a:extLst>
          </p:cNvPr>
          <p:cNvSpPr>
            <a:spLocks noGrp="1"/>
          </p:cNvSpPr>
          <p:nvPr/>
        </p:nvSpPr>
        <p:spPr>
          <a:xfrm>
            <a:off x="7561433" y="4159932"/>
            <a:ext cx="987552" cy="347472"/>
          </a:xfrm>
          <a:prstGeom prst="roundRect">
            <a:avLst/>
          </a:prstGeom>
          <a:solidFill>
            <a:srgbClr val="16203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A49C6605-3992-410C-B31A-F9E15A09E05F}"/>
              </a:ext>
            </a:extLst>
          </p:cNvPr>
          <p:cNvSpPr>
            <a:spLocks noGrp="1"/>
          </p:cNvSpPr>
          <p:nvPr/>
        </p:nvSpPr>
        <p:spPr>
          <a:xfrm>
            <a:off x="7561433" y="4159932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IT REVIEW</a:t>
            </a:r>
            <a:endParaRPr sz="95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8585398B-B4C0-0421-938F-2EE78A2A6FB5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10B981"/>
            </a:solidFill>
            <a:prstDash val="dash"/>
          </a:ln>
        </p:spPr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39E10B86-2A9C-A8D1-946A-01EE61E7EF27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850" b="1" spc="150">
                <a:solidFill>
                  <a:srgbClr val="10B981"/>
                </a:solidFill>
                <a:latin typeface="Trebuchet MS"/>
                <a:ea typeface="Trebuchet MS"/>
                <a:cs typeface="Trebuchet MS"/>
              </a:rPr>
              <a:t>TRUST &amp; SECURITY</a:t>
            </a:r>
            <a:endParaRPr sz="850">
              <a:solidFill>
                <a:srgbClr val="10B981"/>
              </a:solidFill>
            </a:endParaRP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E0908BDE-DCCD-BF75-CB35-5AAED778BC53}"/>
              </a:ext>
            </a:extLst>
          </p:cNvPr>
          <p:cNvSpPr>
            <a:spLocks noGrp="1"/>
          </p:cNvSpPr>
          <p:nvPr/>
        </p:nvSpPr>
        <p:spPr>
          <a:xfrm>
            <a:off x="365760" y="2937586"/>
            <a:ext cx="3154680" cy="752139"/>
          </a:xfrm>
          <a:prstGeom prst="roundRect">
            <a:avLst>
              <a:gd name="adj" fmla="val 11065"/>
            </a:avLst>
          </a:prstGeom>
          <a:solidFill>
            <a:srgbClr val="1E2A3B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89730A7A-72FB-3B7B-87E6-CFF356C1C071}"/>
              </a:ext>
            </a:extLst>
          </p:cNvPr>
          <p:cNvSpPr>
            <a:spLocks noGrp="1"/>
          </p:cNvSpPr>
          <p:nvPr/>
        </p:nvSpPr>
        <p:spPr>
          <a:xfrm>
            <a:off x="512064" y="3094199"/>
            <a:ext cx="438912" cy="438912"/>
          </a:xfrm>
          <a:prstGeom prst="ellipse">
            <a:avLst/>
          </a:prstGeom>
          <a:solidFill>
            <a:srgbClr val="0D2E1A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1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49063"/>
            <a:ext cx="329184" cy="329184"/>
          </a:xfrm>
          <a:prstGeom prst="rect">
            <a:avLst/>
          </a:prstGeom>
        </p:spPr>
      </p:pic>
      <p:sp>
        <p:nvSpPr>
          <p:cNvPr id="52" name="Text 6">
            <a:extLst>
              <a:ext uri="{FF2B5EF4-FFF2-40B4-BE49-F238E27FC236}">
                <a16:creationId xmlns:a16="http://schemas.microsoft.com/office/drawing/2014/main" id="{A5868F07-FD23-820C-313E-8F446BDB1658}"/>
              </a:ext>
            </a:extLst>
          </p:cNvPr>
          <p:cNvSpPr>
            <a:spLocks noGrp="1"/>
          </p:cNvSpPr>
          <p:nvPr/>
        </p:nvSpPr>
        <p:spPr>
          <a:xfrm>
            <a:off x="1097280" y="305475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✓ No application telemetry</a:t>
            </a:r>
            <a:endParaRPr sz="1400">
              <a:latin typeface="Montserrat"/>
              <a:ea typeface="Montserrat"/>
              <a:cs typeface="Montserrat"/>
            </a:endParaRPr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BBBC5A57-2422-C792-F710-4C79CDA7396D}"/>
              </a:ext>
            </a:extLst>
          </p:cNvPr>
          <p:cNvSpPr>
            <a:spLocks noGrp="1"/>
          </p:cNvSpPr>
          <p:nvPr/>
        </p:nvSpPr>
        <p:spPr>
          <a:xfrm>
            <a:off x="1069848" y="3365681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Diagnostics remain local</a:t>
            </a:r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AB3B53D5-4131-514A-9B46-279F1E9121FF}"/>
              </a:ext>
            </a:extLst>
          </p:cNvPr>
          <p:cNvSpPr>
            <a:spLocks noGrp="1"/>
          </p:cNvSpPr>
          <p:nvPr/>
        </p:nvSpPr>
        <p:spPr>
          <a:xfrm>
            <a:off x="5623560" y="1874520"/>
            <a:ext cx="3154680" cy="752139"/>
          </a:xfrm>
          <a:prstGeom prst="roundRect">
            <a:avLst>
              <a:gd name="adj" fmla="val 11065"/>
            </a:avLst>
          </a:prstGeom>
          <a:solidFill>
            <a:srgbClr val="1E2A3B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">
            <a:extLst>
              <a:ext uri="{FF2B5EF4-FFF2-40B4-BE49-F238E27FC236}">
                <a16:creationId xmlns:a16="http://schemas.microsoft.com/office/drawing/2014/main" id="{BEB381C9-385A-4C46-3C76-F6715C363D7D}"/>
              </a:ext>
            </a:extLst>
          </p:cNvPr>
          <p:cNvSpPr>
            <a:spLocks noGrp="1"/>
          </p:cNvSpPr>
          <p:nvPr/>
        </p:nvSpPr>
        <p:spPr>
          <a:xfrm>
            <a:off x="5769864" y="2031133"/>
            <a:ext cx="438912" cy="438912"/>
          </a:xfrm>
          <a:prstGeom prst="ellipse">
            <a:avLst/>
          </a:prstGeom>
          <a:solidFill>
            <a:srgbClr val="0D2E1A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6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2085997"/>
            <a:ext cx="329184" cy="329184"/>
          </a:xfrm>
          <a:prstGeom prst="rect">
            <a:avLst/>
          </a:prstGeom>
        </p:spPr>
      </p:pic>
      <p:sp>
        <p:nvSpPr>
          <p:cNvPr id="59" name="Text 6">
            <a:extLst>
              <a:ext uri="{FF2B5EF4-FFF2-40B4-BE49-F238E27FC236}">
                <a16:creationId xmlns:a16="http://schemas.microsoft.com/office/drawing/2014/main" id="{E9082A39-C5B5-70DE-86D0-B79A42AAF0CB}"/>
              </a:ext>
            </a:extLst>
          </p:cNvPr>
          <p:cNvSpPr>
            <a:spLocks noGrp="1"/>
          </p:cNvSpPr>
          <p:nvPr/>
        </p:nvSpPr>
        <p:spPr>
          <a:xfrm>
            <a:off x="6355080" y="199168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✓ No embedded macros</a:t>
            </a:r>
            <a:endParaRPr sz="1400">
              <a:latin typeface="Montserrat"/>
              <a:ea typeface="Montserrat"/>
              <a:cs typeface="Montserrat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94C0D753-43C0-8234-EABC-CD515D78AA5C}"/>
              </a:ext>
            </a:extLst>
          </p:cNvPr>
          <p:cNvSpPr>
            <a:spLocks noGrp="1"/>
          </p:cNvSpPr>
          <p:nvPr/>
        </p:nvSpPr>
        <p:spPr>
          <a:xfrm>
            <a:off x="6327648" y="2302615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No VBA execution path</a:t>
            </a:r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594AF33A-4448-BC40-2E4A-FB5DA66F7BC5}"/>
              </a:ext>
            </a:extLst>
          </p:cNvPr>
          <p:cNvSpPr>
            <a:spLocks noGrp="1"/>
          </p:cNvSpPr>
          <p:nvPr/>
        </p:nvSpPr>
        <p:spPr>
          <a:xfrm>
            <a:off x="5623560" y="2937586"/>
            <a:ext cx="3154680" cy="752139"/>
          </a:xfrm>
          <a:prstGeom prst="roundRect">
            <a:avLst>
              <a:gd name="adj" fmla="val 11065"/>
            </a:avLst>
          </a:prstGeom>
          <a:solidFill>
            <a:srgbClr val="1E2A3B"/>
          </a:solidFill>
          <a:ln w="6350">
            <a:solidFill>
              <a:schemeClr val="bg2">
                <a:lumMod val="25000"/>
              </a:scheme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871FD38A-1E8A-4965-EC77-AE6E65B2DC53}"/>
              </a:ext>
            </a:extLst>
          </p:cNvPr>
          <p:cNvSpPr>
            <a:spLocks noGrp="1"/>
          </p:cNvSpPr>
          <p:nvPr/>
        </p:nvSpPr>
        <p:spPr>
          <a:xfrm>
            <a:off x="5769864" y="3094199"/>
            <a:ext cx="438912" cy="438912"/>
          </a:xfrm>
          <a:prstGeom prst="ellipse">
            <a:avLst/>
          </a:prstGeom>
          <a:solidFill>
            <a:srgbClr val="0D2E1A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1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3149063"/>
            <a:ext cx="329184" cy="329184"/>
          </a:xfrm>
          <a:prstGeom prst="rect">
            <a:avLst/>
          </a:prstGeom>
        </p:spPr>
      </p:pic>
      <p:sp>
        <p:nvSpPr>
          <p:cNvPr id="66" name="Text 6">
            <a:extLst>
              <a:ext uri="{FF2B5EF4-FFF2-40B4-BE49-F238E27FC236}">
                <a16:creationId xmlns:a16="http://schemas.microsoft.com/office/drawing/2014/main" id="{CDA94097-79C9-6A53-21B9-ED20E24261FB}"/>
              </a:ext>
            </a:extLst>
          </p:cNvPr>
          <p:cNvSpPr>
            <a:spLocks noGrp="1"/>
          </p:cNvSpPr>
          <p:nvPr/>
        </p:nvSpPr>
        <p:spPr>
          <a:xfrm>
            <a:off x="6355080" y="305475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✓ OS-controlled file access</a:t>
            </a:r>
            <a:endParaRPr sz="1400">
              <a:latin typeface="Montserrat"/>
              <a:ea typeface="Montserrat"/>
              <a:cs typeface="Montserrat"/>
            </a:endParaRPr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5681D0CE-112C-6712-6C56-0A2FCAD10648}"/>
              </a:ext>
            </a:extLst>
          </p:cNvPr>
          <p:cNvSpPr>
            <a:spLocks noGrp="1"/>
          </p:cNvSpPr>
          <p:nvPr/>
        </p:nvSpPr>
        <p:spPr>
          <a:xfrm>
            <a:off x="6327648" y="3365681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Reads sources and writes selected outputs</a:t>
            </a: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27CF415B-7A7E-1D08-746A-E717648E4AB5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pic>
        <p:nvPicPr>
          <p:cNvPr id="115" name="Picture 1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634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23">
            <a:extLst>
              <a:ext uri="{FF2B5EF4-FFF2-40B4-BE49-F238E27FC236}">
                <a16:creationId xmlns:a16="http://schemas.microsoft.com/office/drawing/2014/main" id="{07BA71E0-F342-BBB1-8B05-F052A0B498B8}"/>
              </a:ext>
            </a:extLst>
          </p:cNvPr>
          <p:cNvSpPr>
            <a:spLocks noGrp="1"/>
          </p:cNvSpPr>
          <p:nvPr/>
        </p:nvSpPr>
        <p:spPr>
          <a:xfrm>
            <a:off x="400050" y="4866005"/>
            <a:ext cx="762000" cy="2205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800" b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800">
              <a:solidFill>
                <a:srgbClr val="2563EB"/>
              </a:solidFill>
            </a:endParaRPr>
          </a:p>
        </p:txBody>
      </p:sp>
      <p:sp>
        <p:nvSpPr>
          <p:cNvPr id="58" name="Text 0">
            <a:extLst>
              <a:ext uri="{FF2B5EF4-FFF2-40B4-BE49-F238E27FC236}">
                <a16:creationId xmlns:a16="http://schemas.microsoft.com/office/drawing/2014/main" id="{C1A5D5C0-0155-DFDD-C57E-5E2B9343AF9B}"/>
              </a:ext>
            </a:extLst>
          </p:cNvPr>
          <p:cNvSpPr>
            <a:spLocks noGrp="1"/>
          </p:cNvSpPr>
          <p:nvPr/>
        </p:nvSpPr>
        <p:spPr>
          <a:xfrm>
            <a:off x="457200" y="896135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36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Where MergeGuru Adds Value</a:t>
            </a:r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C332B6D2-80B6-2626-81B6-6DD5D3EC70A9}"/>
              </a:ext>
            </a:extLst>
          </p:cNvPr>
          <p:cNvSpPr>
            <a:spLocks noGrp="1"/>
          </p:cNvSpPr>
          <p:nvPr/>
        </p:nvSpPr>
        <p:spPr>
          <a:xfrm>
            <a:off x="457200" y="137096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Built for recurring, exception-prone data consolidation.</a:t>
            </a:r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50415F48-8C69-61D2-A4C3-452BE9FF462E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0070C0"/>
            </a:solidFill>
            <a:prstDash val="dash"/>
          </a:ln>
        </p:spPr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89A4AEEB-5101-98BF-B2EE-0FD52A066202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011680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850" b="1" spc="150">
                <a:solidFill>
                  <a:srgbClr val="0070C0"/>
                </a:solidFill>
                <a:latin typeface="Trebuchet MS"/>
                <a:ea typeface="Trebuchet MS"/>
                <a:cs typeface="Trebuchet MS"/>
              </a:rPr>
              <a:t>OUTCOMES</a:t>
            </a:r>
            <a:endParaRPr sz="850">
              <a:solidFill>
                <a:srgbClr val="0070C0"/>
              </a:solidFill>
            </a:endParaRPr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835212C9-C814-E7D5-80C6-C72BFC79FB9A}"/>
              </a:ext>
            </a:extLst>
          </p:cNvPr>
          <p:cNvSpPr>
            <a:spLocks noGrp="1"/>
          </p:cNvSpPr>
          <p:nvPr/>
        </p:nvSpPr>
        <p:spPr>
          <a:xfrm>
            <a:off x="794117" y="2014212"/>
            <a:ext cx="1494936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E0A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B5D7EED-3D73-6CEB-7D53-CAACC96B1CEB}"/>
              </a:ext>
            </a:extLst>
          </p:cNvPr>
          <p:cNvSpPr>
            <a:spLocks noGrp="1"/>
          </p:cNvSpPr>
          <p:nvPr/>
        </p:nvSpPr>
        <p:spPr>
          <a:xfrm>
            <a:off x="794116" y="2047905"/>
            <a:ext cx="1494937" cy="2266951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C77DECB-C49C-33AD-BD7A-16DCB0388175}"/>
              </a:ext>
            </a:extLst>
          </p:cNvPr>
          <p:cNvSpPr>
            <a:spLocks noGrp="1"/>
          </p:cNvSpPr>
          <p:nvPr/>
        </p:nvSpPr>
        <p:spPr>
          <a:xfrm>
            <a:off x="1322118" y="2210277"/>
            <a:ext cx="438935" cy="438935"/>
          </a:xfrm>
          <a:prstGeom prst="roundRect">
            <a:avLst/>
          </a:prstGeom>
          <a:solidFill>
            <a:srgbClr val="E0A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49D57E-3BD7-C837-B714-3E2F8A1E01A2}"/>
              </a:ext>
            </a:extLst>
          </p:cNvPr>
          <p:cNvSpPr>
            <a:spLocks noGrp="1"/>
          </p:cNvSpPr>
          <p:nvPr/>
        </p:nvSpPr>
        <p:spPr>
          <a:xfrm>
            <a:off x="1002449" y="2649212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Reuse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786852-5198-9419-5DFC-5633AC731093}"/>
              </a:ext>
            </a:extLst>
          </p:cNvPr>
          <p:cNvSpPr>
            <a:spLocks noGrp="1"/>
          </p:cNvSpPr>
          <p:nvPr/>
        </p:nvSpPr>
        <p:spPr>
          <a:xfrm>
            <a:off x="798123" y="3559623"/>
            <a:ext cx="1494936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Prepared data stays in-session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Multiple filtered exports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Automatic output naming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CE7F0-1DCD-C4B6-60B1-B9520E16E6C4}"/>
              </a:ext>
            </a:extLst>
          </p:cNvPr>
          <p:cNvSpPr>
            <a:spLocks noGrp="1"/>
          </p:cNvSpPr>
          <p:nvPr/>
        </p:nvSpPr>
        <p:spPr>
          <a:xfrm>
            <a:off x="1002449" y="3239821"/>
            <a:ext cx="1078272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>
                <a:solidFill>
                  <a:schemeClr val="bg2">
                    <a:lumMod val="7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combine, many exports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63462E-B4F6-0C43-54F1-D02AAA9A278D}"/>
              </a:ext>
            </a:extLst>
          </p:cNvPr>
          <p:cNvSpPr>
            <a:spLocks noGrp="1"/>
          </p:cNvSpPr>
          <p:nvPr/>
        </p:nvSpPr>
        <p:spPr>
          <a:xfrm>
            <a:off x="1002449" y="2787195"/>
            <a:ext cx="1078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1">
                <a:solidFill>
                  <a:srgbClr val="E0A03C"/>
                </a:solidFill>
                <a:latin typeface="Montserrat"/>
                <a:ea typeface="Montserrat"/>
                <a:cs typeface="Montserrat"/>
              </a:rPr>
              <a:t>1×</a:t>
            </a:r>
          </a:p>
        </p:txBody>
      </p:sp>
      <p:pic>
        <p:nvPicPr>
          <p:cNvPr id="106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988" y="2220848"/>
            <a:ext cx="413192" cy="413192"/>
          </a:xfrm>
          <a:prstGeom prst="rect">
            <a:avLst/>
          </a:prstGeom>
        </p:spPr>
      </p:pic>
      <p:sp>
        <p:nvSpPr>
          <p:cNvPr id="64" name="Rectangle: Top Corners Rounded 63">
            <a:extLst>
              <a:ext uri="{FF2B5EF4-FFF2-40B4-BE49-F238E27FC236}">
                <a16:creationId xmlns:a16="http://schemas.microsoft.com/office/drawing/2014/main" id="{B13BD6CF-0664-AF47-2F0A-15E2908E27F9}"/>
              </a:ext>
            </a:extLst>
          </p:cNvPr>
          <p:cNvSpPr>
            <a:spLocks noGrp="1"/>
          </p:cNvSpPr>
          <p:nvPr/>
        </p:nvSpPr>
        <p:spPr>
          <a:xfrm>
            <a:off x="2813059" y="2014212"/>
            <a:ext cx="1494936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64B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3DB5EBE-AAE3-621F-DF87-EC243F8AFFB6}"/>
              </a:ext>
            </a:extLst>
          </p:cNvPr>
          <p:cNvSpPr>
            <a:spLocks noGrp="1"/>
          </p:cNvSpPr>
          <p:nvPr/>
        </p:nvSpPr>
        <p:spPr>
          <a:xfrm>
            <a:off x="2813058" y="2047905"/>
            <a:ext cx="1494937" cy="2266951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6DC0C5B-A14C-3467-1B59-34743A23285E}"/>
              </a:ext>
            </a:extLst>
          </p:cNvPr>
          <p:cNvSpPr>
            <a:spLocks noGrp="1"/>
          </p:cNvSpPr>
          <p:nvPr/>
        </p:nvSpPr>
        <p:spPr>
          <a:xfrm>
            <a:off x="3341060" y="2210277"/>
            <a:ext cx="438935" cy="438935"/>
          </a:xfrm>
          <a:prstGeom prst="roundRect">
            <a:avLst/>
          </a:prstGeom>
          <a:solidFill>
            <a:srgbClr val="64B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7A4EF4-BE7E-B915-89A8-F37A539FD358}"/>
              </a:ext>
            </a:extLst>
          </p:cNvPr>
          <p:cNvSpPr>
            <a:spLocks noGrp="1"/>
          </p:cNvSpPr>
          <p:nvPr/>
        </p:nvSpPr>
        <p:spPr>
          <a:xfrm>
            <a:off x="3021391" y="2649212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Validate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86F473-8BBC-0EF7-7C00-0061756857DB}"/>
              </a:ext>
            </a:extLst>
          </p:cNvPr>
          <p:cNvSpPr>
            <a:spLocks noGrp="1"/>
          </p:cNvSpPr>
          <p:nvPr/>
        </p:nvSpPr>
        <p:spPr>
          <a:xfrm>
            <a:off x="2817065" y="3559623"/>
            <a:ext cx="1494936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Reference schema first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Missing and duplicate headers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Shuffled columns aligned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C845EC-78D8-F828-E58D-7778611FEAA4}"/>
              </a:ext>
            </a:extLst>
          </p:cNvPr>
          <p:cNvSpPr>
            <a:spLocks noGrp="1"/>
          </p:cNvSpPr>
          <p:nvPr/>
        </p:nvSpPr>
        <p:spPr>
          <a:xfrm>
            <a:off x="3021391" y="3239821"/>
            <a:ext cx="10782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>
                <a:solidFill>
                  <a:schemeClr val="bg2">
                    <a:lumMod val="7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WARN / FAIL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5F84DA-243E-5BD8-81B6-21DC505B256A}"/>
              </a:ext>
            </a:extLst>
          </p:cNvPr>
          <p:cNvSpPr>
            <a:spLocks noGrp="1"/>
          </p:cNvSpPr>
          <p:nvPr/>
        </p:nvSpPr>
        <p:spPr>
          <a:xfrm>
            <a:off x="2809051" y="2787195"/>
            <a:ext cx="14989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000" b="1">
                <a:solidFill>
                  <a:srgbClr val="64B686"/>
                </a:solidFill>
                <a:latin typeface="Montserrat"/>
                <a:ea typeface="Montserrat"/>
                <a:cs typeface="Montserrat"/>
              </a:rPr>
              <a:t>PASS</a:t>
            </a:r>
          </a:p>
        </p:txBody>
      </p:sp>
      <p:pic>
        <p:nvPicPr>
          <p:cNvPr id="114" name="Picture 7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3930" y="2220848"/>
            <a:ext cx="413192" cy="413192"/>
          </a:xfrm>
          <a:prstGeom prst="rect">
            <a:avLst/>
          </a:prstGeom>
        </p:spPr>
      </p:pic>
      <p:sp>
        <p:nvSpPr>
          <p:cNvPr id="73" name="Rectangle: Top Corners Rounded 72">
            <a:extLst>
              <a:ext uri="{FF2B5EF4-FFF2-40B4-BE49-F238E27FC236}">
                <a16:creationId xmlns:a16="http://schemas.microsoft.com/office/drawing/2014/main" id="{D4CBCC81-3A78-5269-25D9-5F47F089F1FF}"/>
              </a:ext>
            </a:extLst>
          </p:cNvPr>
          <p:cNvSpPr>
            <a:spLocks noGrp="1"/>
          </p:cNvSpPr>
          <p:nvPr/>
        </p:nvSpPr>
        <p:spPr>
          <a:xfrm>
            <a:off x="4832001" y="2014212"/>
            <a:ext cx="1494936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608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5A2A573-3D33-2ACD-6893-D2A252573E1F}"/>
              </a:ext>
            </a:extLst>
          </p:cNvPr>
          <p:cNvSpPr>
            <a:spLocks noGrp="1"/>
          </p:cNvSpPr>
          <p:nvPr/>
        </p:nvSpPr>
        <p:spPr>
          <a:xfrm>
            <a:off x="4832000" y="2047905"/>
            <a:ext cx="1494937" cy="2266951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2150D242-F253-4ED5-1C74-F274B1F03D7C}"/>
              </a:ext>
            </a:extLst>
          </p:cNvPr>
          <p:cNvSpPr>
            <a:spLocks noGrp="1"/>
          </p:cNvSpPr>
          <p:nvPr/>
        </p:nvSpPr>
        <p:spPr>
          <a:xfrm>
            <a:off x="5360002" y="2210277"/>
            <a:ext cx="438935" cy="438935"/>
          </a:xfrm>
          <a:prstGeom prst="roundRect">
            <a:avLst/>
          </a:prstGeom>
          <a:solidFill>
            <a:srgbClr val="608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ABDDB6-4B08-981E-B3BE-2D051E16910D}"/>
              </a:ext>
            </a:extLst>
          </p:cNvPr>
          <p:cNvSpPr>
            <a:spLocks noGrp="1"/>
          </p:cNvSpPr>
          <p:nvPr/>
        </p:nvSpPr>
        <p:spPr>
          <a:xfrm>
            <a:off x="5040333" y="2649212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Local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C7B36B-1FED-2CC8-990F-B21120C6A89B}"/>
              </a:ext>
            </a:extLst>
          </p:cNvPr>
          <p:cNvSpPr>
            <a:spLocks noGrp="1"/>
          </p:cNvSpPr>
          <p:nvPr/>
        </p:nvSpPr>
        <p:spPr>
          <a:xfrm>
            <a:off x="4836007" y="3559623"/>
            <a:ext cx="1494936" cy="6057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No VBA or macros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No application telemetry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OS permissions still apply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637DF14-5AEB-7FE1-B15A-9EDBDF8A0534}"/>
              </a:ext>
            </a:extLst>
          </p:cNvPr>
          <p:cNvSpPr>
            <a:spLocks noGrp="1"/>
          </p:cNvSpPr>
          <p:nvPr/>
        </p:nvSpPr>
        <p:spPr>
          <a:xfrm>
            <a:off x="5040333" y="3239821"/>
            <a:ext cx="10782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>
                <a:solidFill>
                  <a:schemeClr val="bg2">
                    <a:lumMod val="7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built-in uploads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A42D19-3C4E-A1AF-5E27-82E252AD1355}"/>
              </a:ext>
            </a:extLst>
          </p:cNvPr>
          <p:cNvSpPr>
            <a:spLocks noGrp="1"/>
          </p:cNvSpPr>
          <p:nvPr/>
        </p:nvSpPr>
        <p:spPr>
          <a:xfrm>
            <a:off x="5040333" y="2787195"/>
            <a:ext cx="1078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1">
                <a:solidFill>
                  <a:srgbClr val="6082ED"/>
                </a:solidFill>
                <a:latin typeface="Montserrat"/>
                <a:ea typeface="Montserrat"/>
                <a:cs typeface="Montserrat"/>
              </a:rPr>
              <a:t>0</a:t>
            </a:r>
          </a:p>
        </p:txBody>
      </p:sp>
      <p:pic>
        <p:nvPicPr>
          <p:cNvPr id="122" name="Picture 79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72872" y="2220848"/>
            <a:ext cx="413192" cy="413192"/>
          </a:xfrm>
          <a:prstGeom prst="rect">
            <a:avLst/>
          </a:prstGeom>
        </p:spPr>
      </p:pic>
      <p:sp>
        <p:nvSpPr>
          <p:cNvPr id="82" name="Rectangle: Top Corners Rounded 81">
            <a:extLst>
              <a:ext uri="{FF2B5EF4-FFF2-40B4-BE49-F238E27FC236}">
                <a16:creationId xmlns:a16="http://schemas.microsoft.com/office/drawing/2014/main" id="{293D70B2-CFF0-C78D-942A-2C9C10C12F18}"/>
              </a:ext>
            </a:extLst>
          </p:cNvPr>
          <p:cNvSpPr>
            <a:spLocks noGrp="1"/>
          </p:cNvSpPr>
          <p:nvPr/>
        </p:nvSpPr>
        <p:spPr>
          <a:xfrm>
            <a:off x="6850942" y="2014212"/>
            <a:ext cx="1494936" cy="290829"/>
          </a:xfrm>
          <a:prstGeom prst="round2SameRect">
            <a:avLst>
              <a:gd name="adj1" fmla="val 34443"/>
              <a:gd name="adj2" fmla="val 0"/>
            </a:avLst>
          </a:prstGeom>
          <a:solidFill>
            <a:srgbClr val="8760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8D61E71-6EA1-28E9-9B87-14B65212A0D6}"/>
              </a:ext>
            </a:extLst>
          </p:cNvPr>
          <p:cNvSpPr>
            <a:spLocks noGrp="1"/>
          </p:cNvSpPr>
          <p:nvPr/>
        </p:nvSpPr>
        <p:spPr>
          <a:xfrm>
            <a:off x="6850941" y="2047905"/>
            <a:ext cx="1494937" cy="2266951"/>
          </a:xfrm>
          <a:prstGeom prst="roundRect">
            <a:avLst>
              <a:gd name="adj" fmla="val 7855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9C69BA3F-17A7-9E50-299C-F12ED7146401}"/>
              </a:ext>
            </a:extLst>
          </p:cNvPr>
          <p:cNvSpPr>
            <a:spLocks noGrp="1"/>
          </p:cNvSpPr>
          <p:nvPr/>
        </p:nvSpPr>
        <p:spPr>
          <a:xfrm>
            <a:off x="7378943" y="2210277"/>
            <a:ext cx="438935" cy="438935"/>
          </a:xfrm>
          <a:prstGeom prst="roundRect">
            <a:avLst/>
          </a:prstGeom>
          <a:solidFill>
            <a:srgbClr val="8760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521839-CBBC-F0AB-C993-5651C0F5FB9E}"/>
              </a:ext>
            </a:extLst>
          </p:cNvPr>
          <p:cNvSpPr>
            <a:spLocks noGrp="1"/>
          </p:cNvSpPr>
          <p:nvPr/>
        </p:nvSpPr>
        <p:spPr>
          <a:xfrm>
            <a:off x="7059274" y="2649212"/>
            <a:ext cx="1078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chemeClr val="bg1">
                    <a:lumMod val="95000"/>
                  </a:schemeClr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4902961-06B1-DDB6-6193-55A308F1BEF7}"/>
              </a:ext>
            </a:extLst>
          </p:cNvPr>
          <p:cNvSpPr>
            <a:spLocks noGrp="1"/>
          </p:cNvSpPr>
          <p:nvPr/>
        </p:nvSpPr>
        <p:spPr>
          <a:xfrm>
            <a:off x="6854948" y="3559623"/>
            <a:ext cx="1494936" cy="6057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Sources and validation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Filters and row counts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  <a:def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defRPr>
            </a:pPr>
            <a:r>
              <a:rPr sz="7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Output path and size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2FA7FE-9C0C-4213-4B6F-CAE58CD48669}"/>
              </a:ext>
            </a:extLst>
          </p:cNvPr>
          <p:cNvSpPr>
            <a:spLocks noGrp="1"/>
          </p:cNvSpPr>
          <p:nvPr/>
        </p:nvSpPr>
        <p:spPr>
          <a:xfrm>
            <a:off x="7059274" y="3239821"/>
            <a:ext cx="10782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>
                <a:solidFill>
                  <a:schemeClr val="bg2">
                    <a:lumMod val="7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report per export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E0617A-26B3-A51B-4999-F6FEDC133E7C}"/>
              </a:ext>
            </a:extLst>
          </p:cNvPr>
          <p:cNvSpPr>
            <a:spLocks noGrp="1"/>
          </p:cNvSpPr>
          <p:nvPr/>
        </p:nvSpPr>
        <p:spPr>
          <a:xfrm>
            <a:off x="6846935" y="2787195"/>
            <a:ext cx="15029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000" b="1">
                <a:solidFill>
                  <a:srgbClr val="8760ED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pic>
        <p:nvPicPr>
          <p:cNvPr id="130" name="Picture 88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91813" y="2220848"/>
            <a:ext cx="413192" cy="413192"/>
          </a:xfrm>
          <a:prstGeom prst="rect">
            <a:avLst/>
          </a:prstGeom>
        </p:spPr>
      </p:pic>
      <p:pic>
        <p:nvPicPr>
          <p:cNvPr id="131" name="Picture 13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8E87C3-FCAC-420E-8914-CA4472A68006}"/>
              </a:ext>
            </a:extLst>
          </p:cNvPr>
          <p:cNvSpPr>
            <a:spLocks noGrp="1"/>
          </p:cNvSpPr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9B443E-0E3C-4053-B34D-E75DE23FCBA3}"/>
              </a:ext>
            </a:extLst>
          </p:cNvPr>
          <p:cNvSpPr>
            <a:spLocks noGrp="1"/>
          </p:cNvSpPr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Release Path</a:t>
            </a:r>
            <a:endParaRPr sz="3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849664-2F17-4210-9BF3-53F2D05B90F6}"/>
              </a:ext>
            </a:extLst>
          </p:cNvPr>
          <p:cNvSpPr>
            <a:spLocks noGrp="1"/>
          </p:cNvSpPr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Production today, controlled preview next, managed rollout after approval.</a:t>
            </a:r>
            <a:endParaRPr sz="1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6AC029-4469-46AE-B82C-8BAA4BB4E7D9}"/>
              </a:ext>
            </a:extLst>
          </p:cNvPr>
          <p:cNvSpPr>
            <a:spLocks noGrp="1"/>
          </p:cNvSpPr>
          <p:nvPr/>
        </p:nvSpPr>
        <p:spPr>
          <a:xfrm>
            <a:off x="274320" y="1261872"/>
            <a:ext cx="2743200" cy="3639312"/>
          </a:xfrm>
          <a:prstGeom prst="rect">
            <a:avLst/>
          </a:prstGeom>
          <a:solidFill>
            <a:srgbClr val="1E2A3B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303311-9072-4E75-9AF5-12D84C31ADA6}"/>
              </a:ext>
            </a:extLst>
          </p:cNvPr>
          <p:cNvSpPr>
            <a:spLocks noGrp="1"/>
          </p:cNvSpPr>
          <p:nvPr/>
        </p:nvSpPr>
        <p:spPr>
          <a:xfrm>
            <a:off x="274320" y="1261872"/>
            <a:ext cx="27432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FB4D76-914B-4EF7-A5CD-9EE04885D5DB}"/>
              </a:ext>
            </a:extLst>
          </p:cNvPr>
          <p:cNvSpPr>
            <a:spLocks noGrp="1"/>
          </p:cNvSpPr>
          <p:nvPr/>
        </p:nvSpPr>
        <p:spPr>
          <a:xfrm>
            <a:off x="274320" y="12618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NOW: v3.0 PRODUCTION</a:t>
            </a:r>
            <a:endParaRPr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F1EB7C9-CF7D-4F2E-B337-672372577E82}"/>
              </a:ext>
            </a:extLst>
          </p:cNvPr>
          <p:cNvSpPr>
            <a:spLocks noGrp="1"/>
          </p:cNvSpPr>
          <p:nvPr/>
        </p:nvSpPr>
        <p:spPr>
          <a:xfrm>
            <a:off x="475488" y="1883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31DD417-112E-407C-9B0D-49B680727E3D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Guided four-stage workflow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D8A0562-5B4A-449D-B9F9-92790C7A5564}"/>
              </a:ext>
            </a:extLst>
          </p:cNvPr>
          <p:cNvSpPr>
            <a:spLocks noGrp="1"/>
          </p:cNvSpPr>
          <p:nvPr/>
        </p:nvSpPr>
        <p:spPr>
          <a:xfrm>
            <a:off x="475488" y="23591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68989-DB0F-442D-B783-AB88401E6900}"/>
              </a:ext>
            </a:extLst>
          </p:cNvPr>
          <p:cNvSpPr>
            <a:spLocks noGrp="1"/>
          </p:cNvSpPr>
          <p:nvPr/>
        </p:nvSpPr>
        <p:spPr>
          <a:xfrm>
            <a:off x="731520" y="230428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Reference-based validation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8DA9606-FB6F-45F6-8CC6-522645746DCF}"/>
              </a:ext>
            </a:extLst>
          </p:cNvPr>
          <p:cNvSpPr>
            <a:spLocks noGrp="1"/>
          </p:cNvSpPr>
          <p:nvPr/>
        </p:nvSpPr>
        <p:spPr>
          <a:xfrm>
            <a:off x="475488" y="28346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BC7DCA-12DF-432F-8BF4-6427283017E2}"/>
              </a:ext>
            </a:extLst>
          </p:cNvPr>
          <p:cNvSpPr>
            <a:spLocks noGrp="1"/>
          </p:cNvSpPr>
          <p:nvPr/>
        </p:nvSpPr>
        <p:spPr>
          <a:xfrm>
            <a:off x="731520" y="277977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4 export modes, including CSV-Text</a:t>
            </a:r>
            <a:endParaRPr sz="10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8621F12-037D-470E-B8D0-6F080F744823}"/>
              </a:ext>
            </a:extLst>
          </p:cNvPr>
          <p:cNvSpPr>
            <a:spLocks noGrp="1"/>
          </p:cNvSpPr>
          <p:nvPr/>
        </p:nvSpPr>
        <p:spPr>
          <a:xfrm>
            <a:off x="475488" y="33101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23791E-3C1E-47FF-B21A-2FA4A60AB258}"/>
              </a:ext>
            </a:extLst>
          </p:cNvPr>
          <p:cNvSpPr>
            <a:spLocks noGrp="1"/>
          </p:cNvSpPr>
          <p:nvPr/>
        </p:nvSpPr>
        <p:spPr>
          <a:xfrm>
            <a:off x="731520" y="325526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Parallel validation and fast combine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2129E8-1EC8-488E-8481-CEC5238ED734}"/>
              </a:ext>
            </a:extLst>
          </p:cNvPr>
          <p:cNvSpPr>
            <a:spLocks noGrp="1"/>
          </p:cNvSpPr>
          <p:nvPr/>
        </p:nvSpPr>
        <p:spPr>
          <a:xfrm>
            <a:off x="475488" y="37856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C3380B6-4A6B-4708-BBF5-E89646527212}"/>
              </a:ext>
            </a:extLst>
          </p:cNvPr>
          <p:cNvSpPr>
            <a:spLocks noGrp="1"/>
          </p:cNvSpPr>
          <p:nvPr/>
        </p:nvSpPr>
        <p:spPr>
          <a:xfrm>
            <a:off x="731520" y="3730752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Validation sheet and local audit report</a:t>
            </a:r>
            <a:endParaRPr sz="10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BE79E68-9EA9-479F-A806-64C2EA945DB1}"/>
              </a:ext>
            </a:extLst>
          </p:cNvPr>
          <p:cNvSpPr>
            <a:spLocks noGrp="1"/>
          </p:cNvSpPr>
          <p:nvPr/>
        </p:nvSpPr>
        <p:spPr>
          <a:xfrm>
            <a:off x="475488" y="42611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88AEB8-B1E1-4183-A9AB-C0E487421631}"/>
              </a:ext>
            </a:extLst>
          </p:cNvPr>
          <p:cNvSpPr>
            <a:spLocks noGrp="1"/>
          </p:cNvSpPr>
          <p:nvPr/>
        </p:nvSpPr>
        <p:spPr>
          <a:xfrm>
            <a:off x="731520" y="420624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RAM guard, progress, ETA and cancel</a:t>
            </a:r>
            <a:endParaRPr sz="10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DCEC8F4-56B7-4BCA-8F25-723B56898CD6}"/>
              </a:ext>
            </a:extLst>
          </p:cNvPr>
          <p:cNvSpPr>
            <a:spLocks noGrp="1"/>
          </p:cNvSpPr>
          <p:nvPr/>
        </p:nvSpPr>
        <p:spPr>
          <a:xfrm>
            <a:off x="3218688" y="1261872"/>
            <a:ext cx="2743200" cy="3639312"/>
          </a:xfrm>
          <a:prstGeom prst="rect">
            <a:avLst/>
          </a:prstGeom>
          <a:solidFill>
            <a:srgbClr val="1E2A3B"/>
          </a:solidFill>
          <a:ln w="1905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056BB28-5FBA-4FE3-9A65-AECFF6DAF4E6}"/>
              </a:ext>
            </a:extLst>
          </p:cNvPr>
          <p:cNvSpPr>
            <a:spLocks noGrp="1"/>
          </p:cNvSpPr>
          <p:nvPr/>
        </p:nvSpPr>
        <p:spPr>
          <a:xfrm>
            <a:off x="3218688" y="1261872"/>
            <a:ext cx="27432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BCC3A4-3618-4A10-9B87-6B02A719FEDC}"/>
              </a:ext>
            </a:extLst>
          </p:cNvPr>
          <p:cNvSpPr>
            <a:spLocks noGrp="1"/>
          </p:cNvSpPr>
          <p:nvPr/>
        </p:nvSpPr>
        <p:spPr>
          <a:xfrm>
            <a:off x="3218688" y="12618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PREVIEW: v3.1</a:t>
            </a:r>
            <a:endParaRPr sz="11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D0E357E-055F-467F-8701-3AFDBF7892ED}"/>
              </a:ext>
            </a:extLst>
          </p:cNvPr>
          <p:cNvSpPr>
            <a:spLocks noGrp="1"/>
          </p:cNvSpPr>
          <p:nvPr/>
        </p:nvSpPr>
        <p:spPr>
          <a:xfrm>
            <a:off x="3419856" y="188366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6D8FF90-5253-4895-BB71-FCEB0F707BA4}"/>
              </a:ext>
            </a:extLst>
          </p:cNvPr>
          <p:cNvSpPr>
            <a:spLocks noGrp="1"/>
          </p:cNvSpPr>
          <p:nvPr/>
        </p:nvSpPr>
        <p:spPr>
          <a:xfrm>
            <a:off x="3675888" y="182880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Project presets</a:t>
            </a:r>
            <a:endParaRPr sz="10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565C16F-AC51-4252-B86A-E52BEF52FE21}"/>
              </a:ext>
            </a:extLst>
          </p:cNvPr>
          <p:cNvSpPr>
            <a:spLocks noGrp="1"/>
          </p:cNvSpPr>
          <p:nvPr/>
        </p:nvSpPr>
        <p:spPr>
          <a:xfrm>
            <a:off x="3419856" y="235915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A2E4006-3D47-4C88-B018-176782E009B4}"/>
              </a:ext>
            </a:extLst>
          </p:cNvPr>
          <p:cNvSpPr>
            <a:spLocks noGrp="1"/>
          </p:cNvSpPr>
          <p:nvPr/>
        </p:nvSpPr>
        <p:spPr>
          <a:xfrm>
            <a:off x="3675888" y="230428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Privacy-safe diagnostics</a:t>
            </a:r>
            <a:endParaRPr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F773F59-605A-4500-99D7-50CDFB94A037}"/>
              </a:ext>
            </a:extLst>
          </p:cNvPr>
          <p:cNvSpPr>
            <a:spLocks noGrp="1"/>
          </p:cNvSpPr>
          <p:nvPr/>
        </p:nvSpPr>
        <p:spPr>
          <a:xfrm>
            <a:off x="3419856" y="28346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6F25B76-17F6-4E13-B4E0-BEB4AA60FA1D}"/>
              </a:ext>
            </a:extLst>
          </p:cNvPr>
          <p:cNvSpPr>
            <a:spLocks noGrp="1"/>
          </p:cNvSpPr>
          <p:nvPr/>
        </p:nvSpPr>
        <p:spPr>
          <a:xfrm>
            <a:off x="3675888" y="277977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HD brand assets</a:t>
            </a:r>
            <a:endParaRPr sz="10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EB57B31-6CD7-4182-A91A-64A380ACEA66}"/>
              </a:ext>
            </a:extLst>
          </p:cNvPr>
          <p:cNvSpPr>
            <a:spLocks noGrp="1"/>
          </p:cNvSpPr>
          <p:nvPr/>
        </p:nvSpPr>
        <p:spPr>
          <a:xfrm>
            <a:off x="3419856" y="331012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274ABC7-D419-4E49-B0F1-723C3B27B80E}"/>
              </a:ext>
            </a:extLst>
          </p:cNvPr>
          <p:cNvSpPr>
            <a:spLocks noGrp="1"/>
          </p:cNvSpPr>
          <p:nvPr/>
        </p:nvSpPr>
        <p:spPr>
          <a:xfrm>
            <a:off x="3675888" y="325526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Code-signing workflow ready</a:t>
            </a:r>
            <a:endParaRPr sz="10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C045525-398C-451C-B3A6-3878BA910491}"/>
              </a:ext>
            </a:extLst>
          </p:cNvPr>
          <p:cNvSpPr>
            <a:spLocks noGrp="1"/>
          </p:cNvSpPr>
          <p:nvPr/>
        </p:nvSpPr>
        <p:spPr>
          <a:xfrm>
            <a:off x="6163056" y="1261872"/>
            <a:ext cx="2743200" cy="3639312"/>
          </a:xfrm>
          <a:prstGeom prst="rect">
            <a:avLst/>
          </a:prstGeom>
          <a:solidFill>
            <a:srgbClr val="1E2A3B"/>
          </a:solidFill>
          <a:ln w="1905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A87F834-351E-44B8-BC1F-07F47C21ED3B}"/>
              </a:ext>
            </a:extLst>
          </p:cNvPr>
          <p:cNvSpPr>
            <a:spLocks noGrp="1"/>
          </p:cNvSpPr>
          <p:nvPr/>
        </p:nvSpPr>
        <p:spPr>
          <a:xfrm>
            <a:off x="6163056" y="1261872"/>
            <a:ext cx="274320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C858FF2-8359-45A0-9116-1E06D597A551}"/>
              </a:ext>
            </a:extLst>
          </p:cNvPr>
          <p:cNvSpPr>
            <a:spLocks noGrp="1"/>
          </p:cNvSpPr>
          <p:nvPr/>
        </p:nvSpPr>
        <p:spPr>
          <a:xfrm>
            <a:off x="6163056" y="12618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NEXT: MANAGED ROLLOUT</a:t>
            </a:r>
            <a:endParaRPr sz="11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8007DA8-8B64-41F8-A04E-B966796490D9}"/>
              </a:ext>
            </a:extLst>
          </p:cNvPr>
          <p:cNvSpPr>
            <a:spLocks noGrp="1"/>
          </p:cNvSpPr>
          <p:nvPr/>
        </p:nvSpPr>
        <p:spPr>
          <a:xfrm>
            <a:off x="6364224" y="1883664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55119C9-3CA4-42AA-A92E-8A80BAD85F16}"/>
              </a:ext>
            </a:extLst>
          </p:cNvPr>
          <p:cNvSpPr>
            <a:spLocks noGrp="1"/>
          </p:cNvSpPr>
          <p:nvPr/>
        </p:nvSpPr>
        <p:spPr>
          <a:xfrm>
            <a:off x="6620256" y="182880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Organisation certificate signing</a:t>
            </a:r>
            <a:endParaRPr sz="105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597D391-AFD9-47AF-A6AE-9A556213A7AD}"/>
              </a:ext>
            </a:extLst>
          </p:cNvPr>
          <p:cNvSpPr>
            <a:spLocks noGrp="1"/>
          </p:cNvSpPr>
          <p:nvPr/>
        </p:nvSpPr>
        <p:spPr>
          <a:xfrm>
            <a:off x="6364224" y="2359152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AE7C3C7-A078-488D-A131-2B649D6B80BC}"/>
              </a:ext>
            </a:extLst>
          </p:cNvPr>
          <p:cNvSpPr>
            <a:spLocks noGrp="1"/>
          </p:cNvSpPr>
          <p:nvPr/>
        </p:nvSpPr>
        <p:spPr>
          <a:xfrm>
            <a:off x="6620256" y="230428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IT and security acceptance</a:t>
            </a:r>
            <a:endParaRPr sz="105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B7431C8-C5C0-42C4-B7A2-F5DA05E2162A}"/>
              </a:ext>
            </a:extLst>
          </p:cNvPr>
          <p:cNvSpPr>
            <a:spLocks noGrp="1"/>
          </p:cNvSpPr>
          <p:nvPr/>
        </p:nvSpPr>
        <p:spPr>
          <a:xfrm>
            <a:off x="6364224" y="283464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2585031-15AD-4354-90F1-77231BC7ADC0}"/>
              </a:ext>
            </a:extLst>
          </p:cNvPr>
          <p:cNvSpPr>
            <a:spLocks noGrp="1"/>
          </p:cNvSpPr>
          <p:nvPr/>
        </p:nvSpPr>
        <p:spPr>
          <a:xfrm>
            <a:off x="6620256" y="277977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Benchmark on target devices</a:t>
            </a:r>
            <a:endParaRPr sz="105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CC1F758-AE50-42D6-BF44-64013095AF26}"/>
              </a:ext>
            </a:extLst>
          </p:cNvPr>
          <p:cNvSpPr>
            <a:spLocks noGrp="1"/>
          </p:cNvSpPr>
          <p:nvPr/>
        </p:nvSpPr>
        <p:spPr>
          <a:xfrm>
            <a:off x="6364224" y="331012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DD532DE-23C8-43A1-8769-0C101F62E02F}"/>
              </a:ext>
            </a:extLst>
          </p:cNvPr>
          <p:cNvSpPr>
            <a:spLocks noGrp="1"/>
          </p:cNvSpPr>
          <p:nvPr/>
        </p:nvSpPr>
        <p:spPr>
          <a:xfrm>
            <a:off x="6620256" y="325526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Installer, updates and support owner</a:t>
            </a:r>
            <a:endParaRPr sz="1050"/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6187FD7-B1DE-41DC-935C-E1806D566202}"/>
              </a:ext>
            </a:extLst>
          </p:cNvPr>
          <p:cNvSpPr>
            <a:spLocks noGrp="1"/>
          </p:cNvSpPr>
          <p:nvPr/>
        </p:nvSpPr>
        <p:spPr>
          <a:xfrm>
            <a:off x="409575" y="4848225"/>
            <a:ext cx="876300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F1F5F9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MergeGuru</a:t>
            </a:r>
          </a:p>
        </p:txBody>
      </p:sp>
    </p:spTree>
    <p:extLst>
      <p:ext uri="{BB962C8B-B14F-4D97-AF65-F5344CB8AC3E}">
        <p14:creationId xmlns:p14="http://schemas.microsoft.com/office/powerpoint/2010/main" val="148512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8E87C3-FCAC-420E-8914-CA4472A68006}"/>
              </a:ext>
            </a:extLst>
          </p:cNvPr>
          <p:cNvSpPr>
            <a:spLocks noGrp="1"/>
          </p:cNvSpPr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9B443E-0E3C-4053-B34D-E75DE23FCBA3}"/>
              </a:ext>
            </a:extLst>
          </p:cNvPr>
          <p:cNvSpPr>
            <a:spLocks noGrp="1"/>
          </p:cNvSpPr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Proposed Pilot</a:t>
            </a:r>
            <a:endParaRPr sz="3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849664-2F17-4210-9BF3-53F2D05B90F6}"/>
              </a:ext>
            </a:extLst>
          </p:cNvPr>
          <p:cNvSpPr>
            <a:spLocks noGrp="1"/>
          </p:cNvSpPr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Prove one recurring workflow before broader rollout.</a:t>
            </a:r>
            <a:endParaRPr sz="1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6AC029-4469-46AE-B82C-8BAA4BB4E7D9}"/>
              </a:ext>
            </a:extLst>
          </p:cNvPr>
          <p:cNvSpPr>
            <a:spLocks noGrp="1"/>
          </p:cNvSpPr>
          <p:nvPr/>
        </p:nvSpPr>
        <p:spPr>
          <a:xfrm>
            <a:off x="274320" y="1261872"/>
            <a:ext cx="2743200" cy="3639312"/>
          </a:xfrm>
          <a:prstGeom prst="rect">
            <a:avLst/>
          </a:prstGeom>
          <a:solidFill>
            <a:srgbClr val="1E2A3B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303311-9072-4E75-9AF5-12D84C31ADA6}"/>
              </a:ext>
            </a:extLst>
          </p:cNvPr>
          <p:cNvSpPr>
            <a:spLocks noGrp="1"/>
          </p:cNvSpPr>
          <p:nvPr/>
        </p:nvSpPr>
        <p:spPr>
          <a:xfrm>
            <a:off x="274320" y="1261872"/>
            <a:ext cx="27432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FB4D76-914B-4EF7-A5CD-9EE04885D5DB}"/>
              </a:ext>
            </a:extLst>
          </p:cNvPr>
          <p:cNvSpPr>
            <a:spLocks noGrp="1"/>
          </p:cNvSpPr>
          <p:nvPr/>
        </p:nvSpPr>
        <p:spPr>
          <a:xfrm>
            <a:off x="274320" y="12618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SCOPE: 2 TO 4 WEEKS</a:t>
            </a:r>
            <a:endParaRPr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F1EB7C9-CF7D-4F2E-B337-672372577E82}"/>
              </a:ext>
            </a:extLst>
          </p:cNvPr>
          <p:cNvSpPr>
            <a:spLocks noGrp="1"/>
          </p:cNvSpPr>
          <p:nvPr/>
        </p:nvSpPr>
        <p:spPr>
          <a:xfrm>
            <a:off x="475488" y="1883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31DD417-112E-407C-9B0D-49B680727E3D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One recurring reporting process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D8A0562-5B4A-449D-B9F9-92790C7A5564}"/>
              </a:ext>
            </a:extLst>
          </p:cNvPr>
          <p:cNvSpPr>
            <a:spLocks noGrp="1"/>
          </p:cNvSpPr>
          <p:nvPr/>
        </p:nvSpPr>
        <p:spPr>
          <a:xfrm>
            <a:off x="475488" y="23591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68989-DB0F-442D-B783-AB88401E6900}"/>
              </a:ext>
            </a:extLst>
          </p:cNvPr>
          <p:cNvSpPr>
            <a:spLocks noGrp="1"/>
          </p:cNvSpPr>
          <p:nvPr/>
        </p:nvSpPr>
        <p:spPr>
          <a:xfrm>
            <a:off x="731520" y="230428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Representative source files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8DA9606-FB6F-45F6-8CC6-522645746DCF}"/>
              </a:ext>
            </a:extLst>
          </p:cNvPr>
          <p:cNvSpPr>
            <a:spLocks noGrp="1"/>
          </p:cNvSpPr>
          <p:nvPr/>
        </p:nvSpPr>
        <p:spPr>
          <a:xfrm>
            <a:off x="475488" y="28346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BC7DCA-12DF-432F-8BF4-6427283017E2}"/>
              </a:ext>
            </a:extLst>
          </p:cNvPr>
          <p:cNvSpPr>
            <a:spLocks noGrp="1"/>
          </p:cNvSpPr>
          <p:nvPr/>
        </p:nvSpPr>
        <p:spPr>
          <a:xfrm>
            <a:off x="731520" y="277977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Reference template and rules</a:t>
            </a:r>
            <a:endParaRPr sz="10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8621F12-037D-470E-B8D0-6F080F744823}"/>
              </a:ext>
            </a:extLst>
          </p:cNvPr>
          <p:cNvSpPr>
            <a:spLocks noGrp="1"/>
          </p:cNvSpPr>
          <p:nvPr/>
        </p:nvSpPr>
        <p:spPr>
          <a:xfrm>
            <a:off x="475488" y="33101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23791E-3C1E-47FF-B21A-2FA4A60AB258}"/>
              </a:ext>
            </a:extLst>
          </p:cNvPr>
          <p:cNvSpPr>
            <a:spLocks noGrp="1"/>
          </p:cNvSpPr>
          <p:nvPr/>
        </p:nvSpPr>
        <p:spPr>
          <a:xfrm>
            <a:off x="731520" y="325526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Named business owner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2129E8-1EC8-488E-8481-CEC5238ED734}"/>
              </a:ext>
            </a:extLst>
          </p:cNvPr>
          <p:cNvSpPr>
            <a:spLocks noGrp="1"/>
          </p:cNvSpPr>
          <p:nvPr/>
        </p:nvSpPr>
        <p:spPr>
          <a:xfrm>
            <a:off x="475488" y="37856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C3380B6-4A6B-4708-BBF5-E89646527212}"/>
              </a:ext>
            </a:extLst>
          </p:cNvPr>
          <p:cNvSpPr>
            <a:spLocks noGrp="1"/>
          </p:cNvSpPr>
          <p:nvPr/>
        </p:nvSpPr>
        <p:spPr>
          <a:xfrm>
            <a:off x="731520" y="3730752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Named IT and security reviewer</a:t>
            </a:r>
            <a:endParaRPr sz="10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BE79E68-9EA9-479F-A806-64C2EA945DB1}"/>
              </a:ext>
            </a:extLst>
          </p:cNvPr>
          <p:cNvSpPr>
            <a:spLocks noGrp="1"/>
          </p:cNvSpPr>
          <p:nvPr/>
        </p:nvSpPr>
        <p:spPr>
          <a:xfrm>
            <a:off x="475488" y="42611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88AEB8-B1E1-4183-A9AB-C0E487421631}"/>
              </a:ext>
            </a:extLst>
          </p:cNvPr>
          <p:cNvSpPr>
            <a:spLocks noGrp="1"/>
          </p:cNvSpPr>
          <p:nvPr/>
        </p:nvSpPr>
        <p:spPr>
          <a:xfrm>
            <a:off x="731520" y="420624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F1F5F9"/>
                </a:solidFill>
                <a:latin typeface="Trebuchet MS"/>
                <a:ea typeface="Trebuchet MS"/>
                <a:cs typeface="Trebuchet MS"/>
              </a:rPr>
              <a:t>Agreed output format</a:t>
            </a:r>
            <a:endParaRPr sz="10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DCEC8F4-56B7-4BCA-8F25-723B56898CD6}"/>
              </a:ext>
            </a:extLst>
          </p:cNvPr>
          <p:cNvSpPr>
            <a:spLocks noGrp="1"/>
          </p:cNvSpPr>
          <p:nvPr/>
        </p:nvSpPr>
        <p:spPr>
          <a:xfrm>
            <a:off x="3218688" y="1261872"/>
            <a:ext cx="2743200" cy="3639312"/>
          </a:xfrm>
          <a:prstGeom prst="rect">
            <a:avLst/>
          </a:prstGeom>
          <a:solidFill>
            <a:srgbClr val="1E2A3B"/>
          </a:solidFill>
          <a:ln w="1905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056BB28-5FBA-4FE3-9A65-AECFF6DAF4E6}"/>
              </a:ext>
            </a:extLst>
          </p:cNvPr>
          <p:cNvSpPr>
            <a:spLocks noGrp="1"/>
          </p:cNvSpPr>
          <p:nvPr/>
        </p:nvSpPr>
        <p:spPr>
          <a:xfrm>
            <a:off x="3218688" y="1261872"/>
            <a:ext cx="27432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BCC3A4-3618-4A10-9B87-6B02A719FEDC}"/>
              </a:ext>
            </a:extLst>
          </p:cNvPr>
          <p:cNvSpPr>
            <a:spLocks noGrp="1"/>
          </p:cNvSpPr>
          <p:nvPr/>
        </p:nvSpPr>
        <p:spPr>
          <a:xfrm>
            <a:off x="3218688" y="12618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MEASURE: BEFORE / AFTER</a:t>
            </a:r>
            <a:endParaRPr sz="11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D0E357E-055F-467F-8701-3AFDBF7892ED}"/>
              </a:ext>
            </a:extLst>
          </p:cNvPr>
          <p:cNvSpPr>
            <a:spLocks noGrp="1"/>
          </p:cNvSpPr>
          <p:nvPr/>
        </p:nvSpPr>
        <p:spPr>
          <a:xfrm>
            <a:off x="3419856" y="188366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6D8FF90-5253-4895-BB71-FCEB0F707BA4}"/>
              </a:ext>
            </a:extLst>
          </p:cNvPr>
          <p:cNvSpPr>
            <a:spLocks noGrp="1"/>
          </p:cNvSpPr>
          <p:nvPr/>
        </p:nvSpPr>
        <p:spPr>
          <a:xfrm>
            <a:off x="3675888" y="182880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End-to-end completion time</a:t>
            </a:r>
            <a:endParaRPr sz="10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565C16F-AC51-4252-B86A-E52BEF52FE21}"/>
              </a:ext>
            </a:extLst>
          </p:cNvPr>
          <p:cNvSpPr>
            <a:spLocks noGrp="1"/>
          </p:cNvSpPr>
          <p:nvPr/>
        </p:nvSpPr>
        <p:spPr>
          <a:xfrm>
            <a:off x="3419856" y="235915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A2E4006-3D47-4C88-B018-176782E009B4}"/>
              </a:ext>
            </a:extLst>
          </p:cNvPr>
          <p:cNvSpPr>
            <a:spLocks noGrp="1"/>
          </p:cNvSpPr>
          <p:nvPr/>
        </p:nvSpPr>
        <p:spPr>
          <a:xfrm>
            <a:off x="3675888" y="230428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Validation exceptions detected</a:t>
            </a:r>
            <a:endParaRPr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F773F59-605A-4500-99D7-50CDFB94A037}"/>
              </a:ext>
            </a:extLst>
          </p:cNvPr>
          <p:cNvSpPr>
            <a:spLocks noGrp="1"/>
          </p:cNvSpPr>
          <p:nvPr/>
        </p:nvSpPr>
        <p:spPr>
          <a:xfrm>
            <a:off x="3419856" y="28346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6F25B76-17F6-4E13-B4E0-BEB4AA60FA1D}"/>
              </a:ext>
            </a:extLst>
          </p:cNvPr>
          <p:cNvSpPr>
            <a:spLocks noGrp="1"/>
          </p:cNvSpPr>
          <p:nvPr/>
        </p:nvSpPr>
        <p:spPr>
          <a:xfrm>
            <a:off x="3675888" y="277977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Output row reconciliation</a:t>
            </a:r>
            <a:endParaRPr sz="10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EB57B31-6CD7-4182-A91A-64A380ACEA66}"/>
              </a:ext>
            </a:extLst>
          </p:cNvPr>
          <p:cNvSpPr>
            <a:spLocks noGrp="1"/>
          </p:cNvSpPr>
          <p:nvPr/>
        </p:nvSpPr>
        <p:spPr>
          <a:xfrm>
            <a:off x="3419856" y="331012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274ABC7-D419-4E49-B0F1-723C3B27B80E}"/>
              </a:ext>
            </a:extLst>
          </p:cNvPr>
          <p:cNvSpPr>
            <a:spLocks noGrp="1"/>
          </p:cNvSpPr>
          <p:nvPr/>
        </p:nvSpPr>
        <p:spPr>
          <a:xfrm>
            <a:off x="3675888" y="325526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Peak memory and failures</a:t>
            </a:r>
            <a:endParaRPr sz="10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C045525-398C-451C-B3A6-3878BA910491}"/>
              </a:ext>
            </a:extLst>
          </p:cNvPr>
          <p:cNvSpPr>
            <a:spLocks noGrp="1"/>
          </p:cNvSpPr>
          <p:nvPr/>
        </p:nvSpPr>
        <p:spPr>
          <a:xfrm>
            <a:off x="6163056" y="1261872"/>
            <a:ext cx="2743200" cy="3639312"/>
          </a:xfrm>
          <a:prstGeom prst="rect">
            <a:avLst/>
          </a:prstGeom>
          <a:solidFill>
            <a:srgbClr val="1E2A3B"/>
          </a:solidFill>
          <a:ln w="1905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A87F834-351E-44B8-BC1F-07F47C21ED3B}"/>
              </a:ext>
            </a:extLst>
          </p:cNvPr>
          <p:cNvSpPr>
            <a:spLocks noGrp="1"/>
          </p:cNvSpPr>
          <p:nvPr/>
        </p:nvSpPr>
        <p:spPr>
          <a:xfrm>
            <a:off x="6163056" y="1261872"/>
            <a:ext cx="274320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C858FF2-8359-45A0-9116-1E06D597A551}"/>
              </a:ext>
            </a:extLst>
          </p:cNvPr>
          <p:cNvSpPr>
            <a:spLocks noGrp="1"/>
          </p:cNvSpPr>
          <p:nvPr/>
        </p:nvSpPr>
        <p:spPr>
          <a:xfrm>
            <a:off x="6163056" y="126187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EXIT: GO / NO-GO</a:t>
            </a:r>
            <a:endParaRPr sz="11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8007DA8-8B64-41F8-A04E-B966796490D9}"/>
              </a:ext>
            </a:extLst>
          </p:cNvPr>
          <p:cNvSpPr>
            <a:spLocks noGrp="1"/>
          </p:cNvSpPr>
          <p:nvPr/>
        </p:nvSpPr>
        <p:spPr>
          <a:xfrm>
            <a:off x="6364224" y="1883664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55119C9-3CA4-42AA-A92E-8A80BAD85F16}"/>
              </a:ext>
            </a:extLst>
          </p:cNvPr>
          <p:cNvSpPr>
            <a:spLocks noGrp="1"/>
          </p:cNvSpPr>
          <p:nvPr/>
        </p:nvSpPr>
        <p:spPr>
          <a:xfrm>
            <a:off x="6620256" y="182880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Reproducible output</a:t>
            </a:r>
            <a:endParaRPr sz="105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597D391-AFD9-47AF-A6AE-9A556213A7AD}"/>
              </a:ext>
            </a:extLst>
          </p:cNvPr>
          <p:cNvSpPr>
            <a:spLocks noGrp="1"/>
          </p:cNvSpPr>
          <p:nvPr/>
        </p:nvSpPr>
        <p:spPr>
          <a:xfrm>
            <a:off x="6364224" y="2359152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AE7C3C7-A078-488D-A131-2B649D6B80BC}"/>
              </a:ext>
            </a:extLst>
          </p:cNvPr>
          <p:cNvSpPr>
            <a:spLocks noGrp="1"/>
          </p:cNvSpPr>
          <p:nvPr/>
        </p:nvSpPr>
        <p:spPr>
          <a:xfrm>
            <a:off x="6620256" y="230428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Security review complete</a:t>
            </a:r>
            <a:endParaRPr sz="105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B7431C8-C5C0-42C4-B7A2-F5DA05E2162A}"/>
              </a:ext>
            </a:extLst>
          </p:cNvPr>
          <p:cNvSpPr>
            <a:spLocks noGrp="1"/>
          </p:cNvSpPr>
          <p:nvPr/>
        </p:nvSpPr>
        <p:spPr>
          <a:xfrm>
            <a:off x="6364224" y="283464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2585031-15AD-4354-90F1-77231BC7ADC0}"/>
              </a:ext>
            </a:extLst>
          </p:cNvPr>
          <p:cNvSpPr>
            <a:spLocks noGrp="1"/>
          </p:cNvSpPr>
          <p:nvPr/>
        </p:nvSpPr>
        <p:spPr>
          <a:xfrm>
            <a:off x="6620256" y="277977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Signed deployment plan</a:t>
            </a:r>
            <a:endParaRPr sz="105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CC1F758-AE50-42D6-BF44-64013095AF26}"/>
              </a:ext>
            </a:extLst>
          </p:cNvPr>
          <p:cNvSpPr>
            <a:spLocks noGrp="1"/>
          </p:cNvSpPr>
          <p:nvPr/>
        </p:nvSpPr>
        <p:spPr>
          <a:xfrm>
            <a:off x="6364224" y="331012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DD532DE-23C8-43A1-8769-0C101F62E02F}"/>
              </a:ext>
            </a:extLst>
          </p:cNvPr>
          <p:cNvSpPr>
            <a:spLocks noGrp="1"/>
          </p:cNvSpPr>
          <p:nvPr/>
        </p:nvSpPr>
        <p:spPr>
          <a:xfrm>
            <a:off x="6620256" y="325526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4A3B8"/>
                </a:solidFill>
                <a:latin typeface="Trebuchet MS"/>
                <a:ea typeface="Trebuchet MS"/>
                <a:cs typeface="Trebuchet MS"/>
              </a:rPr>
              <a:t>Support owner confirmed</a:t>
            </a:r>
            <a:endParaRPr sz="1050"/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925" y="4810125"/>
            <a:ext cx="219075" cy="21907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D011C54-BB51-445A-A38A-3DD1FA9B3EE1}"/>
              </a:ext>
            </a:extLst>
          </p:cNvPr>
          <p:cNvSpPr>
            <a:spLocks noGrp="1"/>
          </p:cNvSpPr>
          <p:nvPr/>
        </p:nvSpPr>
        <p:spPr>
          <a:xfrm>
            <a:off x="409575" y="4848225"/>
            <a:ext cx="876300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>
                <a:solidFill>
                  <a:srgbClr val="F1F5F9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1F5F9"/>
                </a:solidFill>
                <a:latin typeface="Montserrat"/>
                <a:ea typeface="Montserrat"/>
                <a:cs typeface="Montserrat"/>
              </a:rPr>
              <a:t>MergeGuru</a:t>
            </a:r>
          </a:p>
        </p:txBody>
      </p:sp>
    </p:spTree>
    <p:extLst>
      <p:ext uri="{BB962C8B-B14F-4D97-AF65-F5344CB8AC3E}">
        <p14:creationId xmlns:p14="http://schemas.microsoft.com/office/powerpoint/2010/main" val="148512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23">
            <a:extLst>
              <a:ext uri="{FF2B5EF4-FFF2-40B4-BE49-F238E27FC236}">
                <a16:creationId xmlns:a16="http://schemas.microsoft.com/office/drawing/2014/main" id="{01AAB4E9-16C4-730D-E503-65FB38325D73}"/>
              </a:ext>
            </a:extLst>
          </p:cNvPr>
          <p:cNvSpPr>
            <a:spLocks noGrp="1"/>
          </p:cNvSpPr>
          <p:nvPr/>
        </p:nvSpPr>
        <p:spPr>
          <a:xfrm>
            <a:off x="3771900" y="1924050"/>
            <a:ext cx="3662246" cy="7048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Merge</a:t>
            </a:r>
            <a:r>
              <a:rPr sz="4400" b="1" dirty="0" err="1">
                <a:solidFill>
                  <a:srgbClr val="2563EB"/>
                </a:solidFill>
                <a:latin typeface="Arial Black"/>
                <a:ea typeface="Arial Black"/>
                <a:cs typeface="Arial Black"/>
              </a:rPr>
              <a:t>Guru</a:t>
            </a:r>
            <a:endParaRPr sz="4400" dirty="0">
              <a:solidFill>
                <a:srgbClr val="2563EB"/>
              </a:solidFill>
            </a:endParaRPr>
          </a:p>
        </p:txBody>
      </p:sp>
      <p:sp>
        <p:nvSpPr>
          <p:cNvPr id="58" name="Text 0">
            <a:extLst>
              <a:ext uri="{FF2B5EF4-FFF2-40B4-BE49-F238E27FC236}">
                <a16:creationId xmlns:a16="http://schemas.microsoft.com/office/drawing/2014/main" id="{E995508D-4193-E778-D7B2-A5C89BF920E5}"/>
              </a:ext>
            </a:extLst>
          </p:cNvPr>
          <p:cNvSpPr>
            <a:spLocks noGrp="1"/>
          </p:cNvSpPr>
          <p:nvPr/>
        </p:nvSpPr>
        <p:spPr>
          <a:xfrm>
            <a:off x="3204587" y="2914650"/>
            <a:ext cx="2734826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Thank You</a:t>
            </a:r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583555B2-5C87-BEED-734A-A491FF2587AC}"/>
              </a:ext>
            </a:extLst>
          </p:cNvPr>
          <p:cNvSpPr>
            <a:spLocks noGrp="1"/>
          </p:cNvSpPr>
          <p:nvPr/>
        </p:nvSpPr>
        <p:spPr>
          <a:xfrm>
            <a:off x="457199" y="485265"/>
            <a:ext cx="2811863" cy="292608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175">
            <a:solidFill>
              <a:srgbClr val="0070C0"/>
            </a:solidFill>
            <a:prstDash val="dash"/>
          </a:ln>
        </p:spPr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A8F08F88-53D9-3B90-C6DD-C6E814A4EAB5}"/>
              </a:ext>
            </a:extLst>
          </p:cNvPr>
          <p:cNvSpPr>
            <a:spLocks noGrp="1"/>
          </p:cNvSpPr>
          <p:nvPr/>
        </p:nvSpPr>
        <p:spPr>
          <a:xfrm>
            <a:off x="457200" y="485265"/>
            <a:ext cx="2811864" cy="292608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9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From Folder Chaos to </a:t>
            </a:r>
            <a:r>
              <a:rPr sz="90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Trusted Data</a:t>
            </a:r>
            <a:r>
              <a:rPr sz="90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24150" y="1809750"/>
            <a:ext cx="876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0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1473</Words>
  <Application>Microsoft Office PowerPoint</Application>
  <DocSecurity>0</DocSecurity>
  <PresentationFormat>On-screen Show (16:9)</PresentationFormat>
  <Paragraphs>360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Arial Black</vt:lpstr>
      <vt:lpstr>Bahnschrift Condensed</vt:lpstr>
      <vt:lpstr>Bebas Neue</vt:lpstr>
      <vt:lpstr>Calibri</vt:lpstr>
      <vt:lpstr>Consolas</vt:lpstr>
      <vt:lpstr>Montserrat</vt:lpstr>
      <vt:lpstr>Rubik Black</vt:lpstr>
      <vt:lpstr>Segoe UI Symbol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Deepak S</cp:lastModifiedBy>
  <cp:revision>1</cp:revision>
  <dcterms:created xsi:type="dcterms:W3CDTF">2026-10-05T19:25:39Z</dcterms:created>
  <dcterms:modified xsi:type="dcterms:W3CDTF">2026-10-05T19:34:51Z</dcterms:modified>
</cp:coreProperties>
</file>