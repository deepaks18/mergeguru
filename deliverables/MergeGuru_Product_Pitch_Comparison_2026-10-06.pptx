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1ce27efa094006" /><Relationship Type="http://schemas.openxmlformats.org/officeDocument/2006/relationships/extended-properties" Target="/docProps/app.xml" Id="R096de2da550640b1" /><Relationship Type="http://schemas.openxmlformats.org/officeDocument/2006/relationships/officeDocument" Target="/ppt/presentation.xml" Id="R520be65ad8b74ff6" /></Relationships>
</file>

<file path=ppt/presentation.xml><?xml version="1.0" encoding="utf-8"?>
<p:presentation xmlns:p="http://schemas.openxmlformats.org/presentationml/2006/main">
  <p:sldMasterIdLst>
    <p:sldMasterId xmlns:r="http://schemas.openxmlformats.org/officeDocument/2006/relationships" id="2147483648" r:id="R8d41987e87e241d3"/>
  </p:sldMasterIdLst>
  <p:notesMasterIdLst>
    <p:notesMasterId xmlns:r="http://schemas.openxmlformats.org/officeDocument/2006/relationships" r:id="R8948d84f071446c3"/>
  </p:notesMasterIdLst>
  <p:sldIdLst>
    <p:sldId xmlns:r="http://schemas.openxmlformats.org/officeDocument/2006/relationships" id="256" r:id="Ra8350ce5230e469d"/>
    <p:sldId xmlns:r="http://schemas.openxmlformats.org/officeDocument/2006/relationships" id="257" r:id="Reaabca12fefc460d"/>
    <p:sldId xmlns:r="http://schemas.openxmlformats.org/officeDocument/2006/relationships" id="258" r:id="Rb8a6b71cf22c4596"/>
    <p:sldId xmlns:r="http://schemas.openxmlformats.org/officeDocument/2006/relationships" id="259" r:id="R40006cea73c14986"/>
    <p:sldId xmlns:r="http://schemas.openxmlformats.org/officeDocument/2006/relationships" id="260" r:id="Rcbd5e98353f04aa5"/>
    <p:sldId xmlns:r="http://schemas.openxmlformats.org/officeDocument/2006/relationships" id="261" r:id="Rb04a58c97de2485d"/>
    <p:sldId xmlns:r="http://schemas.openxmlformats.org/officeDocument/2006/relationships" id="262" r:id="Rb4257f9788054a85"/>
    <p:sldId xmlns:r="http://schemas.openxmlformats.org/officeDocument/2006/relationships" id="263" r:id="Ra0db86452763408b"/>
    <p:sldId xmlns:r="http://schemas.openxmlformats.org/officeDocument/2006/relationships" id="264" r:id="R26da043fc1e74467"/>
    <p:sldId xmlns:r="http://schemas.openxmlformats.org/officeDocument/2006/relationships" id="265" r:id="Rcf0368b3850f40b2"/>
    <p:sldId xmlns:r="http://schemas.openxmlformats.org/officeDocument/2006/relationships" id="266" r:id="Rf76328df8e9e4989"/>
    <p:sldId xmlns:r="http://schemas.openxmlformats.org/officeDocument/2006/relationships" id="267" r:id="R7b55e9c9ae1f4e15"/>
    <p:sldId xmlns:r="http://schemas.openxmlformats.org/officeDocument/2006/relationships" id="268" r:id="R4327821265054b5a"/>
    <p:sldId xmlns:r="http://schemas.openxmlformats.org/officeDocument/2006/relationships" id="269" r:id="R8762b4cbbf4741ee"/>
    <p:sldId xmlns:r="http://schemas.openxmlformats.org/officeDocument/2006/relationships" id="270" r:id="R20bbbe56c315496f"/>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d1986646c284b0f" /><Relationship Type="http://schemas.openxmlformats.org/officeDocument/2006/relationships/slideMaster" Target="/ppt/slideMasters/slideMaster1.xml" Id="R8d41987e87e241d3" /><Relationship Type="http://schemas.openxmlformats.org/officeDocument/2006/relationships/notesMaster" Target="/ppt/notesMasters/notesMaster1.xml" Id="R8948d84f071446c3" /><Relationship Type="http://schemas.openxmlformats.org/officeDocument/2006/relationships/presProps" Target="/ppt/presProps.xml" Id="R25964411b4ed4ed7" /><Relationship Type="http://schemas.openxmlformats.org/officeDocument/2006/relationships/viewProps" Target="/ppt/viewProps.xml" Id="R103aecdc8b4e450c" /><Relationship Type="http://schemas.openxmlformats.org/officeDocument/2006/relationships/tableStyles" Target="/ppt/tableStyles.xml" Id="R8049c5165b8947bc" /><Relationship Type="http://schemas.openxmlformats.org/officeDocument/2006/relationships/slide" Target="/ppt/slides/slide1.xml" Id="Ra8350ce5230e469d" /><Relationship Type="http://schemas.openxmlformats.org/officeDocument/2006/relationships/slide" Target="/ppt/slides/slide2.xml" Id="Reaabca12fefc460d" /><Relationship Type="http://schemas.openxmlformats.org/officeDocument/2006/relationships/slide" Target="/ppt/slides/slide3.xml" Id="Rb8a6b71cf22c4596" /><Relationship Type="http://schemas.openxmlformats.org/officeDocument/2006/relationships/slide" Target="/ppt/slides/slide4.xml" Id="R40006cea73c14986" /><Relationship Type="http://schemas.openxmlformats.org/officeDocument/2006/relationships/slide" Target="/ppt/slides/slide5.xml" Id="Rcbd5e98353f04aa5" /><Relationship Type="http://schemas.openxmlformats.org/officeDocument/2006/relationships/slide" Target="/ppt/slides/slide6.xml" Id="Rb04a58c97de2485d" /><Relationship Type="http://schemas.openxmlformats.org/officeDocument/2006/relationships/slide" Target="/ppt/slides/slide7.xml" Id="Rb4257f9788054a85" /><Relationship Type="http://schemas.openxmlformats.org/officeDocument/2006/relationships/slide" Target="/ppt/slides/slide8.xml" Id="Ra0db86452763408b" /><Relationship Type="http://schemas.openxmlformats.org/officeDocument/2006/relationships/slide" Target="/ppt/slides/slide9.xml" Id="R26da043fc1e74467" /><Relationship Type="http://schemas.openxmlformats.org/officeDocument/2006/relationships/slide" Target="/ppt/slides/slide10.xml" Id="Rcf0368b3850f40b2" /><Relationship Type="http://schemas.openxmlformats.org/officeDocument/2006/relationships/slide" Target="/ppt/slides/slide11.xml" Id="Rf76328df8e9e4989" /><Relationship Type="http://schemas.openxmlformats.org/officeDocument/2006/relationships/slide" Target="/ppt/slides/slide12.xml" Id="R7b55e9c9ae1f4e15" /><Relationship Type="http://schemas.openxmlformats.org/officeDocument/2006/relationships/slide" Target="/ppt/slides/slide13.xml" Id="R4327821265054b5a" /><Relationship Type="http://schemas.openxmlformats.org/officeDocument/2006/relationships/slide" Target="/ppt/slides/slide14.xml" Id="R8762b4cbbf4741ee" /><Relationship Type="http://schemas.openxmlformats.org/officeDocument/2006/relationships/slide" Target="/ppt/slides/slide15.xml" Id="R20bbbe56c31549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9884cf7f8a44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59eda980ae409a" /><Relationship Type="http://schemas.openxmlformats.org/officeDocument/2006/relationships/notesMaster" Target="/ppt/notesMasters/notesMaster1.xml" Id="Re93379f61a4749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69ce2d51ed441c" /><Relationship Type="http://schemas.openxmlformats.org/officeDocument/2006/relationships/notesMaster" Target="/ppt/notesMasters/notesMaster1.xml" Id="Rdba28f6e4bb442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f1de505c37449f" /><Relationship Type="http://schemas.openxmlformats.org/officeDocument/2006/relationships/notesMaster" Target="/ppt/notesMasters/notesMaster1.xml" Id="R83213c163e8f4a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0618d35dc94e51" /><Relationship Type="http://schemas.openxmlformats.org/officeDocument/2006/relationships/notesMaster" Target="/ppt/notesMasters/notesMaster1.xml" Id="Re271bdb5e7e244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b3150dc8214a37" /><Relationship Type="http://schemas.openxmlformats.org/officeDocument/2006/relationships/notesMaster" Target="/ppt/notesMasters/notesMaster1.xml" Id="Ra8e134aaa3d943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951a2b82434917" /><Relationship Type="http://schemas.openxmlformats.org/officeDocument/2006/relationships/notesMaster" Target="/ppt/notesMasters/notesMaster1.xml" Id="Rc8b078b7db0c44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868e0710034207" /><Relationship Type="http://schemas.openxmlformats.org/officeDocument/2006/relationships/notesMaster" Target="/ppt/notesMasters/notesMaster1.xml" Id="R0f85c146111e48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6584d84a9d4b57" /><Relationship Type="http://schemas.openxmlformats.org/officeDocument/2006/relationships/notesMaster" Target="/ppt/notesMasters/notesMaster1.xml" Id="Rc4e51687353944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03359c32cd479a" /><Relationship Type="http://schemas.openxmlformats.org/officeDocument/2006/relationships/notesMaster" Target="/ppt/notesMasters/notesMaster1.xml" Id="R9fe15a195ac34e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91984ce0ee44e9" /><Relationship Type="http://schemas.openxmlformats.org/officeDocument/2006/relationships/notesMaster" Target="/ppt/notesMasters/notesMaster1.xml" Id="R2f4c9865dd2a4f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b99e4d0a0442f3" /><Relationship Type="http://schemas.openxmlformats.org/officeDocument/2006/relationships/notesMaster" Target="/ppt/notesMasters/notesMaster1.xml" Id="Rd3bfd86337f346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ba78a313df432c" /><Relationship Type="http://schemas.openxmlformats.org/officeDocument/2006/relationships/notesMaster" Target="/ppt/notesMasters/notesMaster1.xml" Id="R6fcf2d3442984f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232a27498e4377" /><Relationship Type="http://schemas.openxmlformats.org/officeDocument/2006/relationships/notesMaster" Target="/ppt/notesMasters/notesMaster1.xml" Id="R68a3ec6904004f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6095463a3342e1" /><Relationship Type="http://schemas.openxmlformats.org/officeDocument/2006/relationships/notesMaster" Target="/ppt/notesMasters/notesMaster1.xml" Id="R4f47f4cceae041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001a057b604e35" /><Relationship Type="http://schemas.openxmlformats.org/officeDocument/2006/relationships/notesMaster" Target="/ppt/notesMasters/notesMaster1.xml" Id="R9dc777e187474a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Management pitch revised 6 October 2026. Numeric performance and reliability claims were removed pending a controlled benchmark on target hardware.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KPMG Ireland, Impact of data risk: https://kpmg.com/ie/en/insights/consulting/impact-of-data-risk.html (accessed 6 October 2026). The 58% figure refers to surveyed organisations reporting key decisions based on inaccurate or inconsistent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revision removes unverified 20x, reliability and crash claims. Microsoft documents that Power Query memory limits depend on Office bitness and available virtual memory: https://support.microsoft.com/en-us/excel/power-query-specifications-and-limits-in-excel. Run a controlled benchmark on the target devices before making comparative performance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scores count only the eight workflow controls shown on this slide. A check means the control is available in the stated method without building custom logic for this use case. A warning means setup, query design, scripting, add-ins or manual process controls may reproduce the capability. This is not a speed benchmark or a claim that MergeGuru has broader transformation capability than Power Query, VBA or Python. Microsoft documents that Power Query can combine folder files and uses query steps, with M available for advanced transformations: https://support.microsoft.com/en-gb/excel/import-data-from-a-folder-with-multiple-files-power-query and https://learn.microsoft.com/en-us/power-query/power-query-what-is-power-query. Accessed 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MergeGuru as purpose-built for recurring, same-layout Excel and CSV consolidation by business operators. Do not present it as universally superior. Power Query remains stronger for broad connectivity, transformation and analytical modeling. VBA or Python remains appropriate for highly bespoke automation. Enterprise ETL platforms remain appropriate for centrally scheduled, cross-system pipelines. Microsoft describes Power Query as a graphical data preparation engine that can connect, transform, combine and load data, with M available for advanced transformations: https://learn.microsoft.com/en-us/power-query/power-query-what-is-power-query. Microsoft also documents macro trust and signing controls: https://support.microsoft.com/en-us/excel/change-macro-security-settings-in-excel. Accessed 6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processing, no embedded macros and no built-in telemetry support security controls but do not establish GDPR, HIPAA, SOC 2, PCI DSS, NIST CSF or ISO 27001 compliance. Security still depends on endpoint hardening, OS permissions, destination-folder policy, dependency review, code signing and organisational procedures. The v3.1 preview includes a signing workflow, but the executable remains unsigned until the organisation supplies a certificate.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pilot structure. Confirm the 2 to 4 week duration, owners and success thresholds with management before presenting this as a committed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30911c4c724f3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04a37bc1da45c0" /><Relationship Type="http://schemas.openxmlformats.org/officeDocument/2006/relationships/slideLayout" Target="/ppt/slideLayouts/slideLayout1.xml" Id="R6a25ab72fe0641e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25ab72fe0641e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bdecc4a04845b0" /><Relationship Type="http://schemas.openxmlformats.org/officeDocument/2006/relationships/image" Target="/ppt/media/image.png" Id="R5e9ed4b8366f46ed" /><Relationship Type="http://schemas.openxmlformats.org/officeDocument/2006/relationships/notesSlide" Target="/ppt/notesSlides/notesSlide1.xml" Id="Rd6cf782978054c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da2ae1860a4934" /><Relationship Type="http://schemas.openxmlformats.org/officeDocument/2006/relationships/image" Target="/ppt/media/image2.png" Id="Rc4ceec65c7e04ccd" /><Relationship Type="http://schemas.openxmlformats.org/officeDocument/2006/relationships/image" Target="/ppt/media/image3.png" Id="R2fe13e39edf04daa" /><Relationship Type="http://schemas.openxmlformats.org/officeDocument/2006/relationships/image" Target="/ppt/media/image4.png" Id="R9f99d95e800b428f" /><Relationship Type="http://schemas.openxmlformats.org/officeDocument/2006/relationships/image" Target="/ppt/media/image.png" Id="R219831d500dd4563" /><Relationship Type="http://schemas.openxmlformats.org/officeDocument/2006/relationships/notesSlide" Target="/ppt/notesSlides/notesSlide2.xml" Id="Rdbfe024d80c145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3a146085344eb5" /><Relationship Type="http://schemas.openxmlformats.org/officeDocument/2006/relationships/image" Target="/ppt/media/image5.png" Id="R23f0c044e9d54ed2" /><Relationship Type="http://schemas.openxmlformats.org/officeDocument/2006/relationships/image" Target="/ppt/media/image6.png" Id="Rc4ed9726b1a44bb3" /><Relationship Type="http://schemas.openxmlformats.org/officeDocument/2006/relationships/image" Target="/ppt/media/image7.png" Id="Re1b4e3588a0a4cc0" /><Relationship Type="http://schemas.openxmlformats.org/officeDocument/2006/relationships/image" Target="/ppt/media/image8.png" Id="R10b0493a9e2f45f6" /><Relationship Type="http://schemas.openxmlformats.org/officeDocument/2006/relationships/image" Target="/ppt/media/image9.png" Id="R3b0e5b08edd647ba" /><Relationship Type="http://schemas.openxmlformats.org/officeDocument/2006/relationships/image" Target="/ppt/media/image10.png" Id="Rd273d519ffd2461e" /><Relationship Type="http://schemas.openxmlformats.org/officeDocument/2006/relationships/image" Target="/ppt/media/image.png" Id="Rc00e083c4e5045ab" /><Relationship Type="http://schemas.openxmlformats.org/officeDocument/2006/relationships/notesSlide" Target="/ppt/notesSlides/notesSlide3.xml" Id="R9da84253475745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b28b025d12426c" /><Relationship Type="http://schemas.openxmlformats.org/officeDocument/2006/relationships/image" Target="/ppt/media/image11.png" Id="Re3dc2f60f7e141d1" /><Relationship Type="http://schemas.openxmlformats.org/officeDocument/2006/relationships/image" Target="/ppt/media/image12.png" Id="Rec7e608910d84866" /><Relationship Type="http://schemas.openxmlformats.org/officeDocument/2006/relationships/image" Target="/ppt/media/image13.png" Id="R778613198cfd407b" /><Relationship Type="http://schemas.openxmlformats.org/officeDocument/2006/relationships/image" Target="/ppt/media/image14.png" Id="R318f0d0589904656" /><Relationship Type="http://schemas.openxmlformats.org/officeDocument/2006/relationships/image" Target="/ppt/media/image15.png" Id="R89a4f68b9b714d29" /><Relationship Type="http://schemas.openxmlformats.org/officeDocument/2006/relationships/image" Target="/ppt/media/image16.png" Id="R1040e6c1e6c14bcb" /><Relationship Type="http://schemas.openxmlformats.org/officeDocument/2006/relationships/image" Target="/ppt/media/image17.png" Id="R4aff66aef7ad4c09" /><Relationship Type="http://schemas.openxmlformats.org/officeDocument/2006/relationships/image" Target="/ppt/media/image18.png" Id="Rf275755967704404" /><Relationship Type="http://schemas.openxmlformats.org/officeDocument/2006/relationships/image" Target="/ppt/media/image19.png" Id="R7ef586b070f34ecd" /><Relationship Type="http://schemas.openxmlformats.org/officeDocument/2006/relationships/image" Target="/ppt/media/image.png" Id="Rb0939bec0a9a465c" /><Relationship Type="http://schemas.openxmlformats.org/officeDocument/2006/relationships/notesSlide" Target="/ppt/notesSlides/notesSlide4.xml" Id="R9c5c1e3d990e4f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d216ed60824b6b" /><Relationship Type="http://schemas.openxmlformats.org/officeDocument/2006/relationships/image" Target="/ppt/media/image20.png" Id="Rb986a122f2544df4" /><Relationship Type="http://schemas.openxmlformats.org/officeDocument/2006/relationships/image" Target="/ppt/media/image14.png" Id="Rd9097996bf2e4069" /><Relationship Type="http://schemas.openxmlformats.org/officeDocument/2006/relationships/image" Target="/ppt/media/image21.png" Id="Rf31c082bb60f4dd5" /><Relationship Type="http://schemas.openxmlformats.org/officeDocument/2006/relationships/image" Target="/ppt/media/image.svg" Id="R09ade507ae8144f3" /><Relationship Type="http://schemas.openxmlformats.org/officeDocument/2006/relationships/image" Target="/ppt/media/image.png" Id="R357e9ed9c1784f2d" /><Relationship Type="http://schemas.openxmlformats.org/officeDocument/2006/relationships/notesSlide" Target="/ppt/notesSlides/notesSlide5.xml" Id="R3d561bf353ee47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2119ec46324f83" /><Relationship Type="http://schemas.openxmlformats.org/officeDocument/2006/relationships/image" Target="/ppt/media/image15.png" Id="Rcce6115ef0dc4518" /><Relationship Type="http://schemas.openxmlformats.org/officeDocument/2006/relationships/image" Target="/ppt/media/image.png" Id="R361c690326e6404b" /><Relationship Type="http://schemas.openxmlformats.org/officeDocument/2006/relationships/notesSlide" Target="/ppt/notesSlides/notesSlide6.xml" Id="R914cd2741ce440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2b83ffa14d4891" /><Relationship Type="http://schemas.openxmlformats.org/officeDocument/2006/relationships/image" Target="/ppt/media/image22.png" Id="R963b3c138c6844a8" /><Relationship Type="http://schemas.openxmlformats.org/officeDocument/2006/relationships/image" Target="/ppt/media/image23.png" Id="R3e9ad50cbbc94dbd" /><Relationship Type="http://schemas.openxmlformats.org/officeDocument/2006/relationships/image" Target="/ppt/media/image24.png" Id="R949260839955498b" /><Relationship Type="http://schemas.openxmlformats.org/officeDocument/2006/relationships/image" Target="/ppt/media/image25.png" Id="Ra1917e3f0d964e0e" /><Relationship Type="http://schemas.openxmlformats.org/officeDocument/2006/relationships/image" Target="/ppt/media/image.png" Id="Rf4dcb31637ec4f55" /><Relationship Type="http://schemas.openxmlformats.org/officeDocument/2006/relationships/notesSlide" Target="/ppt/notesSlides/notesSlide7.xml" Id="R7d07ac434e4d43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fa2b5c2fb34f11" /><Relationship Type="http://schemas.openxmlformats.org/officeDocument/2006/relationships/image" Target="/ppt/media/image.png" Id="R1f8cfbdb38434d76" /><Relationship Type="http://schemas.openxmlformats.org/officeDocument/2006/relationships/notesSlide" Target="/ppt/notesSlides/notesSlide8.xml" Id="R4a9719d37ea944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99e4d7facf461f" /><Relationship Type="http://schemas.openxmlformats.org/officeDocument/2006/relationships/image" Target="/ppt/media/image26.png" Id="R0e3d5fab2566459e" /><Relationship Type="http://schemas.openxmlformats.org/officeDocument/2006/relationships/image" Target="/ppt/media/image27.png" Id="R9005691f8be340ae" /><Relationship Type="http://schemas.openxmlformats.org/officeDocument/2006/relationships/image" Target="/ppt/media/image28.png" Id="R50e86b3722324235" /><Relationship Type="http://schemas.openxmlformats.org/officeDocument/2006/relationships/image" Target="/ppt/media/image29.png" Id="R3f05781dee8841bc" /><Relationship Type="http://schemas.openxmlformats.org/officeDocument/2006/relationships/image" Target="/ppt/media/image.png" Id="R0ab69a9bc902429a" /><Relationship Type="http://schemas.openxmlformats.org/officeDocument/2006/relationships/notesSlide" Target="/ppt/notesSlides/notesSlide9.xml" Id="Rf1e13ec8eb444b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07bc6ffe174f8e" /><Relationship Type="http://schemas.openxmlformats.org/officeDocument/2006/relationships/image" Target="/ppt/media/image30.png" Id="R7b497139a613411c" /><Relationship Type="http://schemas.openxmlformats.org/officeDocument/2006/relationships/image" Target="/ppt/media/image3.png" Id="R8ccf030023d04ef4" /><Relationship Type="http://schemas.openxmlformats.org/officeDocument/2006/relationships/image" Target="/ppt/media/image31.png" Id="R6da0fdf2523c4d8d" /><Relationship Type="http://schemas.openxmlformats.org/officeDocument/2006/relationships/image" Target="/ppt/media/image17.png" Id="Rc4158e93cca44636" /><Relationship Type="http://schemas.openxmlformats.org/officeDocument/2006/relationships/image" Target="/ppt/media/image32.png" Id="Re20cdf4485414260" /><Relationship Type="http://schemas.openxmlformats.org/officeDocument/2006/relationships/image" Target="/ppt/media/image33.png" Id="R6c3228d1094644da" /><Relationship Type="http://schemas.openxmlformats.org/officeDocument/2006/relationships/image" Target="/ppt/media/image.png" Id="R1c7411f5ad8e48d5" /><Relationship Type="http://schemas.openxmlformats.org/officeDocument/2006/relationships/notesSlide" Target="/ppt/notesSlides/notesSlide10.xml" Id="R8770db93283b40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10261da33d4de7" /><Relationship Type="http://schemas.openxmlformats.org/officeDocument/2006/relationships/image" Target="/ppt/media/image34.png" Id="Rafea668776fb4db4" /><Relationship Type="http://schemas.openxmlformats.org/officeDocument/2006/relationships/image" Target="/ppt/media/image.png" Id="R8d8ca35470484ca5" /><Relationship Type="http://schemas.openxmlformats.org/officeDocument/2006/relationships/notesSlide" Target="/ppt/notesSlides/notesSlide11.xml" Id="R21ed1d39a1124d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0cb5759da04d46" /><Relationship Type="http://schemas.openxmlformats.org/officeDocument/2006/relationships/image" Target="/ppt/media/image26.png" Id="R67e74fa7b301457a" /><Relationship Type="http://schemas.openxmlformats.org/officeDocument/2006/relationships/image" Target="/ppt/media/image27.png" Id="Rdd00a425a0054250" /><Relationship Type="http://schemas.openxmlformats.org/officeDocument/2006/relationships/image" Target="/ppt/media/image28.png" Id="R7f731b9cedec40e0" /><Relationship Type="http://schemas.openxmlformats.org/officeDocument/2006/relationships/image" Target="/ppt/media/image29.png" Id="R567e939cbded45cf" /><Relationship Type="http://schemas.openxmlformats.org/officeDocument/2006/relationships/image" Target="/ppt/media/image.png" Id="R286ce9f911ad4b8d" /><Relationship Type="http://schemas.openxmlformats.org/officeDocument/2006/relationships/notesSlide" Target="/ppt/notesSlides/notesSlide12.xml" Id="R03cab094c35c4d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6abcaeb36df45ce" /><Relationship Type="http://schemas.openxmlformats.org/officeDocument/2006/relationships/image" Target="/ppt/media/image.png" Id="R5baf5f68b01d460b" /><Relationship Type="http://schemas.openxmlformats.org/officeDocument/2006/relationships/notesSlide" Target="/ppt/notesSlides/notesSlide13.xml" Id="R91c96b87d8f241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ec5ada432a94bf6" /><Relationship Type="http://schemas.openxmlformats.org/officeDocument/2006/relationships/image" Target="/ppt/media/image.png" Id="R9287308fa4904058" /><Relationship Type="http://schemas.openxmlformats.org/officeDocument/2006/relationships/notesSlide" Target="/ppt/notesSlides/notesSlide14.xml" Id="R65344ec5d7734c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11e15a6ecd47c1" /><Relationship Type="http://schemas.openxmlformats.org/officeDocument/2006/relationships/image" Target="/ppt/media/image.png" Id="R8e1bc0fbb6e64c68" /><Relationship Type="http://schemas.openxmlformats.org/officeDocument/2006/relationships/notesSlide" Target="/ppt/notesSlides/notesSlide15.xml" Id="R1fd85676da0e41ce" /></Relationships>
</file>

<file path=ppt/slides/slide1.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38C351C-2AAD-4770-9308-3DDC21E2FA63}"/>
              </a:ext>
            </a:extLst>
          </p:cNvPr>
          <p:cNvSpPr>
            <a:spLocks xmlns:a="http://schemas.openxmlformats.org/drawingml/2006/main" noGrp="1"/>
          </p:cNvSpPr>
          <p:nvPr/>
        </p:nvSpPr>
        <p:spPr>
          <a:xfrm xmlns:a="http://schemas.openxmlformats.org/drawingml/2006/main">
            <a:off x="5303520" y="-1371600"/>
            <a:ext cx="6400800" cy="6400800"/>
          </a:xfrm>
          <a:prstGeom xmlns:a="http://schemas.openxmlformats.org/drawingml/2006/main" prst="ellipse">
            <a:avLst/>
          </a:prstGeom>
          <a:solidFill xmlns:a="http://schemas.openxmlformats.org/drawingml/2006/main">
            <a:srgbClr val="1D3461">
              <a:alpha val="40000"/>
            </a:srgbClr>
          </a:solidFill>
          <a:ln xmlns:a="http://schemas.openxmlformats.org/drawingml/2006/main" w="12700">
            <a:solidFill>
              <a:srgbClr val="1D3461">
                <a:alpha val="40000"/>
              </a:srgbClr>
            </a:solidFill>
            <a:prstDash val="solid"/>
          </a:ln>
        </p:spPr>
      </p:sp>
      <p:sp>
        <p:nvSpPr>
          <p:cNvPr id="3" name="Shape 1">
            <a:extLst xmlns:a="http://schemas.openxmlformats.org/drawingml/2006/main">
              <a:ext uri="{FF2B5EF4-FFF2-40B4-BE49-F238E27FC236}">
                <a16:creationId xmlns:a16="http://schemas.microsoft.com/office/drawing/2014/main" id="{9ACB0947-8E33-4D38-9618-87686EE401AC}"/>
              </a:ext>
            </a:extLst>
          </p:cNvPr>
          <p:cNvSpPr>
            <a:spLocks xmlns:a="http://schemas.openxmlformats.org/drawingml/2006/main" noGrp="1"/>
          </p:cNvSpPr>
          <p:nvPr/>
        </p:nvSpPr>
        <p:spPr>
          <a:xfrm xmlns:a="http://schemas.openxmlformats.org/drawingml/2006/main">
            <a:off x="6238356" y="-752964"/>
            <a:ext cx="4114800" cy="4114800"/>
          </a:xfrm>
          <a:prstGeom xmlns:a="http://schemas.openxmlformats.org/drawingml/2006/main" prst="ellipse">
            <a:avLst/>
          </a:prstGeom>
          <a:solidFill xmlns:a="http://schemas.openxmlformats.org/drawingml/2006/main">
            <a:srgbClr val="2563EB">
              <a:alpha val="22000"/>
            </a:srgbClr>
          </a:solidFill>
          <a:ln xmlns:a="http://schemas.openxmlformats.org/drawingml/2006/main" w="12700">
            <a:solidFill>
              <a:srgbClr val="2563EB">
                <a:alpha val="22000"/>
              </a:srgbClr>
            </a:solidFill>
            <a:prstDash val="solid"/>
          </a:ln>
        </p:spPr>
      </p:sp>
      <p:sp>
        <p:nvSpPr>
          <p:cNvPr id="4" name="Shape 2">
            <a:extLst xmlns:a="http://schemas.openxmlformats.org/drawingml/2006/main">
              <a:ext uri="{FF2B5EF4-FFF2-40B4-BE49-F238E27FC236}">
                <a16:creationId xmlns:a16="http://schemas.microsoft.com/office/drawing/2014/main" id="{5B843071-B863-4F47-9D47-C7711138F49B}"/>
              </a:ext>
            </a:extLst>
          </p:cNvPr>
          <p:cNvSpPr>
            <a:spLocks xmlns:a="http://schemas.openxmlformats.org/drawingml/2006/main" noGrp="1"/>
          </p:cNvSpPr>
          <p:nvPr/>
        </p:nvSpPr>
        <p:spPr>
          <a:xfrm xmlns:a="http://schemas.openxmlformats.org/drawingml/2006/main" rot="-360000">
            <a:off x="5575259" y="274456"/>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243348"/>
            </a:solidFill>
            <a:prstDash val="solid"/>
          </a:ln>
          <a:effectLst xmlns:a="http://schemas.openxmlformats.org/drawingml/2006/main">
            <a:outerShdw blurRad="76200" dist="38100" dir="8100000" algn="bl" rotWithShape="0">
              <a:srgbClr val="000000">
                <a:alpha val="40000"/>
              </a:srgbClr>
            </a:outerShdw>
          </a:effectLst>
        </p:spPr>
        <p:txBody>
          <a:bodyPr xmlns:a="http://schemas.openxmlformats.org/drawingml/2006/main"/>
          <a:lstStyle xmlns:a="http://schemas.openxmlformats.org/drawingml/2006/main"/>
          <a:p xmlns:a="http://schemas.openxmlformats.org/drawingml/2006/main">
            <a:r>
              <a:rPr sz="1000">
                <a:solidFill>
                  <a:srgbClr val="94A3B8"/>
                </a:solidFill>
                <a:latin typeface="Consolas"/>
                <a:ea typeface="Consolas"/>
                <a:cs typeface="Consolas"/>
              </a:rPr>
              <a:t>Sales_Jan.xlsx</a:t>
            </a:r>
            <a:endParaRPr sz="1000"/>
          </a:p>
        </p:txBody>
      </p:sp>
      <p:sp>
        <p:nvSpPr>
          <p:cNvPr id="11" name="Text 9">
            <a:extLst xmlns:a="http://schemas.openxmlformats.org/drawingml/2006/main">
              <a:ext uri="{FF2B5EF4-FFF2-40B4-BE49-F238E27FC236}">
                <a16:creationId xmlns:a16="http://schemas.microsoft.com/office/drawing/2014/main" id="{946E4621-DE4B-4A15-A10A-D80601F438C9}"/>
              </a:ext>
            </a:extLst>
          </p:cNvPr>
          <p:cNvSpPr>
            <a:spLocks xmlns:a="http://schemas.openxmlformats.org/drawingml/2006/main" noGrp="1"/>
          </p:cNvSpPr>
          <p:nvPr/>
        </p:nvSpPr>
        <p:spPr>
          <a:xfrm xmlns:a="http://schemas.openxmlformats.org/drawingml/2006/main" rot="405614">
            <a:off x="7528688" y="1252121"/>
            <a:ext cx="162763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endParaRPr sz="750"/>
          </a:p>
        </p:txBody>
      </p:sp>
      <p:sp>
        <p:nvSpPr>
          <p:cNvPr id="23" name="Shape 21">
            <a:extLst xmlns:a="http://schemas.openxmlformats.org/drawingml/2006/main">
              <a:ext uri="{FF2B5EF4-FFF2-40B4-BE49-F238E27FC236}">
                <a16:creationId xmlns:a16="http://schemas.microsoft.com/office/drawing/2014/main" id="{4BBD9CF7-DC12-42F6-B71E-C589F5E64DCF}"/>
              </a:ext>
            </a:extLst>
          </p:cNvPr>
          <p:cNvSpPr>
            <a:spLocks xmlns:a="http://schemas.openxmlformats.org/drawingml/2006/main" noGrp="1"/>
          </p:cNvSpPr>
          <p:nvPr/>
        </p:nvSpPr>
        <p:spPr>
          <a:xfrm xmlns:a="http://schemas.openxmlformats.org/drawingml/2006/main">
            <a:off x="457200" y="502920"/>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002060"/>
            </a:solidFill>
            <a:prstDash val="dash"/>
          </a:ln>
        </p:spPr>
      </p:sp>
      <p:sp>
        <p:nvSpPr>
          <p:cNvPr id="24" name="Text 22">
            <a:extLst xmlns:a="http://schemas.openxmlformats.org/drawingml/2006/main">
              <a:ext uri="{FF2B5EF4-FFF2-40B4-BE49-F238E27FC236}">
                <a16:creationId xmlns:a16="http://schemas.microsoft.com/office/drawing/2014/main" id="{595A9DBB-2FF3-4FE8-8AF7-35A5A11CFE36}"/>
              </a:ext>
            </a:extLst>
          </p:cNvPr>
          <p:cNvSpPr>
            <a:spLocks xmlns:a="http://schemas.openxmlformats.org/drawingml/2006/main" noGrp="1"/>
          </p:cNvSpPr>
          <p:nvPr/>
        </p:nvSpPr>
        <p:spPr>
          <a:xfrm xmlns:a="http://schemas.openxmlformats.org/drawingml/2006/main">
            <a:off x="457200" y="502920"/>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50">
                <a:solidFill>
                  <a:srgbClr val="3B82F6"/>
                </a:solidFill>
                <a:latin typeface="Trebuchet MS"/>
                <a:ea typeface="Trebuchet MS"/>
                <a:cs typeface="Trebuchet MS"/>
              </a:rPr>
              <a:t>DATA OPERATIONS TOOL</a:t>
            </a:r>
            <a:endParaRPr sz="850"/>
          </a:p>
        </p:txBody>
      </p:sp>
      <p:sp>
        <p:nvSpPr>
          <p:cNvPr id="25" name="Text 23">
            <a:extLst xmlns:a="http://schemas.openxmlformats.org/drawingml/2006/main">
              <a:ext uri="{FF2B5EF4-FFF2-40B4-BE49-F238E27FC236}">
                <a16:creationId xmlns:a16="http://schemas.microsoft.com/office/drawing/2014/main" id="{369708FA-41E7-4CFC-8ED9-C9C52A032564}"/>
              </a:ext>
            </a:extLst>
          </p:cNvPr>
          <p:cNvSpPr>
            <a:spLocks xmlns:a="http://schemas.openxmlformats.org/drawingml/2006/main" noGrp="1"/>
          </p:cNvSpPr>
          <p:nvPr/>
        </p:nvSpPr>
        <p:spPr>
          <a:xfrm xmlns:a="http://schemas.openxmlformats.org/drawingml/2006/main">
            <a:off x="1381125" y="960120"/>
            <a:ext cx="40957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800" b="1">
                <a:solidFill>
                  <a:srgbClr val="FFFFFF"/>
                </a:solidFill>
                <a:latin typeface="Arial Black"/>
                <a:ea typeface="Arial Black"/>
                <a:cs typeface="Arial Black"/>
              </a:rPr>
              <a:t>Merge</a:t>
            </a:r>
            <a:r>
              <a:rPr sz="5800" b="1">
                <a:solidFill>
                  <a:srgbClr val="2563EB"/>
                </a:solidFill>
                <a:latin typeface="Arial Black"/>
                <a:ea typeface="Arial Black"/>
                <a:cs typeface="Arial Black"/>
              </a:rPr>
              <a:t>Guru</a:t>
            </a:r>
            <a:endParaRPr sz="5800">
              <a:solidFill>
                <a:srgbClr val="2563EB"/>
              </a:solidFill>
            </a:endParaRPr>
          </a:p>
        </p:txBody>
      </p:sp>
      <p:sp>
        <p:nvSpPr>
          <p:cNvPr id="26" name="Text 24">
            <a:extLst xmlns:a="http://schemas.openxmlformats.org/drawingml/2006/main">
              <a:ext uri="{FF2B5EF4-FFF2-40B4-BE49-F238E27FC236}">
                <a16:creationId xmlns:a16="http://schemas.microsoft.com/office/drawing/2014/main" id="{F9C0E9FF-87C5-4E01-B603-28BD6A5BE4A7}"/>
              </a:ext>
            </a:extLst>
          </p:cNvPr>
          <p:cNvSpPr>
            <a:spLocks xmlns:a="http://schemas.openxmlformats.org/drawingml/2006/main" noGrp="1"/>
          </p:cNvSpPr>
          <p:nvPr/>
        </p:nvSpPr>
        <p:spPr>
          <a:xfrm xmlns:a="http://schemas.openxmlformats.org/drawingml/2006/main">
            <a:off x="495527" y="1932026"/>
            <a:ext cx="4937760" cy="92814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chemeClr val="bg1"/>
                </a:solidFill>
                <a:latin typeface="Montserrat"/>
                <a:ea typeface="Montserrat"/>
                <a:cs typeface="Montserrat"/>
              </a:rPr>
              <a:t>From Folder Chaos</a:t>
            </a:r>
          </a:p>
          <a:p xmlns:a="http://schemas.openxmlformats.org/drawingml/2006/main">
            <a:pPr marL="0" indent="0">
              <a:buNone/>
            </a:pPr>
            <a:r>
              <a:rPr sz="2600">
                <a:solidFill>
                  <a:schemeClr val="bg1"/>
                </a:solidFill>
                <a:latin typeface="Montserrat"/>
                <a:ea typeface="Montserrat"/>
                <a:cs typeface="Montserrat"/>
              </a:rPr>
              <a:t>to </a:t>
            </a:r>
            <a:r>
              <a:rPr sz="2600" b="1">
                <a:solidFill>
                  <a:srgbClr val="2563EB"/>
                </a:solidFill>
                <a:latin typeface="Montserrat"/>
                <a:ea typeface="Montserrat"/>
                <a:cs typeface="Montserrat"/>
              </a:rPr>
              <a:t>Trusted Data</a:t>
            </a:r>
            <a:r>
              <a:rPr sz="2600">
                <a:solidFill>
                  <a:schemeClr val="bg1"/>
                </a:solidFill>
                <a:latin typeface="Montserrat"/>
                <a:ea typeface="Montserrat"/>
                <a:cs typeface="Montserrat"/>
              </a:rPr>
              <a:t>.</a:t>
            </a:r>
          </a:p>
        </p:txBody>
      </p:sp>
      <p:sp>
        <p:nvSpPr>
          <p:cNvPr id="27" name="Text 25">
            <a:extLst xmlns:a="http://schemas.openxmlformats.org/drawingml/2006/main">
              <a:ext uri="{FF2B5EF4-FFF2-40B4-BE49-F238E27FC236}">
                <a16:creationId xmlns:a16="http://schemas.microsoft.com/office/drawing/2014/main" id="{17F1AA0D-2182-4D2D-A808-DC5C720B7CF1}"/>
              </a:ext>
            </a:extLst>
          </p:cNvPr>
          <p:cNvSpPr>
            <a:spLocks xmlns:a="http://schemas.openxmlformats.org/drawingml/2006/main" noGrp="1"/>
          </p:cNvSpPr>
          <p:nvPr/>
        </p:nvSpPr>
        <p:spPr>
          <a:xfrm xmlns:a="http://schemas.openxmlformats.org/drawingml/2006/main">
            <a:off x="494972" y="3001219"/>
            <a:ext cx="4937760" cy="30138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50000"/>
              </a:lnSpc>
              <a:buNone/>
            </a:pPr>
            <a:r>
              <a:rPr sz="1400">
                <a:solidFill>
                  <a:srgbClr val="2563EB"/>
                </a:solidFill>
                <a:latin typeface="Montserrat"/>
                <a:ea typeface="Montserrat"/>
                <a:cs typeface="Montserrat"/>
              </a:rPr>
              <a:t>No code. Visible checks. Repeatable outputs.</a:t>
            </a:r>
          </a:p>
        </p:txBody>
      </p:sp>
      <p:sp>
        <p:nvSpPr>
          <p:cNvPr id="28" name="Text 26">
            <a:extLst xmlns:a="http://schemas.openxmlformats.org/drawingml/2006/main">
              <a:ext uri="{FF2B5EF4-FFF2-40B4-BE49-F238E27FC236}">
                <a16:creationId xmlns:a16="http://schemas.microsoft.com/office/drawing/2014/main" id="{08A53BF2-5266-44DD-BB94-B13819BD6BF6}"/>
              </a:ext>
            </a:extLst>
          </p:cNvPr>
          <p:cNvSpPr>
            <a:spLocks xmlns:a="http://schemas.openxmlformats.org/drawingml/2006/main" noGrp="1"/>
          </p:cNvSpPr>
          <p:nvPr/>
        </p:nvSpPr>
        <p:spPr>
          <a:xfrm xmlns:a="http://schemas.openxmlformats.org/drawingml/2006/main">
            <a:off x="593125" y="3982803"/>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563EB"/>
                </a:solidFill>
                <a:latin typeface="Rubik Black"/>
                <a:ea typeface="Rubik Black"/>
                <a:cs typeface="Rubik Black"/>
              </a:rPr>
              <a:t>6</a:t>
            </a:r>
            <a:endParaRPr sz="3200">
              <a:latin typeface="Rubik Black"/>
              <a:ea typeface="Rubik Black"/>
              <a:cs typeface="Rubik Black"/>
            </a:endParaRPr>
          </a:p>
        </p:txBody>
      </p:sp>
      <p:sp>
        <p:nvSpPr>
          <p:cNvPr id="29" name="Text 27">
            <a:extLst xmlns:a="http://schemas.openxmlformats.org/drawingml/2006/main">
              <a:ext uri="{FF2B5EF4-FFF2-40B4-BE49-F238E27FC236}">
                <a16:creationId xmlns:a16="http://schemas.microsoft.com/office/drawing/2014/main" id="{EAF9FCE8-30A0-4C9F-AAAD-95B18C2B0CCB}"/>
              </a:ext>
            </a:extLst>
          </p:cNvPr>
          <p:cNvSpPr>
            <a:spLocks xmlns:a="http://schemas.openxmlformats.org/drawingml/2006/main" noGrp="1"/>
          </p:cNvSpPr>
          <p:nvPr/>
        </p:nvSpPr>
        <p:spPr>
          <a:xfrm xmlns:a="http://schemas.openxmlformats.org/drawingml/2006/main">
            <a:off x="593125" y="4440003"/>
            <a:ext cx="1463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Trebuchet MS"/>
                <a:ea typeface="Trebuchet MS"/>
                <a:cs typeface="Trebuchet MS"/>
              </a:rPr>
              <a:t>guided operations</a:t>
            </a:r>
            <a:endParaRPr sz="900"/>
          </a:p>
        </p:txBody>
      </p:sp>
      <p:sp>
        <p:nvSpPr>
          <p:cNvPr id="30" name="Text 28">
            <a:extLst xmlns:a="http://schemas.openxmlformats.org/drawingml/2006/main">
              <a:ext uri="{FF2B5EF4-FFF2-40B4-BE49-F238E27FC236}">
                <a16:creationId xmlns:a16="http://schemas.microsoft.com/office/drawing/2014/main" id="{7AE4DA0D-40B3-40C9-9AFC-BCDBD201DAB3}"/>
              </a:ext>
            </a:extLst>
          </p:cNvPr>
          <p:cNvSpPr>
            <a:spLocks xmlns:a="http://schemas.openxmlformats.org/drawingml/2006/main" noGrp="1"/>
          </p:cNvSpPr>
          <p:nvPr/>
        </p:nvSpPr>
        <p:spPr>
          <a:xfrm xmlns:a="http://schemas.openxmlformats.org/drawingml/2006/main">
            <a:off x="2239045" y="3982803"/>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563EB"/>
                </a:solidFill>
                <a:latin typeface="Rubik Black"/>
                <a:ea typeface="Rubik Black"/>
                <a:cs typeface="Rubik Black"/>
              </a:rPr>
              <a:t>4</a:t>
            </a:r>
            <a:endParaRPr sz="3200">
              <a:latin typeface="Rubik Black"/>
              <a:ea typeface="Rubik Black"/>
              <a:cs typeface="Rubik Black"/>
            </a:endParaRPr>
          </a:p>
        </p:txBody>
      </p:sp>
      <p:sp>
        <p:nvSpPr>
          <p:cNvPr id="31" name="Text 29">
            <a:extLst xmlns:a="http://schemas.openxmlformats.org/drawingml/2006/main">
              <a:ext uri="{FF2B5EF4-FFF2-40B4-BE49-F238E27FC236}">
                <a16:creationId xmlns:a16="http://schemas.microsoft.com/office/drawing/2014/main" id="{549E62AE-40CA-4A88-9AB8-6AFFCC832184}"/>
              </a:ext>
            </a:extLst>
          </p:cNvPr>
          <p:cNvSpPr>
            <a:spLocks xmlns:a="http://schemas.openxmlformats.org/drawingml/2006/main" noGrp="1"/>
          </p:cNvSpPr>
          <p:nvPr/>
        </p:nvSpPr>
        <p:spPr>
          <a:xfrm xmlns:a="http://schemas.openxmlformats.org/drawingml/2006/main">
            <a:off x="2239045" y="4440003"/>
            <a:ext cx="1463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Trebuchet MS"/>
                <a:ea typeface="Trebuchet MS"/>
                <a:cs typeface="Trebuchet MS"/>
              </a:rPr>
              <a:t>export modes</a:t>
            </a:r>
            <a:endParaRPr sz="900"/>
          </a:p>
        </p:txBody>
      </p:sp>
      <p:sp>
        <p:nvSpPr>
          <p:cNvPr id="32" name="Text 30">
            <a:extLst xmlns:a="http://schemas.openxmlformats.org/drawingml/2006/main">
              <a:ext uri="{FF2B5EF4-FFF2-40B4-BE49-F238E27FC236}">
                <a16:creationId xmlns:a16="http://schemas.microsoft.com/office/drawing/2014/main" id="{A09729A7-207F-4EB4-826F-6119DDC5B7FC}"/>
              </a:ext>
            </a:extLst>
          </p:cNvPr>
          <p:cNvSpPr>
            <a:spLocks xmlns:a="http://schemas.openxmlformats.org/drawingml/2006/main" noGrp="1"/>
          </p:cNvSpPr>
          <p:nvPr/>
        </p:nvSpPr>
        <p:spPr>
          <a:xfrm xmlns:a="http://schemas.openxmlformats.org/drawingml/2006/main">
            <a:off x="3884965" y="3982803"/>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2563EB"/>
                </a:solidFill>
                <a:latin typeface="Rubik Black"/>
                <a:ea typeface="Rubik Black"/>
                <a:cs typeface="Rubik Black"/>
              </a:rPr>
              <a:t>Local</a:t>
            </a:r>
            <a:endParaRPr sz="3200">
              <a:latin typeface="Rubik Black"/>
              <a:ea typeface="Rubik Black"/>
              <a:cs typeface="Rubik Black"/>
            </a:endParaRPr>
          </a:p>
        </p:txBody>
      </p:sp>
      <p:sp>
        <p:nvSpPr>
          <p:cNvPr id="33" name="Text 31">
            <a:extLst xmlns:a="http://schemas.openxmlformats.org/drawingml/2006/main">
              <a:ext uri="{FF2B5EF4-FFF2-40B4-BE49-F238E27FC236}">
                <a16:creationId xmlns:a16="http://schemas.microsoft.com/office/drawing/2014/main" id="{C411FC69-A7B3-49C7-8DE5-9AF3D33102B8}"/>
              </a:ext>
            </a:extLst>
          </p:cNvPr>
          <p:cNvSpPr>
            <a:spLocks xmlns:a="http://schemas.openxmlformats.org/drawingml/2006/main" noGrp="1"/>
          </p:cNvSpPr>
          <p:nvPr/>
        </p:nvSpPr>
        <p:spPr>
          <a:xfrm xmlns:a="http://schemas.openxmlformats.org/drawingml/2006/main">
            <a:off x="3884965" y="4440003"/>
            <a:ext cx="1463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94A3B8"/>
                </a:solidFill>
                <a:latin typeface="Trebuchet MS"/>
                <a:ea typeface="Trebuchet MS"/>
                <a:cs typeface="Trebuchet MS"/>
              </a:rPr>
              <a:t>no built-in upload</a:t>
            </a:r>
            <a:endParaRPr sz="900"/>
          </a:p>
        </p:txBody>
      </p:sp>
      <p:sp>
        <p:nvSpPr>
          <p:cNvPr id="35" name="TextBox 34">
            <a:extLst xmlns:a="http://schemas.openxmlformats.org/drawingml/2006/main">
              <a:ext uri="{FF2B5EF4-FFF2-40B4-BE49-F238E27FC236}">
                <a16:creationId xmlns:a16="http://schemas.microsoft.com/office/drawing/2014/main" id="{F7848479-42E6-6933-C3F9-5B185E981464}"/>
              </a:ext>
            </a:extLst>
          </p:cNvPr>
          <p:cNvSpPr>
            <a:spLocks xmlns:a="http://schemas.openxmlformats.org/drawingml/2006/main" noGrp="1"/>
          </p:cNvSpPr>
          <p:nvPr/>
        </p:nvSpPr>
        <p:spPr>
          <a:xfrm xmlns:a="http://schemas.openxmlformats.org/drawingml/2006/main">
            <a:off x="412275" y="3310993"/>
            <a:ext cx="4068285"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solidFill>
                  <a:srgbClr val="94A3B8"/>
                </a:solidFill>
                <a:latin typeface="Trebuchet MS"/>
                <a:ea typeface="Trebuchet MS"/>
                <a:cs typeface="Trebuchet MS"/>
              </a:rPr>
              <a:t>VALIDATE · ALIGN · COMBINE · EXPORT · AUDIT</a:t>
            </a:r>
            <a:endParaRPr sz="1400"/>
          </a:p>
        </p:txBody>
      </p:sp>
      <p:sp>
        <p:nvSpPr>
          <p:cNvPr id="38" name="Straight Connector 37">
            <a:extLst xmlns:a="http://schemas.openxmlformats.org/drawingml/2006/main">
              <a:ext uri="{FF2B5EF4-FFF2-40B4-BE49-F238E27FC236}">
                <a16:creationId xmlns:a16="http://schemas.microsoft.com/office/drawing/2014/main" id="{2FA127F0-4D94-4E63-BA14-EDA0252A5809}"/>
              </a:ext>
            </a:extLst>
          </p:cNvPr>
          <p:cNvSpPr>
            <a:spLocks xmlns:a="http://schemas.openxmlformats.org/drawingml/2006/main" noGrp="1"/>
          </p:cNvSpPr>
          <p:nvPr/>
        </p:nvSpPr>
        <p:spPr>
          <a:xfrm xmlns:a="http://schemas.openxmlformats.org/drawingml/2006/main" flipV="1">
            <a:off x="2104875" y="4105004"/>
            <a:ext cx="0" cy="565305"/>
          </a:xfrm>
          <a:prstGeom xmlns:a="http://schemas.openxmlformats.org/drawingml/2006/main" prst="line">
            <a:avLst/>
          </a:prstGeom>
          <a:ln xmlns:a="http://schemas.openxmlformats.org/drawingml/2006/main" w="19050">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Straight Connector 40">
            <a:extLst xmlns:a="http://schemas.openxmlformats.org/drawingml/2006/main">
              <a:ext uri="{FF2B5EF4-FFF2-40B4-BE49-F238E27FC236}">
                <a16:creationId xmlns:a16="http://schemas.microsoft.com/office/drawing/2014/main" id="{A2E18CE4-9030-4E8E-A28D-CCD9AA72B48C}"/>
              </a:ext>
            </a:extLst>
          </p:cNvPr>
          <p:cNvSpPr>
            <a:spLocks xmlns:a="http://schemas.openxmlformats.org/drawingml/2006/main" noGrp="1"/>
          </p:cNvSpPr>
          <p:nvPr/>
        </p:nvSpPr>
        <p:spPr>
          <a:xfrm xmlns:a="http://schemas.openxmlformats.org/drawingml/2006/main" flipV="1">
            <a:off x="3799379" y="4105004"/>
            <a:ext cx="0" cy="565305"/>
          </a:xfrm>
          <a:prstGeom xmlns:a="http://schemas.openxmlformats.org/drawingml/2006/main" prst="line">
            <a:avLst/>
          </a:prstGeom>
          <a:ln xmlns:a="http://schemas.openxmlformats.org/drawingml/2006/main" w="19050">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4" name="Shape 2">
            <a:extLst xmlns:a="http://schemas.openxmlformats.org/drawingml/2006/main">
              <a:ext uri="{FF2B5EF4-FFF2-40B4-BE49-F238E27FC236}">
                <a16:creationId xmlns:a16="http://schemas.microsoft.com/office/drawing/2014/main" id="{23560BFD-FFF6-8174-5D5F-F451643AC919}"/>
              </a:ext>
            </a:extLst>
          </p:cNvPr>
          <p:cNvSpPr>
            <a:spLocks xmlns:a="http://schemas.openxmlformats.org/drawingml/2006/main" noGrp="1"/>
          </p:cNvSpPr>
          <p:nvPr/>
        </p:nvSpPr>
        <p:spPr>
          <a:xfrm xmlns:a="http://schemas.openxmlformats.org/drawingml/2006/main" rot="354807">
            <a:off x="7261819" y="1208373"/>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243348"/>
            </a:solidFill>
            <a:prstDash val="solid"/>
          </a:ln>
          <a:effectLst xmlns:a="http://schemas.openxmlformats.org/drawingml/2006/main">
            <a:outerShdw blurRad="76200" dist="38100" dir="8100000" algn="bl" rotWithShape="0">
              <a:srgbClr val="000000">
                <a:alpha val="40000"/>
              </a:srgbClr>
            </a:outerShdw>
          </a:effectLst>
        </p:spPr>
        <p:txBody>
          <a:bodyPr xmlns:a="http://schemas.openxmlformats.org/drawingml/2006/main"/>
          <a:lstStyle xmlns:a="http://schemas.openxmlformats.org/drawingml/2006/main"/>
          <a:p xmlns:a="http://schemas.openxmlformats.org/drawingml/2006/main">
            <a:r>
              <a:rPr sz="1000">
                <a:solidFill>
                  <a:srgbClr val="94A3B8"/>
                </a:solidFill>
                <a:latin typeface="Consolas"/>
                <a:ea typeface="Consolas"/>
                <a:cs typeface="Consolas"/>
              </a:rPr>
              <a:t>Report_2024_OLD.xlsx</a:t>
            </a:r>
            <a:endParaRPr sz="1000"/>
          </a:p>
        </p:txBody>
      </p:sp>
      <p:sp>
        <p:nvSpPr>
          <p:cNvPr id="43" name="Shape 2">
            <a:extLst xmlns:a="http://schemas.openxmlformats.org/drawingml/2006/main">
              <a:ext uri="{FF2B5EF4-FFF2-40B4-BE49-F238E27FC236}">
                <a16:creationId xmlns:a16="http://schemas.microsoft.com/office/drawing/2014/main" id="{0EB03785-B551-0E26-5895-7EE39A891139}"/>
              </a:ext>
            </a:extLst>
          </p:cNvPr>
          <p:cNvSpPr>
            <a:spLocks xmlns:a="http://schemas.openxmlformats.org/drawingml/2006/main" noGrp="1"/>
          </p:cNvSpPr>
          <p:nvPr/>
        </p:nvSpPr>
        <p:spPr>
          <a:xfrm xmlns:a="http://schemas.openxmlformats.org/drawingml/2006/main">
            <a:off x="6423660" y="672544"/>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243348"/>
            </a:solidFill>
            <a:prstDash val="solid"/>
          </a:ln>
          <a:effectLst xmlns:a="http://schemas.openxmlformats.org/drawingml/2006/main">
            <a:outerShdw blurRad="76200" dist="38100" dir="8100000" algn="bl" rotWithShape="0">
              <a:srgbClr val="000000">
                <a:alpha val="40000"/>
              </a:srgbClr>
            </a:outerShdw>
          </a:effectLst>
        </p:spPr>
        <p:txBody>
          <a:bodyPr xmlns:a="http://schemas.openxmlformats.org/drawingml/2006/main"/>
          <a:lstStyle xmlns:a="http://schemas.openxmlformats.org/drawingml/2006/main"/>
          <a:p xmlns:a="http://schemas.openxmlformats.org/drawingml/2006/main">
            <a:r>
              <a:rPr sz="1000">
                <a:solidFill>
                  <a:srgbClr val="94A3B8"/>
                </a:solidFill>
                <a:latin typeface="Consolas"/>
                <a:ea typeface="Consolas"/>
                <a:cs typeface="Consolas"/>
              </a:rPr>
              <a:t>Sales_Jan_Final.xlsx</a:t>
            </a:r>
            <a:endParaRPr sz="1000"/>
          </a:p>
        </p:txBody>
      </p:sp>
      <p:sp>
        <p:nvSpPr>
          <p:cNvPr id="45" name="Shape 2">
            <a:extLst xmlns:a="http://schemas.openxmlformats.org/drawingml/2006/main">
              <a:ext uri="{FF2B5EF4-FFF2-40B4-BE49-F238E27FC236}">
                <a16:creationId xmlns:a16="http://schemas.microsoft.com/office/drawing/2014/main" id="{B6D277CC-10C5-A244-1765-92319B428F69}"/>
              </a:ext>
            </a:extLst>
          </p:cNvPr>
          <p:cNvSpPr>
            <a:spLocks xmlns:a="http://schemas.openxmlformats.org/drawingml/2006/main" noGrp="1"/>
          </p:cNvSpPr>
          <p:nvPr/>
        </p:nvSpPr>
        <p:spPr>
          <a:xfrm xmlns:a="http://schemas.openxmlformats.org/drawingml/2006/main" rot="21084703">
            <a:off x="6326391" y="1561729"/>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243348"/>
            </a:solidFill>
            <a:prstDash val="solid"/>
          </a:ln>
          <a:effectLst xmlns:a="http://schemas.openxmlformats.org/drawingml/2006/main">
            <a:outerShdw blurRad="76200" dist="38100" dir="8100000" algn="bl" rotWithShape="0">
              <a:srgbClr val="000000">
                <a:alpha val="40000"/>
              </a:srgbClr>
            </a:outerShdw>
          </a:effectLst>
        </p:spPr>
        <p:txBody>
          <a:bodyPr xmlns:a="http://schemas.openxmlformats.org/drawingml/2006/main"/>
          <a:lstStyle xmlns:a="http://schemas.openxmlformats.org/drawingml/2006/main"/>
          <a:p xmlns:a="http://schemas.openxmlformats.org/drawingml/2006/main">
            <a:r>
              <a:rPr sz="950">
                <a:solidFill>
                  <a:srgbClr val="94A3B8"/>
                </a:solidFill>
                <a:latin typeface="Consolas"/>
                <a:ea typeface="Consolas"/>
                <a:cs typeface="Consolas"/>
              </a:rPr>
              <a:t>Sales_Jan_Final_v2.xlsx</a:t>
            </a:r>
            <a:endParaRPr sz="950"/>
          </a:p>
        </p:txBody>
      </p:sp>
      <p:sp>
        <p:nvSpPr>
          <p:cNvPr id="46" name="Shape 2">
            <a:extLst xmlns:a="http://schemas.openxmlformats.org/drawingml/2006/main">
              <a:ext uri="{FF2B5EF4-FFF2-40B4-BE49-F238E27FC236}">
                <a16:creationId xmlns:a16="http://schemas.microsoft.com/office/drawing/2014/main" id="{F2661B18-973C-28B7-F764-E347F8EE2C51}"/>
              </a:ext>
            </a:extLst>
          </p:cNvPr>
          <p:cNvSpPr>
            <a:spLocks xmlns:a="http://schemas.openxmlformats.org/drawingml/2006/main" noGrp="1"/>
          </p:cNvSpPr>
          <p:nvPr/>
        </p:nvSpPr>
        <p:spPr>
          <a:xfrm xmlns:a="http://schemas.openxmlformats.org/drawingml/2006/main" rot="21084703">
            <a:off x="5720998" y="2204554"/>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243348"/>
            </a:solidFill>
            <a:prstDash val="solid"/>
          </a:ln>
          <a:effectLst xmlns:a="http://schemas.openxmlformats.org/drawingml/2006/main">
            <a:outerShdw blurRad="76200" dist="38100" dir="8100000" algn="bl" rotWithShape="0">
              <a:srgbClr val="000000">
                <a:alpha val="40000"/>
              </a:srgbClr>
            </a:outerShdw>
          </a:effectLst>
        </p:spPr>
        <p:txBody>
          <a:bodyPr xmlns:a="http://schemas.openxmlformats.org/drawingml/2006/main"/>
          <a:lstStyle xmlns:a="http://schemas.openxmlformats.org/drawingml/2006/main"/>
          <a:p xmlns:a="http://schemas.openxmlformats.org/drawingml/2006/main">
            <a:r>
              <a:rPr sz="1000">
                <a:solidFill>
                  <a:srgbClr val="94A3B8"/>
                </a:solidFill>
                <a:latin typeface="Consolas"/>
                <a:ea typeface="Consolas"/>
                <a:cs typeface="Consolas"/>
              </a:rPr>
              <a:t>FINAL_USE_THIS.xlsx</a:t>
            </a:r>
            <a:endParaRPr sz="1000"/>
          </a:p>
        </p:txBody>
      </p:sp>
      <p:sp>
        <p:nvSpPr>
          <p:cNvPr id="47" name="Shape 2">
            <a:extLst xmlns:a="http://schemas.openxmlformats.org/drawingml/2006/main">
              <a:ext uri="{FF2B5EF4-FFF2-40B4-BE49-F238E27FC236}">
                <a16:creationId xmlns:a16="http://schemas.microsoft.com/office/drawing/2014/main" id="{A647208F-5D2E-A4CC-DA3D-500E0C58B8BD}"/>
              </a:ext>
            </a:extLst>
          </p:cNvPr>
          <p:cNvSpPr>
            <a:spLocks xmlns:a="http://schemas.openxmlformats.org/drawingml/2006/main" noGrp="1"/>
          </p:cNvSpPr>
          <p:nvPr/>
        </p:nvSpPr>
        <p:spPr>
          <a:xfrm xmlns:a="http://schemas.openxmlformats.org/drawingml/2006/main" rot="437904">
            <a:off x="7266538" y="2032687"/>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10B981"/>
            </a:solidFill>
            <a:prstDash val="solid"/>
          </a:ln>
          <a:effectLst xmlns:a="http://schemas.openxmlformats.org/drawingml/2006/main">
            <a:outerShdw blurRad="76200" dist="38100" dir="8100000" algn="bl" rotWithShape="0">
              <a:srgbClr val="10B981">
                <a:alpha val="40000"/>
              </a:srgbClr>
            </a:outerShdw>
          </a:effectLst>
        </p:spPr>
        <p:txBody>
          <a:bodyPr xmlns:a="http://schemas.openxmlformats.org/drawingml/2006/main"/>
          <a:lstStyle xmlns:a="http://schemas.openxmlformats.org/drawingml/2006/main"/>
          <a:p xmlns:a="http://schemas.openxmlformats.org/drawingml/2006/main">
            <a:r>
              <a:rPr sz="1000">
                <a:solidFill>
                  <a:srgbClr val="10B981"/>
                </a:solidFill>
                <a:latin typeface="Consolas"/>
                <a:ea typeface="Consolas"/>
                <a:cs typeface="Consolas"/>
              </a:rPr>
              <a:t>Data_Clean.xlsx</a:t>
            </a:r>
            <a:endParaRPr sz="1000">
              <a:solidFill>
                <a:srgbClr val="10B981"/>
              </a:solidFill>
            </a:endParaRPr>
          </a:p>
        </p:txBody>
      </p:sp>
      <p:sp>
        <p:nvSpPr>
          <p:cNvPr id="48" name="Shape 2">
            <a:extLst xmlns:a="http://schemas.openxmlformats.org/drawingml/2006/main">
              <a:ext uri="{FF2B5EF4-FFF2-40B4-BE49-F238E27FC236}">
                <a16:creationId xmlns:a16="http://schemas.microsoft.com/office/drawing/2014/main" id="{71104AA3-3E59-7F44-68AB-19070F1EEBA4}"/>
              </a:ext>
            </a:extLst>
          </p:cNvPr>
          <p:cNvSpPr>
            <a:spLocks xmlns:a="http://schemas.openxmlformats.org/drawingml/2006/main" noGrp="1"/>
          </p:cNvSpPr>
          <p:nvPr/>
        </p:nvSpPr>
        <p:spPr>
          <a:xfrm xmlns:a="http://schemas.openxmlformats.org/drawingml/2006/main" rot="318852">
            <a:off x="7242319" y="2676457"/>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243348"/>
            </a:solidFill>
            <a:prstDash val="solid"/>
          </a:ln>
          <a:effectLst xmlns:a="http://schemas.openxmlformats.org/drawingml/2006/main">
            <a:outerShdw blurRad="76200" dist="38100" dir="8100000" algn="bl" rotWithShape="0">
              <a:srgbClr val="000000">
                <a:alpha val="40000"/>
              </a:srgbClr>
            </a:outerShdw>
          </a:effectLst>
        </p:spPr>
        <p:txBody>
          <a:bodyPr xmlns:a="http://schemas.openxmlformats.org/drawingml/2006/main"/>
          <a:lstStyle xmlns:a="http://schemas.openxmlformats.org/drawingml/2006/main"/>
          <a:p xmlns:a="http://schemas.openxmlformats.org/drawingml/2006/main">
            <a:r>
              <a:rPr sz="1000">
                <a:solidFill>
                  <a:srgbClr val="94A3B8"/>
                </a:solidFill>
                <a:latin typeface="Consolas"/>
                <a:ea typeface="Consolas"/>
                <a:cs typeface="Consolas"/>
              </a:rPr>
              <a:t>data_backup.csv</a:t>
            </a:r>
            <a:endParaRPr sz="1000"/>
          </a:p>
        </p:txBody>
      </p:sp>
      <p:sp>
        <p:nvSpPr>
          <p:cNvPr id="49" name="Shape 2">
            <a:extLst xmlns:a="http://schemas.openxmlformats.org/drawingml/2006/main">
              <a:ext uri="{FF2B5EF4-FFF2-40B4-BE49-F238E27FC236}">
                <a16:creationId xmlns:a16="http://schemas.microsoft.com/office/drawing/2014/main" id="{657B7991-CBF6-0B51-AF72-AFDF134E7163}"/>
              </a:ext>
            </a:extLst>
          </p:cNvPr>
          <p:cNvSpPr>
            <a:spLocks xmlns:a="http://schemas.openxmlformats.org/drawingml/2006/main" noGrp="1"/>
          </p:cNvSpPr>
          <p:nvPr/>
        </p:nvSpPr>
        <p:spPr>
          <a:xfrm xmlns:a="http://schemas.openxmlformats.org/drawingml/2006/main">
            <a:off x="5751613" y="3102428"/>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243348"/>
            </a:solidFill>
            <a:prstDash val="solid"/>
          </a:ln>
          <a:effectLst xmlns:a="http://schemas.openxmlformats.org/drawingml/2006/main">
            <a:outerShdw blurRad="76200" dist="38100" dir="8100000" algn="bl" rotWithShape="0">
              <a:srgbClr val="000000">
                <a:alpha val="40000"/>
              </a:srgbClr>
            </a:outerShdw>
          </a:effectLst>
        </p:spPr>
        <p:txBody>
          <a:bodyPr xmlns:a="http://schemas.openxmlformats.org/drawingml/2006/main"/>
          <a:lstStyle xmlns:a="http://schemas.openxmlformats.org/drawingml/2006/main"/>
          <a:p xmlns:a="http://schemas.openxmlformats.org/drawingml/2006/main">
            <a:r>
              <a:rPr sz="1000">
                <a:solidFill>
                  <a:srgbClr val="94A3B8"/>
                </a:solidFill>
                <a:latin typeface="Consolas"/>
                <a:ea typeface="Consolas"/>
                <a:cs typeface="Consolas"/>
              </a:rPr>
              <a:t>Sales_Feb_v3_NEW.xlsx</a:t>
            </a:r>
            <a:endParaRPr sz="1000"/>
          </a:p>
        </p:txBody>
      </p:sp>
      <p:sp>
        <p:nvSpPr>
          <p:cNvPr id="50" name="Shape 2">
            <a:extLst xmlns:a="http://schemas.openxmlformats.org/drawingml/2006/main">
              <a:ext uri="{FF2B5EF4-FFF2-40B4-BE49-F238E27FC236}">
                <a16:creationId xmlns:a16="http://schemas.microsoft.com/office/drawing/2014/main" id="{890A8419-304E-0E26-89C2-703F09670B30}"/>
              </a:ext>
            </a:extLst>
          </p:cNvPr>
          <p:cNvSpPr>
            <a:spLocks xmlns:a="http://schemas.openxmlformats.org/drawingml/2006/main" noGrp="1"/>
          </p:cNvSpPr>
          <p:nvPr/>
        </p:nvSpPr>
        <p:spPr>
          <a:xfrm xmlns:a="http://schemas.openxmlformats.org/drawingml/2006/main">
            <a:off x="7125218" y="3536391"/>
            <a:ext cx="1783080" cy="279790"/>
          </a:xfrm>
          <a:prstGeom xmlns:a="http://schemas.openxmlformats.org/drawingml/2006/main" prst="roundRect">
            <a:avLst>
              <a:gd name="adj" fmla="val 18400"/>
            </a:avLst>
          </a:prstGeom>
          <a:solidFill xmlns:a="http://schemas.openxmlformats.org/drawingml/2006/main">
            <a:srgbClr val="1E2A3B"/>
          </a:solidFill>
          <a:ln xmlns:a="http://schemas.openxmlformats.org/drawingml/2006/main" w="12700">
            <a:solidFill>
              <a:srgbClr val="243348"/>
            </a:solidFill>
            <a:prstDash val="solid"/>
          </a:ln>
          <a:effectLst xmlns:a="http://schemas.openxmlformats.org/drawingml/2006/main">
            <a:outerShdw blurRad="76200" dist="38100" dir="8100000" algn="bl" rotWithShape="0">
              <a:srgbClr val="000000">
                <a:alpha val="40000"/>
              </a:srgbClr>
            </a:outerShdw>
          </a:effectLst>
        </p:spPr>
        <p:txBody>
          <a:bodyPr xmlns:a="http://schemas.openxmlformats.org/drawingml/2006/main"/>
          <a:lstStyle xmlns:a="http://schemas.openxmlformats.org/drawingml/2006/main"/>
          <a:p xmlns:a="http://schemas.openxmlformats.org/drawingml/2006/main">
            <a:r>
              <a:rPr sz="1000">
                <a:solidFill>
                  <a:srgbClr val="94A3B8"/>
                </a:solidFill>
                <a:latin typeface="Consolas"/>
                <a:ea typeface="Consolas"/>
                <a:cs typeface="Consolas"/>
              </a:rPr>
              <a:t>export_fixed.csv</a:t>
            </a:r>
            <a:endParaRPr sz="1000"/>
          </a:p>
        </p:txBody>
      </p:sp>
      <p:sp>
        <p:nvSpPr>
          <p:cNvPr id="51" name="Text 23">
            <a:extLst xmlns:a="http://schemas.openxmlformats.org/drawingml/2006/main">
              <a:ext uri="{FF2B5EF4-FFF2-40B4-BE49-F238E27FC236}">
                <a16:creationId xmlns:a16="http://schemas.microsoft.com/office/drawing/2014/main" id="{DA90EBF1-D638-D7A7-0976-C325F9BEE9E4}"/>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5" name="Text 27">
            <a:extLst xmlns:a="http://schemas.openxmlformats.org/drawingml/2006/main">
              <a:ext uri="{FF2B5EF4-FFF2-40B4-BE49-F238E27FC236}">
                <a16:creationId xmlns:a16="http://schemas.microsoft.com/office/drawing/2014/main" id="{A2C9450A-FA93-7FD7-A990-E46A285D4F6A}"/>
              </a:ext>
            </a:extLst>
          </p:cNvPr>
          <p:cNvSpPr>
            <a:spLocks xmlns:a="http://schemas.openxmlformats.org/drawingml/2006/main" noGrp="1"/>
          </p:cNvSpPr>
          <p:nvPr/>
        </p:nvSpPr>
        <p:spPr>
          <a:xfrm xmlns:a="http://schemas.openxmlformats.org/drawingml/2006/main">
            <a:off x="617480" y="4622696"/>
            <a:ext cx="1463040" cy="14667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i="1">
                <a:solidFill>
                  <a:srgbClr val="94A3B8"/>
                </a:solidFill>
                <a:latin typeface="Trebuchet MS"/>
                <a:ea typeface="Trebuchet MS"/>
                <a:cs typeface="Trebuchet MS"/>
              </a:rPr>
              <a:t>source to audit</a:t>
            </a:r>
            <a:endParaRPr sz="600" i="1"/>
          </a:p>
        </p:txBody>
      </p:sp>
      <p:pic>
        <p:nvPicPr>
          <p:cNvPr id="82" name="Picture 81"/>
          <p:cNvPicPr>
            <a:picLocks xmlns:a="http://schemas.openxmlformats.org/drawingml/2006/main" noChangeAspect="1"/>
          </p:cNvPicPr>
          <p:nvPr/>
        </p:nvPicPr>
        <p:blipFill>
          <a:blip xmlns:r="http://schemas.openxmlformats.org/officeDocument/2006/relationships" xmlns:a="http://schemas.openxmlformats.org/drawingml/2006/main" r:embed="R5e9ed4b8366f46ed"/>
          <a:stretch xmlns:a="http://schemas.openxmlformats.org/drawingml/2006/main"/>
        </p:blipFill>
        <p:spPr>
          <a:xfrm xmlns:a="http://schemas.openxmlformats.org/drawingml/2006/main">
            <a:off x="476250" y="990600"/>
            <a:ext cx="742950" cy="742950"/>
          </a:xfrm>
          <a:prstGeom xmlns:a="http://schemas.openxmlformats.org/drawingml/2006/main" prst="rect">
            <a:avLst/>
          </a:prstGeom>
        </p:spPr>
      </p:pic>
      <p:pic>
        <p:nvPicPr>
          <p:cNvPr id="83" name="Picture 82"/>
          <p:cNvPicPr>
            <a:picLocks xmlns:a="http://schemas.openxmlformats.org/drawingml/2006/main" noChangeAspect="1"/>
          </p:cNvPicPr>
          <p:nvPr/>
        </p:nvPicPr>
        <p:blipFill>
          <a:blip xmlns:r="http://schemas.openxmlformats.org/officeDocument/2006/relationships" xmlns:a="http://schemas.openxmlformats.org/drawingml/2006/main" r:embed="R5e9ed4b8366f46ed"/>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9723248"/>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37" name="Picture 33"/>
          <p:cNvPicPr>
            <a:picLocks xmlns:a="http://schemas.openxmlformats.org/drawingml/2006/main" noChangeAspect="1"/>
          </p:cNvPicPr>
          <p:nvPr/>
        </p:nvPicPr>
        <p:blipFill>
          <a:blip xmlns:r="http://schemas.openxmlformats.org/officeDocument/2006/relationships" xmlns:a="http://schemas.openxmlformats.org/drawingml/2006/main" r:embed="Rc4ceec65c7e04ccd"/>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2" name="Text 0">
            <a:extLst xmlns:a="http://schemas.openxmlformats.org/drawingml/2006/main">
              <a:ext uri="{FF2B5EF4-FFF2-40B4-BE49-F238E27FC236}">
                <a16:creationId xmlns:a16="http://schemas.microsoft.com/office/drawing/2014/main" id="{D20134DA-E0B7-46B0-9B40-DC9F127B683E}"/>
              </a:ext>
            </a:extLst>
          </p:cNvPr>
          <p:cNvSpPr>
            <a:spLocks xmlns:a="http://schemas.openxmlformats.org/drawingml/2006/main" noGrp="1"/>
          </p:cNvSpPr>
          <p:nvPr/>
        </p:nvSpPr>
        <p:spPr>
          <a:xfrm xmlns:a="http://schemas.openxmlformats.org/drawingml/2006/main">
            <a:off x="457200" y="969209"/>
            <a:ext cx="2038865" cy="37759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chemeClr val="bg1"/>
                </a:solidFill>
                <a:latin typeface="Arial Black"/>
                <a:ea typeface="Arial Black"/>
                <a:cs typeface="Arial Black"/>
              </a:rPr>
              <a:t>The Reality</a:t>
            </a:r>
            <a:endParaRPr sz="2400">
              <a:solidFill>
                <a:schemeClr val="bg1"/>
              </a:solidFill>
            </a:endParaRPr>
          </a:p>
        </p:txBody>
      </p:sp>
      <p:sp>
        <p:nvSpPr>
          <p:cNvPr id="3" name="Text 1">
            <a:extLst xmlns:a="http://schemas.openxmlformats.org/drawingml/2006/main">
              <a:ext uri="{FF2B5EF4-FFF2-40B4-BE49-F238E27FC236}">
                <a16:creationId xmlns:a16="http://schemas.microsoft.com/office/drawing/2014/main" id="{EACE6EFF-043C-4AFF-9033-D8AA587D6740}"/>
              </a:ext>
            </a:extLst>
          </p:cNvPr>
          <p:cNvSpPr>
            <a:spLocks xmlns:a="http://schemas.openxmlformats.org/drawingml/2006/main" noGrp="1"/>
          </p:cNvSpPr>
          <p:nvPr/>
        </p:nvSpPr>
        <p:spPr>
          <a:xfrm xmlns:a="http://schemas.openxmlformats.org/drawingml/2006/main">
            <a:off x="457200" y="1349884"/>
            <a:ext cx="2204798" cy="2224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64748B"/>
                </a:solidFill>
                <a:latin typeface="Trebuchet MS"/>
                <a:ea typeface="Trebuchet MS"/>
                <a:cs typeface="Trebuchet MS"/>
              </a:rPr>
              <a:t>Every analyst knows this folder.</a:t>
            </a:r>
            <a:endParaRPr sz="1100"/>
          </a:p>
        </p:txBody>
      </p:sp>
      <p:sp>
        <p:nvSpPr>
          <p:cNvPr id="4" name="Shape 2">
            <a:extLst xmlns:a="http://schemas.openxmlformats.org/drawingml/2006/main">
              <a:ext uri="{FF2B5EF4-FFF2-40B4-BE49-F238E27FC236}">
                <a16:creationId xmlns:a16="http://schemas.microsoft.com/office/drawing/2014/main" id="{21283AF4-5CED-4AD7-9910-879D315C44F8}"/>
              </a:ext>
            </a:extLst>
          </p:cNvPr>
          <p:cNvSpPr>
            <a:spLocks xmlns:a="http://schemas.openxmlformats.org/drawingml/2006/main" noGrp="1"/>
          </p:cNvSpPr>
          <p:nvPr/>
        </p:nvSpPr>
        <p:spPr>
          <a:xfrm xmlns:a="http://schemas.openxmlformats.org/drawingml/2006/main">
            <a:off x="325391" y="1858030"/>
            <a:ext cx="3657600" cy="2805839"/>
          </a:xfrm>
          <a:prstGeom xmlns:a="http://schemas.openxmlformats.org/drawingml/2006/main" prst="roundRect">
            <a:avLst>
              <a:gd name="adj" fmla="val 5276"/>
            </a:avLst>
          </a:prstGeom>
          <a:solidFill xmlns:a="http://schemas.openxmlformats.org/drawingml/2006/main">
            <a:srgbClr val="FFFFFF"/>
          </a:solidFill>
          <a:ln xmlns:a="http://schemas.openxmlformats.org/drawingml/2006/main" w="12700">
            <a:solidFill>
              <a:srgbClr val="E2E8F0"/>
            </a:solidFill>
            <a:prstDash val="solid"/>
          </a:ln>
          <a:effectLst xmlns:a="http://schemas.openxmlformats.org/drawingml/2006/main">
            <a:outerShdw blurRad="101600" dist="38100" dir="8100000" algn="bl" rotWithShape="0">
              <a:srgbClr val="000000">
                <a:alpha val="12000"/>
              </a:srgbClr>
            </a:outerShdw>
          </a:effectLst>
        </p:spPr>
      </p:sp>
      <p:sp>
        <p:nvSpPr>
          <p:cNvPr id="5" name="Shape 3">
            <a:extLst xmlns:a="http://schemas.openxmlformats.org/drawingml/2006/main">
              <a:ext uri="{FF2B5EF4-FFF2-40B4-BE49-F238E27FC236}">
                <a16:creationId xmlns:a16="http://schemas.microsoft.com/office/drawing/2014/main" id="{72A38667-8CDA-4A08-A243-33AB71AEE6BB}"/>
              </a:ext>
            </a:extLst>
          </p:cNvPr>
          <p:cNvSpPr>
            <a:spLocks xmlns:a="http://schemas.openxmlformats.org/drawingml/2006/main" noGrp="1"/>
          </p:cNvSpPr>
          <p:nvPr/>
        </p:nvSpPr>
        <p:spPr>
          <a:xfrm xmlns:a="http://schemas.openxmlformats.org/drawingml/2006/main">
            <a:off x="325391" y="1823394"/>
            <a:ext cx="3657600" cy="384048"/>
          </a:xfrm>
          <a:prstGeom xmlns:a="http://schemas.openxmlformats.org/drawingml/2006/main" prst="round2SameRect">
            <a:avLst>
              <a:gd name="adj1" fmla="val 24941"/>
              <a:gd name="adj2" fmla="val 0"/>
            </a:avLst>
          </a:prstGeom>
          <a:solidFill xmlns:a="http://schemas.openxmlformats.org/drawingml/2006/main">
            <a:srgbClr val="FEF3C7"/>
          </a:solidFill>
          <a:ln xmlns:a="http://schemas.openxmlformats.org/drawingml/2006/main" w="12700">
            <a:solidFill>
              <a:srgbClr val="FDE68A"/>
            </a:solidFill>
            <a:prstDash val="solid"/>
          </a:ln>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2fe13e39edf04daa"/>
          <a:stretch xmlns:a="http://schemas.openxmlformats.org/drawingml/2006/main">
            <a:fillRect l="0" t="0" r="0" b="0"/>
          </a:stretch>
        </p:blipFill>
        <p:spPr>
          <a:xfrm xmlns:a="http://schemas.openxmlformats.org/drawingml/2006/main">
            <a:off x="480839" y="1869114"/>
            <a:ext cx="256032" cy="256032"/>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91511D7-517E-43AA-8C72-1BD9D0827FC5}"/>
              </a:ext>
            </a:extLst>
          </p:cNvPr>
          <p:cNvSpPr>
            <a:spLocks xmlns:a="http://schemas.openxmlformats.org/drawingml/2006/main" noGrp="1"/>
          </p:cNvSpPr>
          <p:nvPr/>
        </p:nvSpPr>
        <p:spPr>
          <a:xfrm xmlns:a="http://schemas.openxmlformats.org/drawingml/2006/main">
            <a:off x="810023" y="1823394"/>
            <a:ext cx="30906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92400E"/>
                </a:solidFill>
                <a:latin typeface="Consolas"/>
                <a:ea typeface="Consolas"/>
                <a:cs typeface="Consolas"/>
              </a:rPr>
              <a:t>Downloads</a:t>
            </a:r>
            <a:endParaRPr sz="1100"/>
          </a:p>
        </p:txBody>
      </p:sp>
      <p:sp>
        <p:nvSpPr>
          <p:cNvPr id="8" name="Text 5">
            <a:extLst xmlns:a="http://schemas.openxmlformats.org/drawingml/2006/main">
              <a:ext uri="{FF2B5EF4-FFF2-40B4-BE49-F238E27FC236}">
                <a16:creationId xmlns:a16="http://schemas.microsoft.com/office/drawing/2014/main" id="{020D9BCA-8474-4D84-88FA-F33B1E1EC7B3}"/>
              </a:ext>
            </a:extLst>
          </p:cNvPr>
          <p:cNvSpPr>
            <a:spLocks xmlns:a="http://schemas.openxmlformats.org/drawingml/2006/main" noGrp="1"/>
          </p:cNvSpPr>
          <p:nvPr/>
        </p:nvSpPr>
        <p:spPr>
          <a:xfrm xmlns:a="http://schemas.openxmlformats.org/drawingml/2006/main">
            <a:off x="508271" y="2254263"/>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64748B"/>
                </a:solidFill>
                <a:latin typeface="Consolas"/>
                <a:ea typeface="Consolas"/>
                <a:cs typeface="Consolas"/>
              </a:rPr>
              <a:t>📄  Sales_Jan.xlsx</a:t>
            </a:r>
            <a:endParaRPr sz="950"/>
          </a:p>
        </p:txBody>
      </p:sp>
      <p:sp>
        <p:nvSpPr>
          <p:cNvPr id="9" name="Shape 6">
            <a:extLst xmlns:a="http://schemas.openxmlformats.org/drawingml/2006/main">
              <a:ext uri="{FF2B5EF4-FFF2-40B4-BE49-F238E27FC236}">
                <a16:creationId xmlns:a16="http://schemas.microsoft.com/office/drawing/2014/main" id="{671F4915-D6CC-4B57-9446-1753C5232CAE}"/>
              </a:ext>
            </a:extLst>
          </p:cNvPr>
          <p:cNvSpPr>
            <a:spLocks xmlns:a="http://schemas.openxmlformats.org/drawingml/2006/main" noGrp="1"/>
          </p:cNvSpPr>
          <p:nvPr/>
        </p:nvSpPr>
        <p:spPr>
          <a:xfrm xmlns:a="http://schemas.openxmlformats.org/drawingml/2006/main">
            <a:off x="416831" y="2629167"/>
            <a:ext cx="3474720" cy="9144"/>
          </a:xfrm>
          <a:prstGeom xmlns:a="http://schemas.openxmlformats.org/drawingml/2006/main" prst="rect">
            <a:avLst/>
          </a:prstGeom>
          <a:solidFill xmlns:a="http://schemas.openxmlformats.org/drawingml/2006/main">
            <a:srgbClr val="E2E8F0">
              <a:alpha val="58000"/>
            </a:srgbClr>
          </a:solidFill>
          <a:ln xmlns:a="http://schemas.openxmlformats.org/drawingml/2006/main" w="12700">
            <a:solidFill>
              <a:srgbClr val="E2E8F0"/>
            </a:solidFill>
            <a:prstDash val="solid"/>
          </a:ln>
        </p:spPr>
      </p:sp>
      <p:sp>
        <p:nvSpPr>
          <p:cNvPr id="10" name="Text 7">
            <a:extLst xmlns:a="http://schemas.openxmlformats.org/drawingml/2006/main">
              <a:ext uri="{FF2B5EF4-FFF2-40B4-BE49-F238E27FC236}">
                <a16:creationId xmlns:a16="http://schemas.microsoft.com/office/drawing/2014/main" id="{29CE06C1-29DD-4664-A445-5A60EB1C4EA5}"/>
              </a:ext>
            </a:extLst>
          </p:cNvPr>
          <p:cNvSpPr>
            <a:spLocks xmlns:a="http://schemas.openxmlformats.org/drawingml/2006/main" noGrp="1"/>
          </p:cNvSpPr>
          <p:nvPr/>
        </p:nvSpPr>
        <p:spPr>
          <a:xfrm xmlns:a="http://schemas.openxmlformats.org/drawingml/2006/main">
            <a:off x="508271" y="2711463"/>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64748B"/>
                </a:solidFill>
                <a:latin typeface="Consolas"/>
                <a:ea typeface="Consolas"/>
                <a:cs typeface="Consolas"/>
              </a:rPr>
              <a:t>📄  Sales_Jan_Final.xlsx</a:t>
            </a:r>
            <a:endParaRPr sz="950"/>
          </a:p>
        </p:txBody>
      </p:sp>
      <p:sp>
        <p:nvSpPr>
          <p:cNvPr id="11" name="Shape 8">
            <a:extLst xmlns:a="http://schemas.openxmlformats.org/drawingml/2006/main">
              <a:ext uri="{FF2B5EF4-FFF2-40B4-BE49-F238E27FC236}">
                <a16:creationId xmlns:a16="http://schemas.microsoft.com/office/drawing/2014/main" id="{97CE5A7D-FF24-4415-921E-7E443EFD1E0B}"/>
              </a:ext>
            </a:extLst>
          </p:cNvPr>
          <p:cNvSpPr>
            <a:spLocks xmlns:a="http://schemas.openxmlformats.org/drawingml/2006/main" noGrp="1"/>
          </p:cNvSpPr>
          <p:nvPr/>
        </p:nvSpPr>
        <p:spPr>
          <a:xfrm xmlns:a="http://schemas.openxmlformats.org/drawingml/2006/main">
            <a:off x="416831" y="3086367"/>
            <a:ext cx="3474720" cy="9144"/>
          </a:xfrm>
          <a:prstGeom xmlns:a="http://schemas.openxmlformats.org/drawingml/2006/main" prst="rect">
            <a:avLst/>
          </a:prstGeom>
          <a:solidFill xmlns:a="http://schemas.openxmlformats.org/drawingml/2006/main">
            <a:srgbClr val="E2E8F0">
              <a:alpha val="58000"/>
            </a:srgbClr>
          </a:solidFill>
          <a:ln xmlns:a="http://schemas.openxmlformats.org/drawingml/2006/main" w="12700">
            <a:solidFill>
              <a:srgbClr val="E2E8F0"/>
            </a:solidFill>
            <a:prstDash val="solid"/>
          </a:ln>
        </p:spPr>
      </p:sp>
      <p:sp>
        <p:nvSpPr>
          <p:cNvPr id="12" name="Text 9">
            <a:extLst xmlns:a="http://schemas.openxmlformats.org/drawingml/2006/main">
              <a:ext uri="{FF2B5EF4-FFF2-40B4-BE49-F238E27FC236}">
                <a16:creationId xmlns:a16="http://schemas.microsoft.com/office/drawing/2014/main" id="{75CDD962-44DB-47A6-A1E8-301F0212F486}"/>
              </a:ext>
            </a:extLst>
          </p:cNvPr>
          <p:cNvSpPr>
            <a:spLocks xmlns:a="http://schemas.openxmlformats.org/drawingml/2006/main" noGrp="1"/>
          </p:cNvSpPr>
          <p:nvPr/>
        </p:nvSpPr>
        <p:spPr>
          <a:xfrm xmlns:a="http://schemas.openxmlformats.org/drawingml/2006/main">
            <a:off x="508271" y="3168663"/>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64748B"/>
                </a:solidFill>
                <a:latin typeface="Consolas"/>
                <a:ea typeface="Consolas"/>
                <a:cs typeface="Consolas"/>
              </a:rPr>
              <a:t>📄  Sales_Jan_Final_v2.xlsx</a:t>
            </a:r>
            <a:endParaRPr sz="950"/>
          </a:p>
        </p:txBody>
      </p:sp>
      <p:sp>
        <p:nvSpPr>
          <p:cNvPr id="13" name="Shape 10">
            <a:extLst xmlns:a="http://schemas.openxmlformats.org/drawingml/2006/main">
              <a:ext uri="{FF2B5EF4-FFF2-40B4-BE49-F238E27FC236}">
                <a16:creationId xmlns:a16="http://schemas.microsoft.com/office/drawing/2014/main" id="{2356BD1C-480D-47A3-9F67-289376382304}"/>
              </a:ext>
            </a:extLst>
          </p:cNvPr>
          <p:cNvSpPr>
            <a:spLocks xmlns:a="http://schemas.openxmlformats.org/drawingml/2006/main" noGrp="1"/>
          </p:cNvSpPr>
          <p:nvPr/>
        </p:nvSpPr>
        <p:spPr>
          <a:xfrm xmlns:a="http://schemas.openxmlformats.org/drawingml/2006/main">
            <a:off x="416831" y="3543567"/>
            <a:ext cx="3474720" cy="9144"/>
          </a:xfrm>
          <a:prstGeom xmlns:a="http://schemas.openxmlformats.org/drawingml/2006/main" prst="rect">
            <a:avLst/>
          </a:prstGeom>
          <a:solidFill xmlns:a="http://schemas.openxmlformats.org/drawingml/2006/main">
            <a:srgbClr val="E2E8F0">
              <a:alpha val="58000"/>
            </a:srgbClr>
          </a:solidFill>
          <a:ln xmlns:a="http://schemas.openxmlformats.org/drawingml/2006/main" w="12700">
            <a:solidFill>
              <a:srgbClr val="E2E8F0"/>
            </a:solidFill>
            <a:prstDash val="solid"/>
          </a:ln>
        </p:spPr>
      </p:sp>
      <p:sp>
        <p:nvSpPr>
          <p:cNvPr id="14" name="Text 11">
            <a:extLst xmlns:a="http://schemas.openxmlformats.org/drawingml/2006/main">
              <a:ext uri="{FF2B5EF4-FFF2-40B4-BE49-F238E27FC236}">
                <a16:creationId xmlns:a16="http://schemas.microsoft.com/office/drawing/2014/main" id="{0E3998C4-CEE6-4A0B-80E8-BC3B10CDF6E8}"/>
              </a:ext>
            </a:extLst>
          </p:cNvPr>
          <p:cNvSpPr>
            <a:spLocks xmlns:a="http://schemas.openxmlformats.org/drawingml/2006/main" noGrp="1"/>
          </p:cNvSpPr>
          <p:nvPr/>
        </p:nvSpPr>
        <p:spPr>
          <a:xfrm xmlns:a="http://schemas.openxmlformats.org/drawingml/2006/main">
            <a:off x="508271" y="3625863"/>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EF4444"/>
                </a:solidFill>
                <a:latin typeface="Consolas"/>
                <a:ea typeface="Consolas"/>
                <a:cs typeface="Consolas"/>
              </a:rPr>
              <a:t>📄  Sales_Jan_Final_v2_Updated.xlsx</a:t>
            </a:r>
            <a:endParaRPr sz="950"/>
          </a:p>
        </p:txBody>
      </p:sp>
      <p:sp>
        <p:nvSpPr>
          <p:cNvPr id="15" name="Shape 12">
            <a:extLst xmlns:a="http://schemas.openxmlformats.org/drawingml/2006/main">
              <a:ext uri="{FF2B5EF4-FFF2-40B4-BE49-F238E27FC236}">
                <a16:creationId xmlns:a16="http://schemas.microsoft.com/office/drawing/2014/main" id="{83623FA7-F8D5-4261-A0DF-D46559F76A35}"/>
              </a:ext>
            </a:extLst>
          </p:cNvPr>
          <p:cNvSpPr>
            <a:spLocks xmlns:a="http://schemas.openxmlformats.org/drawingml/2006/main" noGrp="1"/>
          </p:cNvSpPr>
          <p:nvPr/>
        </p:nvSpPr>
        <p:spPr>
          <a:xfrm xmlns:a="http://schemas.openxmlformats.org/drawingml/2006/main">
            <a:off x="416831" y="4000767"/>
            <a:ext cx="3474720" cy="9144"/>
          </a:xfrm>
          <a:prstGeom xmlns:a="http://schemas.openxmlformats.org/drawingml/2006/main" prst="rect">
            <a:avLst/>
          </a:prstGeom>
          <a:solidFill xmlns:a="http://schemas.openxmlformats.org/drawingml/2006/main">
            <a:srgbClr val="E2E8F0">
              <a:alpha val="58000"/>
            </a:srgbClr>
          </a:solidFill>
          <a:ln xmlns:a="http://schemas.openxmlformats.org/drawingml/2006/main" w="12700">
            <a:solidFill>
              <a:srgbClr val="E2E8F0"/>
            </a:solidFill>
            <a:prstDash val="solid"/>
          </a:ln>
        </p:spPr>
      </p:sp>
      <p:sp>
        <p:nvSpPr>
          <p:cNvPr id="16" name="Text 13">
            <a:extLst xmlns:a="http://schemas.openxmlformats.org/drawingml/2006/main">
              <a:ext uri="{FF2B5EF4-FFF2-40B4-BE49-F238E27FC236}">
                <a16:creationId xmlns:a16="http://schemas.microsoft.com/office/drawing/2014/main" id="{5311ED80-B884-40F4-AE97-27955B28825C}"/>
              </a:ext>
            </a:extLst>
          </p:cNvPr>
          <p:cNvSpPr>
            <a:spLocks xmlns:a="http://schemas.openxmlformats.org/drawingml/2006/main" noGrp="1"/>
          </p:cNvSpPr>
          <p:nvPr/>
        </p:nvSpPr>
        <p:spPr>
          <a:xfrm xmlns:a="http://schemas.openxmlformats.org/drawingml/2006/main">
            <a:off x="508271" y="4083063"/>
            <a:ext cx="3337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EF4444"/>
                </a:solidFill>
                <a:latin typeface="Consolas"/>
                <a:ea typeface="Consolas"/>
                <a:cs typeface="Consolas"/>
              </a:rPr>
              <a:t>⚠️  FINAL_USE_THIS_ONE.xlsx</a:t>
            </a:r>
            <a:endParaRPr sz="950"/>
          </a:p>
        </p:txBody>
      </p:sp>
      <p:sp>
        <p:nvSpPr>
          <p:cNvPr id="17" name="Text 14">
            <a:extLst xmlns:a="http://schemas.openxmlformats.org/drawingml/2006/main">
              <a:ext uri="{FF2B5EF4-FFF2-40B4-BE49-F238E27FC236}">
                <a16:creationId xmlns:a16="http://schemas.microsoft.com/office/drawing/2014/main" id="{F2A2ED9A-0A70-49F1-9649-FDD5E773429F}"/>
              </a:ext>
            </a:extLst>
          </p:cNvPr>
          <p:cNvSpPr>
            <a:spLocks xmlns:a="http://schemas.openxmlformats.org/drawingml/2006/main" noGrp="1"/>
          </p:cNvSpPr>
          <p:nvPr/>
        </p:nvSpPr>
        <p:spPr>
          <a:xfrm xmlns:a="http://schemas.openxmlformats.org/drawingml/2006/main">
            <a:off x="4239023" y="1795131"/>
            <a:ext cx="6400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a:solidFill>
                  <a:srgbClr val="64748B"/>
                </a:solidFill>
                <a:latin typeface="Arial Black"/>
                <a:ea typeface="Arial Black"/>
                <a:cs typeface="Arial Black"/>
              </a:rPr>
              <a:t>↓</a:t>
            </a:r>
            <a:endParaRPr sz="2800"/>
          </a:p>
        </p:txBody>
      </p:sp>
      <p:sp>
        <p:nvSpPr>
          <p:cNvPr id="18" name="Shape 15">
            <a:extLst xmlns:a="http://schemas.openxmlformats.org/drawingml/2006/main">
              <a:ext uri="{FF2B5EF4-FFF2-40B4-BE49-F238E27FC236}">
                <a16:creationId xmlns:a16="http://schemas.microsoft.com/office/drawing/2014/main" id="{9843C124-0195-4505-A38D-96A8A69ACBA9}"/>
              </a:ext>
            </a:extLst>
          </p:cNvPr>
          <p:cNvSpPr>
            <a:spLocks xmlns:a="http://schemas.openxmlformats.org/drawingml/2006/main" noGrp="1"/>
          </p:cNvSpPr>
          <p:nvPr/>
        </p:nvSpPr>
        <p:spPr>
          <a:xfrm xmlns:a="http://schemas.openxmlformats.org/drawingml/2006/main">
            <a:off x="4165871" y="2480931"/>
            <a:ext cx="749808" cy="749808"/>
          </a:xfrm>
          <a:prstGeom xmlns:a="http://schemas.openxmlformats.org/drawingml/2006/main" prst="ellipse">
            <a:avLst/>
          </a:prstGeom>
          <a:solidFill xmlns:a="http://schemas.openxmlformats.org/drawingml/2006/main">
            <a:srgbClr val="002060"/>
          </a:solidFill>
          <a:ln xmlns:a="http://schemas.openxmlformats.org/drawingml/2006/main" w="19050">
            <a:solidFill>
              <a:schemeClr val="bg1">
                <a:lumMod val="95000"/>
              </a:schemeClr>
            </a:solidFill>
            <a:prstDash val="solid"/>
          </a:ln>
        </p:spPr>
      </p:sp>
      <p:pic>
        <p:nvPicPr>
          <p:cNvPr id="55" name="Image 1"/>
          <p:cNvPicPr>
            <a:picLocks xmlns:a="http://schemas.openxmlformats.org/drawingml/2006/main" noChangeAspect="1"/>
          </p:cNvPicPr>
          <p:nvPr/>
        </p:nvPicPr>
        <p:blipFill>
          <a:blip xmlns:r="http://schemas.openxmlformats.org/officeDocument/2006/relationships" xmlns:a="http://schemas.openxmlformats.org/drawingml/2006/main" r:embed="R9f99d95e800b428f"/>
          <a:stretch xmlns:a="http://schemas.openxmlformats.org/drawingml/2006/main">
            <a:fillRect l="0" t="0" r="0" b="0"/>
          </a:stretch>
        </p:blipFill>
        <p:spPr>
          <a:xfrm xmlns:a="http://schemas.openxmlformats.org/drawingml/2006/main">
            <a:off x="4303031" y="2618091"/>
            <a:ext cx="475488" cy="475488"/>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297AB4DA-ED5B-432F-98C0-D9ACF701830A}"/>
              </a:ext>
            </a:extLst>
          </p:cNvPr>
          <p:cNvSpPr>
            <a:spLocks xmlns:a="http://schemas.openxmlformats.org/drawingml/2006/main" noGrp="1"/>
          </p:cNvSpPr>
          <p:nvPr/>
        </p:nvSpPr>
        <p:spPr>
          <a:xfrm xmlns:a="http://schemas.openxmlformats.org/drawingml/2006/main">
            <a:off x="4101863" y="3276459"/>
            <a:ext cx="868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a:solidFill>
                  <a:srgbClr val="64748B"/>
                </a:solidFill>
                <a:latin typeface="Trebuchet MS"/>
                <a:ea typeface="Trebuchet MS"/>
                <a:cs typeface="Trebuchet MS"/>
              </a:rPr>
              <a:t>Analyst</a:t>
            </a:r>
            <a:endParaRPr sz="900"/>
          </a:p>
        </p:txBody>
      </p:sp>
      <p:sp>
        <p:nvSpPr>
          <p:cNvPr id="21" name="Text 17">
            <a:extLst xmlns:a="http://schemas.openxmlformats.org/drawingml/2006/main">
              <a:ext uri="{FF2B5EF4-FFF2-40B4-BE49-F238E27FC236}">
                <a16:creationId xmlns:a16="http://schemas.microsoft.com/office/drawing/2014/main" id="{EDE51118-0D05-445F-BB22-612E36191F29}"/>
              </a:ext>
            </a:extLst>
          </p:cNvPr>
          <p:cNvSpPr>
            <a:spLocks xmlns:a="http://schemas.openxmlformats.org/drawingml/2006/main" noGrp="1"/>
          </p:cNvSpPr>
          <p:nvPr/>
        </p:nvSpPr>
        <p:spPr>
          <a:xfrm xmlns:a="http://schemas.openxmlformats.org/drawingml/2006/main">
            <a:off x="4239023" y="3578211"/>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a:solidFill>
                  <a:srgbClr val="EF4444"/>
                </a:solidFill>
                <a:latin typeface="Arial Black"/>
                <a:ea typeface="Arial Black"/>
                <a:cs typeface="Arial Black"/>
              </a:rPr>
              <a:t>↓</a:t>
            </a:r>
            <a:endParaRPr sz="2800"/>
          </a:p>
        </p:txBody>
      </p:sp>
      <p:sp>
        <p:nvSpPr>
          <p:cNvPr id="22" name="Shape 18">
            <a:extLst xmlns:a="http://schemas.openxmlformats.org/drawingml/2006/main">
              <a:ext uri="{FF2B5EF4-FFF2-40B4-BE49-F238E27FC236}">
                <a16:creationId xmlns:a16="http://schemas.microsoft.com/office/drawing/2014/main" id="{14E65461-A277-4A10-A3D5-ECF99F9EC324}"/>
              </a:ext>
            </a:extLst>
          </p:cNvPr>
          <p:cNvSpPr>
            <a:spLocks xmlns:a="http://schemas.openxmlformats.org/drawingml/2006/main" noGrp="1"/>
          </p:cNvSpPr>
          <p:nvPr/>
        </p:nvSpPr>
        <p:spPr>
          <a:xfrm xmlns:a="http://schemas.openxmlformats.org/drawingml/2006/main">
            <a:off x="4124723" y="4155623"/>
            <a:ext cx="868680" cy="365760"/>
          </a:xfrm>
          <a:prstGeom xmlns:a="http://schemas.openxmlformats.org/drawingml/2006/main" prst="roundRect">
            <a:avLst/>
          </a:prstGeom>
          <a:solidFill xmlns:a="http://schemas.openxmlformats.org/drawingml/2006/main">
            <a:schemeClr val="bg2">
              <a:lumMod val="10000"/>
            </a:schemeClr>
          </a:solidFill>
          <a:ln xmlns:a="http://schemas.openxmlformats.org/drawingml/2006/main" w="19050">
            <a:solidFill>
              <a:srgbClr val="EF4444"/>
            </a:solidFill>
            <a:prstDash val="solid"/>
          </a:ln>
        </p:spPr>
      </p:sp>
      <p:sp>
        <p:nvSpPr>
          <p:cNvPr id="23" name="Text 19">
            <a:extLst xmlns:a="http://schemas.openxmlformats.org/drawingml/2006/main">
              <a:ext uri="{FF2B5EF4-FFF2-40B4-BE49-F238E27FC236}">
                <a16:creationId xmlns:a16="http://schemas.microsoft.com/office/drawing/2014/main" id="{D71D9EC4-3B09-4B2E-9057-62FB86106B6D}"/>
              </a:ext>
            </a:extLst>
          </p:cNvPr>
          <p:cNvSpPr>
            <a:spLocks xmlns:a="http://schemas.openxmlformats.org/drawingml/2006/main" noGrp="1"/>
          </p:cNvSpPr>
          <p:nvPr/>
        </p:nvSpPr>
        <p:spPr>
          <a:xfrm xmlns:a="http://schemas.openxmlformats.org/drawingml/2006/main">
            <a:off x="4147583" y="4155623"/>
            <a:ext cx="868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EF4444"/>
                </a:solidFill>
                <a:latin typeface="Trebuchet MS"/>
                <a:ea typeface="Trebuchet MS"/>
                <a:cs typeface="Trebuchet MS"/>
              </a:rPr>
              <a:t>❌ Error</a:t>
            </a:r>
            <a:endParaRPr sz="1000"/>
          </a:p>
        </p:txBody>
      </p:sp>
      <p:sp>
        <p:nvSpPr>
          <p:cNvPr id="24" name="Shape 20">
            <a:extLst xmlns:a="http://schemas.openxmlformats.org/drawingml/2006/main">
              <a:ext uri="{FF2B5EF4-FFF2-40B4-BE49-F238E27FC236}">
                <a16:creationId xmlns:a16="http://schemas.microsoft.com/office/drawing/2014/main" id="{0EB4EDD1-9DB8-4FEC-96E9-DA05E4381DE8}"/>
              </a:ext>
            </a:extLst>
          </p:cNvPr>
          <p:cNvSpPr>
            <a:spLocks xmlns:a="http://schemas.openxmlformats.org/drawingml/2006/main" noGrp="1"/>
          </p:cNvSpPr>
          <p:nvPr/>
        </p:nvSpPr>
        <p:spPr>
          <a:xfrm xmlns:a="http://schemas.openxmlformats.org/drawingml/2006/main">
            <a:off x="5124439" y="1823394"/>
            <a:ext cx="3657595" cy="2832230"/>
          </a:xfrm>
          <a:prstGeom xmlns:a="http://schemas.openxmlformats.org/drawingml/2006/main" prst="roundRect">
            <a:avLst>
              <a:gd name="adj" fmla="val 3494"/>
            </a:avLst>
          </a:prstGeom>
          <a:solidFill xmlns:a="http://schemas.openxmlformats.org/drawingml/2006/main">
            <a:schemeClr val="tx1">
              <a:lumMod val="95000"/>
              <a:lumOff val="5000"/>
              <a:alpha val="57000"/>
            </a:schemeClr>
          </a:solidFill>
          <a:ln xmlns:a="http://schemas.openxmlformats.org/drawingml/2006/main" w="9525">
            <a:solidFill>
              <a:schemeClr val="accent5">
                <a:lumMod val="20000"/>
                <a:lumOff val="80000"/>
              </a:schemeClr>
            </a:solidFill>
            <a:prstDash val="solid"/>
          </a:ln>
          <a:effectLst xmlns:a="http://schemas.openxmlformats.org/drawingml/2006/main">
            <a:outerShdw blurRad="101600" dist="38100" dir="8100000" algn="bl" rotWithShape="0">
              <a:srgbClr val="000000">
                <a:alpha val="12000"/>
              </a:srgbClr>
            </a:outerShdw>
          </a:effectLst>
        </p:spPr>
      </p:sp>
      <p:sp>
        <p:nvSpPr>
          <p:cNvPr id="25" name="Text 21">
            <a:extLst xmlns:a="http://schemas.openxmlformats.org/drawingml/2006/main">
              <a:ext uri="{FF2B5EF4-FFF2-40B4-BE49-F238E27FC236}">
                <a16:creationId xmlns:a16="http://schemas.microsoft.com/office/drawing/2014/main" id="{7351274C-F4A6-43CB-9258-B7F86DD190D9}"/>
              </a:ext>
            </a:extLst>
          </p:cNvPr>
          <p:cNvSpPr>
            <a:spLocks xmlns:a="http://schemas.openxmlformats.org/drawingml/2006/main" noGrp="1"/>
          </p:cNvSpPr>
          <p:nvPr/>
        </p:nvSpPr>
        <p:spPr>
          <a:xfrm xmlns:a="http://schemas.openxmlformats.org/drawingml/2006/main">
            <a:off x="5122173" y="2133546"/>
            <a:ext cx="365759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800" b="1">
                <a:solidFill>
                  <a:srgbClr val="EF4444"/>
                </a:solidFill>
                <a:latin typeface="Arial Black"/>
                <a:ea typeface="Arial Black"/>
                <a:cs typeface="Arial Black"/>
              </a:rPr>
              <a:t>58%</a:t>
            </a:r>
            <a:endParaRPr sz="8800"/>
          </a:p>
        </p:txBody>
      </p:sp>
      <p:sp>
        <p:nvSpPr>
          <p:cNvPr id="26" name="Text 22">
            <a:extLst xmlns:a="http://schemas.openxmlformats.org/drawingml/2006/main">
              <a:ext uri="{FF2B5EF4-FFF2-40B4-BE49-F238E27FC236}">
                <a16:creationId xmlns:a16="http://schemas.microsoft.com/office/drawing/2014/main" id="{542D9CC1-F650-4804-B4D3-445AD192DCCE}"/>
              </a:ext>
            </a:extLst>
          </p:cNvPr>
          <p:cNvSpPr>
            <a:spLocks xmlns:a="http://schemas.openxmlformats.org/drawingml/2006/main" noGrp="1"/>
          </p:cNvSpPr>
          <p:nvPr/>
        </p:nvSpPr>
        <p:spPr>
          <a:xfrm xmlns:a="http://schemas.openxmlformats.org/drawingml/2006/main">
            <a:off x="5122173" y="3354944"/>
            <a:ext cx="365759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defRPr sz="1275">
                <a:solidFill>
                  <a:srgbClr val="94A3B8"/>
                </a:solidFill>
                <a:latin typeface="Trebuchet MS"/>
                <a:ea typeface="Trebuchet MS"/>
                <a:cs typeface="Trebuchet MS"/>
              </a:defRPr>
            </a:pPr>
            <a:r>
              <a:rPr sz="1275">
                <a:solidFill>
                  <a:srgbClr val="94A3B8"/>
                </a:solidFill>
                <a:latin typeface="Trebuchet MS"/>
                <a:ea typeface="Trebuchet MS"/>
                <a:cs typeface="Trebuchet MS"/>
              </a:rPr>
              <a:t>report key decisions based on</a:t>
            </a:r>
            <a:endParaRPr sz="1400"/>
          </a:p>
          <a:p xmlns:a="http://schemas.openxmlformats.org/drawingml/2006/main">
            <a:pPr marL="0" indent="0" algn="ctr">
              <a:buNone/>
              <a:defRPr sz="1275">
                <a:solidFill>
                  <a:srgbClr val="94A3B8"/>
                </a:solidFill>
                <a:latin typeface="Trebuchet MS"/>
                <a:ea typeface="Trebuchet MS"/>
                <a:cs typeface="Trebuchet MS"/>
              </a:defRPr>
            </a:pPr>
            <a:r>
              <a:rPr sz="1275">
                <a:solidFill>
                  <a:srgbClr val="94A3B8"/>
                </a:solidFill>
                <a:latin typeface="Trebuchet MS"/>
                <a:ea typeface="Trebuchet MS"/>
                <a:cs typeface="Trebuchet MS"/>
              </a:rPr>
              <a:t>inaccurate or inconsistent data</a:t>
            </a:r>
            <a:endParaRPr sz="1400">
              <a:solidFill>
                <a:srgbClr val="EF4444"/>
              </a:solidFill>
            </a:endParaRPr>
          </a:p>
        </p:txBody>
      </p:sp>
      <p:sp>
        <p:nvSpPr>
          <p:cNvPr id="27" name="Text 23">
            <a:extLst xmlns:a="http://schemas.openxmlformats.org/drawingml/2006/main">
              <a:ext uri="{FF2B5EF4-FFF2-40B4-BE49-F238E27FC236}">
                <a16:creationId xmlns:a16="http://schemas.microsoft.com/office/drawing/2014/main" id="{026FFE91-CFAB-46CE-8420-ABECB7878068}"/>
              </a:ext>
            </a:extLst>
          </p:cNvPr>
          <p:cNvSpPr>
            <a:spLocks xmlns:a="http://schemas.openxmlformats.org/drawingml/2006/main" noGrp="1"/>
          </p:cNvSpPr>
          <p:nvPr/>
        </p:nvSpPr>
        <p:spPr>
          <a:xfrm xmlns:a="http://schemas.openxmlformats.org/drawingml/2006/main">
            <a:off x="5122173" y="4188388"/>
            <a:ext cx="3657595"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475569"/>
                </a:solidFill>
                <a:latin typeface="Trebuchet MS"/>
                <a:ea typeface="Trebuchet MS"/>
                <a:cs typeface="Trebuchet MS"/>
              </a:rPr>
              <a:t>SOURCE: KPMG, IMPACT OF DATA RISK</a:t>
            </a:r>
            <a:endParaRPr sz="850" b="1"/>
          </a:p>
        </p:txBody>
      </p:sp>
      <p:sp>
        <p:nvSpPr>
          <p:cNvPr id="32" name="Text 23">
            <a:extLst xmlns:a="http://schemas.openxmlformats.org/drawingml/2006/main">
              <a:ext uri="{FF2B5EF4-FFF2-40B4-BE49-F238E27FC236}">
                <a16:creationId xmlns:a16="http://schemas.microsoft.com/office/drawing/2014/main" id="{94D7A274-B4D9-361D-3114-EBB70EF5BB7E}"/>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29" name="Shape 21">
            <a:extLst xmlns:a="http://schemas.openxmlformats.org/drawingml/2006/main">
              <a:ext uri="{FF2B5EF4-FFF2-40B4-BE49-F238E27FC236}">
                <a16:creationId xmlns:a16="http://schemas.microsoft.com/office/drawing/2014/main" id="{E1F3E073-04A9-F664-C7BB-92B710D13DED}"/>
              </a:ext>
            </a:extLst>
          </p:cNvPr>
          <p:cNvSpPr>
            <a:spLocks xmlns:a="http://schemas.openxmlformats.org/drawingml/2006/main" noGrp="1"/>
          </p:cNvSpPr>
          <p:nvPr/>
        </p:nvSpPr>
        <p:spPr>
          <a:xfrm xmlns:a="http://schemas.openxmlformats.org/drawingml/2006/main">
            <a:off x="457200" y="490926"/>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FF0000"/>
            </a:solidFill>
            <a:prstDash val="dash"/>
          </a:ln>
        </p:spPr>
      </p:sp>
      <p:sp>
        <p:nvSpPr>
          <p:cNvPr id="30" name="Text 22">
            <a:extLst xmlns:a="http://schemas.openxmlformats.org/drawingml/2006/main">
              <a:ext uri="{FF2B5EF4-FFF2-40B4-BE49-F238E27FC236}">
                <a16:creationId xmlns:a16="http://schemas.microsoft.com/office/drawing/2014/main" id="{F1DF9144-F837-E089-AD85-F61E70A76F56}"/>
              </a:ext>
            </a:extLst>
          </p:cNvPr>
          <p:cNvSpPr>
            <a:spLocks xmlns:a="http://schemas.openxmlformats.org/drawingml/2006/main" noGrp="1"/>
          </p:cNvSpPr>
          <p:nvPr/>
        </p:nvSpPr>
        <p:spPr>
          <a:xfrm xmlns:a="http://schemas.openxmlformats.org/drawingml/2006/main">
            <a:off x="457200" y="490926"/>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50">
                <a:solidFill>
                  <a:srgbClr val="FF0000"/>
                </a:solidFill>
                <a:latin typeface="Trebuchet MS"/>
                <a:ea typeface="Trebuchet MS"/>
                <a:cs typeface="Trebuchet MS"/>
              </a:rPr>
              <a:t>THE PROBLEM</a:t>
            </a:r>
            <a:endParaRPr sz="850">
              <a:solidFill>
                <a:srgbClr val="FF0000"/>
              </a:solidFill>
            </a:endParaRPr>
          </a:p>
        </p:txBody>
      </p:sp>
      <p:pic>
        <p:nvPicPr>
          <p:cNvPr id="67" name="Picture 66"/>
          <p:cNvPicPr>
            <a:picLocks xmlns:a="http://schemas.openxmlformats.org/drawingml/2006/main" noChangeAspect="1"/>
          </p:cNvPicPr>
          <p:nvPr/>
        </p:nvPicPr>
        <p:blipFill>
          <a:blip xmlns:r="http://schemas.openxmlformats.org/officeDocument/2006/relationships" xmlns:a="http://schemas.openxmlformats.org/drawingml/2006/main" r:embed="R219831d500dd4563"/>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1980007304"/>
      </p:ext>
    </p:extLst>
  </p:cSld>
</p:sld>
</file>

<file path=ppt/slides/slide3.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2626B16-7E03-F5A8-A8CF-59FC482FDFCA}"/>
              </a:ext>
            </a:extLst>
          </p:cNvPr>
          <p:cNvSpPr>
            <a:spLocks xmlns:a="http://schemas.openxmlformats.org/drawingml/2006/main" noGrp="1"/>
          </p:cNvSpPr>
          <p:nvPr/>
        </p:nvSpPr>
        <p:spPr>
          <a:xfrm xmlns:a="http://schemas.openxmlformats.org/drawingml/2006/main">
            <a:off x="457200" y="917776"/>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Montserrat"/>
                <a:ea typeface="Montserrat"/>
                <a:cs typeface="Montserrat"/>
              </a:rPr>
              <a:t>One Platform. </a:t>
            </a:r>
            <a:r>
              <a:rPr sz="3400">
                <a:solidFill>
                  <a:srgbClr val="FFFFFF"/>
                </a:solidFill>
                <a:latin typeface="Montserrat"/>
                <a:ea typeface="Montserrat"/>
                <a:cs typeface="Montserrat"/>
              </a:rPr>
              <a:t>One Workflow.</a:t>
            </a:r>
            <a:endParaRPr sz="3400">
              <a:latin typeface="Montserrat"/>
              <a:ea typeface="Montserrat"/>
              <a:cs typeface="Montserrat"/>
            </a:endParaRPr>
          </a:p>
        </p:txBody>
      </p:sp>
      <p:sp>
        <p:nvSpPr>
          <p:cNvPr id="3" name="Text 1">
            <a:extLst xmlns:a="http://schemas.openxmlformats.org/drawingml/2006/main">
              <a:ext uri="{FF2B5EF4-FFF2-40B4-BE49-F238E27FC236}">
                <a16:creationId xmlns:a16="http://schemas.microsoft.com/office/drawing/2014/main" id="{CB583B3D-4EA2-DECE-EE75-FA60557DE08C}"/>
              </a:ext>
            </a:extLst>
          </p:cNvPr>
          <p:cNvSpPr>
            <a:spLocks xmlns:a="http://schemas.openxmlformats.org/drawingml/2006/main" noGrp="1"/>
          </p:cNvSpPr>
          <p:nvPr/>
        </p:nvSpPr>
        <p:spPr>
          <a:xfrm xmlns:a="http://schemas.openxmlformats.org/drawingml/2006/main">
            <a:off x="457200" y="1392607"/>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Montserrat"/>
                <a:ea typeface="Montserrat"/>
                <a:cs typeface="Montserrat"/>
              </a:rPr>
              <a:t>Every step in sequence. No gaps, no guesswork, no code.</a:t>
            </a:r>
            <a:endParaRPr sz="1400">
              <a:latin typeface="Montserrat"/>
              <a:ea typeface="Montserrat"/>
              <a:cs typeface="Montserrat"/>
            </a:endParaRPr>
          </a:p>
        </p:txBody>
      </p:sp>
      <p:sp>
        <p:nvSpPr>
          <p:cNvPr id="57" name="Shape 49">
            <a:extLst xmlns:a="http://schemas.openxmlformats.org/drawingml/2006/main">
              <a:ext uri="{FF2B5EF4-FFF2-40B4-BE49-F238E27FC236}">
                <a16:creationId xmlns:a16="http://schemas.microsoft.com/office/drawing/2014/main" id="{71595C3A-5B52-B8E3-BE37-83EDB5AE1D88}"/>
              </a:ext>
            </a:extLst>
          </p:cNvPr>
          <p:cNvSpPr>
            <a:spLocks xmlns:a="http://schemas.openxmlformats.org/drawingml/2006/main" noGrp="1"/>
          </p:cNvSpPr>
          <p:nvPr/>
        </p:nvSpPr>
        <p:spPr>
          <a:xfrm xmlns:a="http://schemas.openxmlformats.org/drawingml/2006/main">
            <a:off x="410615" y="4228536"/>
            <a:ext cx="8322772" cy="347472"/>
          </a:xfrm>
          <a:prstGeom xmlns:a="http://schemas.openxmlformats.org/drawingml/2006/main" prst="roundRect">
            <a:avLst>
              <a:gd name="adj" fmla="val 29567"/>
            </a:avLst>
          </a:prstGeom>
          <a:solidFill xmlns:a="http://schemas.openxmlformats.org/drawingml/2006/main">
            <a:srgbClr val="1E2A3B"/>
          </a:solidFill>
          <a:ln xmlns:a="http://schemas.openxmlformats.org/drawingml/2006/main" w="19050">
            <a:noFill/>
            <a:prstDash val="solid"/>
          </a:ln>
        </p:spPr>
      </p:sp>
      <p:sp>
        <p:nvSpPr>
          <p:cNvPr id="58" name="Text 50">
            <a:extLst xmlns:a="http://schemas.openxmlformats.org/drawingml/2006/main">
              <a:ext uri="{FF2B5EF4-FFF2-40B4-BE49-F238E27FC236}">
                <a16:creationId xmlns:a16="http://schemas.microsoft.com/office/drawing/2014/main" id="{49D0A204-C53C-CFA4-5CA7-0248D2D8107B}"/>
              </a:ext>
            </a:extLst>
          </p:cNvPr>
          <p:cNvSpPr>
            <a:spLocks xmlns:a="http://schemas.openxmlformats.org/drawingml/2006/main" noGrp="1"/>
          </p:cNvSpPr>
          <p:nvPr/>
        </p:nvSpPr>
        <p:spPr>
          <a:xfrm xmlns:a="http://schemas.openxmlformats.org/drawingml/2006/main">
            <a:off x="457463" y="4228536"/>
            <a:ext cx="827592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chemeClr val="tx1">
                    <a:lumMod val="50000"/>
                    <a:lumOff val="50000"/>
                  </a:schemeClr>
                </a:solidFill>
                <a:latin typeface="Montserrat"/>
                <a:ea typeface="Montserrat"/>
                <a:cs typeface="Montserrat"/>
              </a:rPr>
              <a:t>Guided sequence · Session state preserved · Audit report beside each export</a:t>
            </a:r>
          </a:p>
        </p:txBody>
      </p:sp>
      <p:sp>
        <p:nvSpPr>
          <p:cNvPr id="62" name="Text 23">
            <a:extLst xmlns:a="http://schemas.openxmlformats.org/drawingml/2006/main">
              <a:ext uri="{FF2B5EF4-FFF2-40B4-BE49-F238E27FC236}">
                <a16:creationId xmlns:a16="http://schemas.microsoft.com/office/drawing/2014/main" id="{617EFCD5-5507-C478-2700-E194635C316D}"/>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63" name="Shape 21">
            <a:extLst xmlns:a="http://schemas.openxmlformats.org/drawingml/2006/main">
              <a:ext uri="{FF2B5EF4-FFF2-40B4-BE49-F238E27FC236}">
                <a16:creationId xmlns:a16="http://schemas.microsoft.com/office/drawing/2014/main" id="{2D14A896-D49F-718E-610C-12F77584295B}"/>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2563EB"/>
            </a:solidFill>
            <a:prstDash val="dash"/>
          </a:ln>
        </p:spPr>
      </p:sp>
      <p:sp>
        <p:nvSpPr>
          <p:cNvPr id="64" name="Text 22">
            <a:extLst xmlns:a="http://schemas.openxmlformats.org/drawingml/2006/main">
              <a:ext uri="{FF2B5EF4-FFF2-40B4-BE49-F238E27FC236}">
                <a16:creationId xmlns:a16="http://schemas.microsoft.com/office/drawing/2014/main" id="{EC12F696-ECAC-9B40-17FB-C4CA036C7FAB}"/>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50">
                <a:solidFill>
                  <a:srgbClr val="3B82F6"/>
                </a:solidFill>
                <a:latin typeface="Trebuchet MS"/>
                <a:ea typeface="Trebuchet MS"/>
                <a:cs typeface="Trebuchet MS"/>
              </a:rPr>
              <a:t>THE PRODUCT</a:t>
            </a:r>
            <a:endParaRPr sz="850"/>
          </a:p>
        </p:txBody>
      </p:sp>
      <p:sp>
        <p:nvSpPr>
          <p:cNvPr id="70" name="Rectangle: Top Corners Rounded 69">
            <a:extLst xmlns:a="http://schemas.openxmlformats.org/drawingml/2006/main">
              <a:ext uri="{FF2B5EF4-FFF2-40B4-BE49-F238E27FC236}">
                <a16:creationId xmlns:a16="http://schemas.microsoft.com/office/drawing/2014/main" id="{3947DD31-5E41-E133-1C53-29CEE32B7640}"/>
              </a:ext>
            </a:extLst>
          </p:cNvPr>
          <p:cNvSpPr>
            <a:spLocks xmlns:a="http://schemas.openxmlformats.org/drawingml/2006/main" noGrp="1"/>
          </p:cNvSpPr>
          <p:nvPr/>
        </p:nvSpPr>
        <p:spPr>
          <a:xfrm xmlns:a="http://schemas.openxmlformats.org/drawingml/2006/main">
            <a:off x="410615" y="1978574"/>
            <a:ext cx="1210234" cy="290829"/>
          </a:xfrm>
          <a:prstGeom xmlns:a="http://schemas.openxmlformats.org/drawingml/2006/main" prst="round2SameRect">
            <a:avLst>
              <a:gd name="adj1" fmla="val 34443"/>
              <a:gd name="adj2" fmla="val 0"/>
            </a:avLst>
          </a:prstGeom>
          <a:solidFill xmlns:a="http://schemas.openxmlformats.org/drawingml/2006/main">
            <a:srgbClr val="E0A03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9" name="Rectangle: Rounded Corners 68">
            <a:extLst xmlns:a="http://schemas.openxmlformats.org/drawingml/2006/main">
              <a:ext uri="{FF2B5EF4-FFF2-40B4-BE49-F238E27FC236}">
                <a16:creationId xmlns:a16="http://schemas.microsoft.com/office/drawing/2014/main" id="{109FA27E-E953-22EB-12B2-C511874E0F7C}"/>
              </a:ext>
            </a:extLst>
          </p:cNvPr>
          <p:cNvSpPr>
            <a:spLocks xmlns:a="http://schemas.openxmlformats.org/drawingml/2006/main" noGrp="1"/>
          </p:cNvSpPr>
          <p:nvPr/>
        </p:nvSpPr>
        <p:spPr>
          <a:xfrm xmlns:a="http://schemas.openxmlformats.org/drawingml/2006/main">
            <a:off x="410614" y="2012267"/>
            <a:ext cx="1210235" cy="1782303"/>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Oval 70">
            <a:extLst xmlns:a="http://schemas.openxmlformats.org/drawingml/2006/main">
              <a:ext uri="{FF2B5EF4-FFF2-40B4-BE49-F238E27FC236}">
                <a16:creationId xmlns:a16="http://schemas.microsoft.com/office/drawing/2014/main" id="{78DD2C8D-30B4-C8BF-9DEA-877785B57745}"/>
              </a:ext>
            </a:extLst>
          </p:cNvPr>
          <p:cNvSpPr>
            <a:spLocks xmlns:a="http://schemas.openxmlformats.org/drawingml/2006/main" noGrp="1"/>
          </p:cNvSpPr>
          <p:nvPr/>
        </p:nvSpPr>
        <p:spPr>
          <a:xfrm xmlns:a="http://schemas.openxmlformats.org/drawingml/2006/main">
            <a:off x="525293" y="1905806"/>
            <a:ext cx="197224" cy="197224"/>
          </a:xfrm>
          <a:prstGeom xmlns:a="http://schemas.openxmlformats.org/drawingml/2006/main" prst="ellipse">
            <a:avLst/>
          </a:prstGeom>
          <a:solidFill xmlns:a="http://schemas.openxmlformats.org/drawingml/2006/main">
            <a:srgbClr val="E0A03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100"/>
              <a:t>1</a:t>
            </a:r>
          </a:p>
        </p:txBody>
      </p:sp>
      <p:sp>
        <p:nvSpPr>
          <p:cNvPr id="72" name="Rectangle: Rounded Corners 71">
            <a:extLst xmlns:a="http://schemas.openxmlformats.org/drawingml/2006/main">
              <a:ext uri="{FF2B5EF4-FFF2-40B4-BE49-F238E27FC236}">
                <a16:creationId xmlns:a16="http://schemas.microsoft.com/office/drawing/2014/main" id="{F29C26D1-E0A6-B90B-565D-333287F8AE72}"/>
              </a:ext>
            </a:extLst>
          </p:cNvPr>
          <p:cNvSpPr>
            <a:spLocks xmlns:a="http://schemas.openxmlformats.org/drawingml/2006/main" noGrp="1"/>
          </p:cNvSpPr>
          <p:nvPr/>
        </p:nvSpPr>
        <p:spPr>
          <a:xfrm xmlns:a="http://schemas.openxmlformats.org/drawingml/2006/main">
            <a:off x="543589" y="2259283"/>
            <a:ext cx="438935" cy="438935"/>
          </a:xfrm>
          <a:prstGeom xmlns:a="http://schemas.openxmlformats.org/drawingml/2006/main" prst="roundRect">
            <a:avLst/>
          </a:prstGeom>
          <a:solidFill xmlns:a="http://schemas.openxmlformats.org/drawingml/2006/main">
            <a:srgbClr val="E0A03C">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8" name="Picture 73"/>
          <p:cNvPicPr>
            <a:picLocks xmlns:a="http://schemas.openxmlformats.org/drawingml/2006/main" noChangeAspect="1"/>
          </p:cNvPicPr>
          <p:nvPr/>
        </p:nvPicPr>
        <p:blipFill>
          <a:blip xmlns:r="http://schemas.openxmlformats.org/officeDocument/2006/relationships" xmlns:a="http://schemas.openxmlformats.org/drawingml/2006/main" r:embed="R23f0c044e9d54ed2"/>
          <a:stretch xmlns:a="http://schemas.openxmlformats.org/drawingml/2006/main">
            <a:fillRect l="0" t="0" r="0" b="0"/>
          </a:stretch>
        </p:blipFill>
        <p:spPr>
          <a:xfrm xmlns:a="http://schemas.openxmlformats.org/drawingml/2006/main">
            <a:off x="568049" y="2280594"/>
            <a:ext cx="390013" cy="390013"/>
          </a:xfrm>
          <a:prstGeom xmlns:a="http://schemas.openxmlformats.org/drawingml/2006/main" prst="rect">
            <a:avLst/>
          </a:prstGeom>
        </p:spPr>
      </p:pic>
      <p:sp>
        <p:nvSpPr>
          <p:cNvPr id="75" name="TextBox 74">
            <a:extLst xmlns:a="http://schemas.openxmlformats.org/drawingml/2006/main">
              <a:ext uri="{FF2B5EF4-FFF2-40B4-BE49-F238E27FC236}">
                <a16:creationId xmlns:a16="http://schemas.microsoft.com/office/drawing/2014/main" id="{DA9ACCB2-D29E-1808-7FCA-70DB3F273CAA}"/>
              </a:ext>
            </a:extLst>
          </p:cNvPr>
          <p:cNvSpPr>
            <a:spLocks xmlns:a="http://schemas.openxmlformats.org/drawingml/2006/main" noGrp="1"/>
          </p:cNvSpPr>
          <p:nvPr/>
        </p:nvSpPr>
        <p:spPr>
          <a:xfrm xmlns:a="http://schemas.openxmlformats.org/drawingml/2006/main">
            <a:off x="476595" y="2730716"/>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1">
                <a:solidFill>
                  <a:schemeClr val="bg1">
                    <a:lumMod val="95000"/>
                  </a:schemeClr>
                </a:solidFill>
                <a:latin typeface="Montserrat"/>
                <a:ea typeface="Montserrat"/>
                <a:cs typeface="Montserrat"/>
              </a:rPr>
              <a:t>SOURCES</a:t>
            </a:r>
          </a:p>
        </p:txBody>
      </p:sp>
      <p:sp>
        <p:nvSpPr>
          <p:cNvPr id="76" name="TextBox 75">
            <a:extLst xmlns:a="http://schemas.openxmlformats.org/drawingml/2006/main">
              <a:ext uri="{FF2B5EF4-FFF2-40B4-BE49-F238E27FC236}">
                <a16:creationId xmlns:a16="http://schemas.microsoft.com/office/drawing/2014/main" id="{11604E4B-7349-2AF9-D361-521F887F3470}"/>
              </a:ext>
            </a:extLst>
          </p:cNvPr>
          <p:cNvSpPr>
            <a:spLocks xmlns:a="http://schemas.openxmlformats.org/drawingml/2006/main" noGrp="1"/>
          </p:cNvSpPr>
          <p:nvPr/>
        </p:nvSpPr>
        <p:spPr>
          <a:xfrm xmlns:a="http://schemas.openxmlformats.org/drawingml/2006/main">
            <a:off x="476595" y="2924796"/>
            <a:ext cx="1078272"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1">
                    <a:lumMod val="95000"/>
                  </a:schemeClr>
                </a:solidFill>
                <a:latin typeface="Montserrat"/>
                <a:ea typeface="Montserrat"/>
                <a:cs typeface="Montserrat"/>
              </a:rPr>
              <a:t>Discover &amp; ingest</a:t>
            </a:r>
          </a:p>
        </p:txBody>
      </p:sp>
      <p:sp>
        <p:nvSpPr>
          <p:cNvPr id="77" name="TextBox 76">
            <a:extLst xmlns:a="http://schemas.openxmlformats.org/drawingml/2006/main">
              <a:ext uri="{FF2B5EF4-FFF2-40B4-BE49-F238E27FC236}">
                <a16:creationId xmlns:a16="http://schemas.microsoft.com/office/drawing/2014/main" id="{9254896B-A668-D9F8-4EC3-7FDBACD5163F}"/>
              </a:ext>
            </a:extLst>
          </p:cNvPr>
          <p:cNvSpPr>
            <a:spLocks xmlns:a="http://schemas.openxmlformats.org/drawingml/2006/main" noGrp="1"/>
          </p:cNvSpPr>
          <p:nvPr/>
        </p:nvSpPr>
        <p:spPr>
          <a:xfrm xmlns:a="http://schemas.openxmlformats.org/drawingml/2006/main">
            <a:off x="476595" y="3157243"/>
            <a:ext cx="1078272"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tx1">
                    <a:lumMod val="50000"/>
                    <a:lumOff val="50000"/>
                  </a:schemeClr>
                </a:solidFill>
                <a:latin typeface="Bebas Neue"/>
                <a:ea typeface="Bebas Neue"/>
                <a:cs typeface="Bebas Neue"/>
              </a:rPr>
              <a:t>xlsx • csv </a:t>
            </a:r>
            <a:r>
              <a:rPr sz="800">
                <a:solidFill>
                  <a:schemeClr val="tx1">
                    <a:lumMod val="50000"/>
                    <a:lumOff val="50000"/>
                  </a:schemeClr>
                </a:solidFill>
                <a:latin typeface="Bebas Neue"/>
                <a:ea typeface="Bebas Neue"/>
                <a:cs typeface="Bebas Neue"/>
              </a:rPr>
              <a:t>• </a:t>
            </a:r>
            <a:r>
              <a:rPr sz="700">
                <a:solidFill>
                  <a:schemeClr val="tx1">
                    <a:lumMod val="50000"/>
                    <a:lumOff val="50000"/>
                  </a:schemeClr>
                </a:solidFill>
                <a:latin typeface="Bebas Neue"/>
                <a:ea typeface="Bebas Neue"/>
                <a:cs typeface="Bebas Neue"/>
              </a:rPr>
              <a:t>zip</a:t>
            </a:r>
          </a:p>
        </p:txBody>
      </p:sp>
      <p:sp>
        <p:nvSpPr>
          <p:cNvPr id="80" name="Rectangle: Top Corners Rounded 79">
            <a:extLst xmlns:a="http://schemas.openxmlformats.org/drawingml/2006/main">
              <a:ext uri="{FF2B5EF4-FFF2-40B4-BE49-F238E27FC236}">
                <a16:creationId xmlns:a16="http://schemas.microsoft.com/office/drawing/2014/main" id="{DB8FABA8-5042-1582-617E-123C5AA7DBF3}"/>
              </a:ext>
            </a:extLst>
          </p:cNvPr>
          <p:cNvSpPr>
            <a:spLocks xmlns:a="http://schemas.openxmlformats.org/drawingml/2006/main" noGrp="1"/>
          </p:cNvSpPr>
          <p:nvPr/>
        </p:nvSpPr>
        <p:spPr>
          <a:xfrm xmlns:a="http://schemas.openxmlformats.org/drawingml/2006/main">
            <a:off x="1833123" y="1978574"/>
            <a:ext cx="1210234" cy="290829"/>
          </a:xfrm>
          <a:prstGeom xmlns:a="http://schemas.openxmlformats.org/drawingml/2006/main" prst="round2SameRect">
            <a:avLst>
              <a:gd name="adj1" fmla="val 34443"/>
              <a:gd name="adj2" fmla="val 0"/>
            </a:avLst>
          </a:prstGeom>
          <a:solidFill xmlns:a="http://schemas.openxmlformats.org/drawingml/2006/main">
            <a:srgbClr val="64B68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Rectangle: Rounded Corners 80">
            <a:extLst xmlns:a="http://schemas.openxmlformats.org/drawingml/2006/main">
              <a:ext uri="{FF2B5EF4-FFF2-40B4-BE49-F238E27FC236}">
                <a16:creationId xmlns:a16="http://schemas.microsoft.com/office/drawing/2014/main" id="{2C2E7CC5-9AFE-DCDE-8E16-7A9DC8E576D4}"/>
              </a:ext>
            </a:extLst>
          </p:cNvPr>
          <p:cNvSpPr>
            <a:spLocks xmlns:a="http://schemas.openxmlformats.org/drawingml/2006/main" noGrp="1"/>
          </p:cNvSpPr>
          <p:nvPr/>
        </p:nvSpPr>
        <p:spPr>
          <a:xfrm xmlns:a="http://schemas.openxmlformats.org/drawingml/2006/main">
            <a:off x="1833122" y="2012267"/>
            <a:ext cx="1210235" cy="1782303"/>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Oval 81">
            <a:extLst xmlns:a="http://schemas.openxmlformats.org/drawingml/2006/main">
              <a:ext uri="{FF2B5EF4-FFF2-40B4-BE49-F238E27FC236}">
                <a16:creationId xmlns:a16="http://schemas.microsoft.com/office/drawing/2014/main" id="{1819E2A0-ADAF-91E3-1DAA-AAD95C41773A}"/>
              </a:ext>
            </a:extLst>
          </p:cNvPr>
          <p:cNvSpPr>
            <a:spLocks xmlns:a="http://schemas.openxmlformats.org/drawingml/2006/main" noGrp="1"/>
          </p:cNvSpPr>
          <p:nvPr/>
        </p:nvSpPr>
        <p:spPr>
          <a:xfrm xmlns:a="http://schemas.openxmlformats.org/drawingml/2006/main">
            <a:off x="1947801" y="1905806"/>
            <a:ext cx="197224" cy="197224"/>
          </a:xfrm>
          <a:prstGeom xmlns:a="http://schemas.openxmlformats.org/drawingml/2006/main" prst="ellipse">
            <a:avLst/>
          </a:prstGeom>
          <a:solidFill xmlns:a="http://schemas.openxmlformats.org/drawingml/2006/main">
            <a:srgbClr val="64B68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100"/>
              <a:t>2</a:t>
            </a:r>
          </a:p>
        </p:txBody>
      </p:sp>
      <p:sp>
        <p:nvSpPr>
          <p:cNvPr id="83" name="Rectangle: Rounded Corners 82">
            <a:extLst xmlns:a="http://schemas.openxmlformats.org/drawingml/2006/main">
              <a:ext uri="{FF2B5EF4-FFF2-40B4-BE49-F238E27FC236}">
                <a16:creationId xmlns:a16="http://schemas.microsoft.com/office/drawing/2014/main" id="{315D5413-03DB-E7D6-0144-B209ACFE3C33}"/>
              </a:ext>
            </a:extLst>
          </p:cNvPr>
          <p:cNvSpPr>
            <a:spLocks xmlns:a="http://schemas.openxmlformats.org/drawingml/2006/main" noGrp="1"/>
          </p:cNvSpPr>
          <p:nvPr/>
        </p:nvSpPr>
        <p:spPr>
          <a:xfrm xmlns:a="http://schemas.openxmlformats.org/drawingml/2006/main">
            <a:off x="1966097" y="2259283"/>
            <a:ext cx="438935" cy="438935"/>
          </a:xfrm>
          <a:prstGeom xmlns:a="http://schemas.openxmlformats.org/drawingml/2006/main" prst="roundRect">
            <a:avLst/>
          </a:prstGeom>
          <a:solidFill xmlns:a="http://schemas.openxmlformats.org/drawingml/2006/main">
            <a:srgbClr val="64B686">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56" name="Picture 83"/>
          <p:cNvPicPr>
            <a:picLocks xmlns:a="http://schemas.openxmlformats.org/drawingml/2006/main" noChangeAspect="1"/>
          </p:cNvPicPr>
          <p:nvPr/>
        </p:nvPicPr>
        <p:blipFill>
          <a:blip xmlns:r="http://schemas.openxmlformats.org/officeDocument/2006/relationships" xmlns:a="http://schemas.openxmlformats.org/drawingml/2006/main" r:embed="Rc4ed9726b1a44bb3"/>
          <a:srcRect xmlns:a="http://schemas.openxmlformats.org/drawingml/2006/main" l="0" t="0" r="0" b="0"/>
          <a:stretch xmlns:a="http://schemas.openxmlformats.org/drawingml/2006/main"/>
        </p:blipFill>
        <p:spPr>
          <a:xfrm xmlns:a="http://schemas.openxmlformats.org/drawingml/2006/main">
            <a:off x="1990557" y="2280594"/>
            <a:ext cx="390013" cy="390013"/>
          </a:xfrm>
          <a:prstGeom xmlns:a="http://schemas.openxmlformats.org/drawingml/2006/main" prst="rect">
            <a:avLst/>
          </a:prstGeom>
        </p:spPr>
      </p:pic>
      <p:sp>
        <p:nvSpPr>
          <p:cNvPr id="85" name="TextBox 84">
            <a:extLst xmlns:a="http://schemas.openxmlformats.org/drawingml/2006/main">
              <a:ext uri="{FF2B5EF4-FFF2-40B4-BE49-F238E27FC236}">
                <a16:creationId xmlns:a16="http://schemas.microsoft.com/office/drawing/2014/main" id="{5DCE3D8E-F94A-BAB3-EB2E-B764A4E79BEF}"/>
              </a:ext>
            </a:extLst>
          </p:cNvPr>
          <p:cNvSpPr>
            <a:spLocks xmlns:a="http://schemas.openxmlformats.org/drawingml/2006/main" noGrp="1"/>
          </p:cNvSpPr>
          <p:nvPr/>
        </p:nvSpPr>
        <p:spPr>
          <a:xfrm xmlns:a="http://schemas.openxmlformats.org/drawingml/2006/main">
            <a:off x="1899103" y="2730716"/>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1">
                <a:solidFill>
                  <a:schemeClr val="bg1">
                    <a:lumMod val="95000"/>
                  </a:schemeClr>
                </a:solidFill>
                <a:latin typeface="Montserrat"/>
                <a:ea typeface="Montserrat"/>
                <a:cs typeface="Montserrat"/>
              </a:rPr>
              <a:t>VALIDATE</a:t>
            </a:r>
          </a:p>
        </p:txBody>
      </p:sp>
      <p:sp>
        <p:nvSpPr>
          <p:cNvPr id="86" name="TextBox 85">
            <a:extLst xmlns:a="http://schemas.openxmlformats.org/drawingml/2006/main">
              <a:ext uri="{FF2B5EF4-FFF2-40B4-BE49-F238E27FC236}">
                <a16:creationId xmlns:a16="http://schemas.microsoft.com/office/drawing/2014/main" id="{914077AB-EE95-CCEA-4B98-929313BF6860}"/>
              </a:ext>
            </a:extLst>
          </p:cNvPr>
          <p:cNvSpPr>
            <a:spLocks xmlns:a="http://schemas.openxmlformats.org/drawingml/2006/main" noGrp="1"/>
          </p:cNvSpPr>
          <p:nvPr/>
        </p:nvSpPr>
        <p:spPr>
          <a:xfrm xmlns:a="http://schemas.openxmlformats.org/drawingml/2006/main">
            <a:off x="1899103" y="2924796"/>
            <a:ext cx="1078272"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1">
                    <a:lumMod val="95000"/>
                  </a:schemeClr>
                </a:solidFill>
                <a:latin typeface="Montserrat"/>
                <a:ea typeface="Montserrat"/>
                <a:cs typeface="Montserrat"/>
              </a:rPr>
              <a:t>Schema check</a:t>
            </a:r>
          </a:p>
        </p:txBody>
      </p:sp>
      <p:sp>
        <p:nvSpPr>
          <p:cNvPr id="87" name="TextBox 86">
            <a:extLst xmlns:a="http://schemas.openxmlformats.org/drawingml/2006/main">
              <a:ext uri="{FF2B5EF4-FFF2-40B4-BE49-F238E27FC236}">
                <a16:creationId xmlns:a16="http://schemas.microsoft.com/office/drawing/2014/main" id="{ABBEC20D-D63A-52EF-3132-AB68CEC62012}"/>
              </a:ext>
            </a:extLst>
          </p:cNvPr>
          <p:cNvSpPr>
            <a:spLocks xmlns:a="http://schemas.openxmlformats.org/drawingml/2006/main" noGrp="1"/>
          </p:cNvSpPr>
          <p:nvPr/>
        </p:nvSpPr>
        <p:spPr>
          <a:xfrm xmlns:a="http://schemas.openxmlformats.org/drawingml/2006/main">
            <a:off x="1899103" y="3157243"/>
            <a:ext cx="1078272"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tx1">
                    <a:lumMod val="50000"/>
                    <a:lumOff val="50000"/>
                  </a:schemeClr>
                </a:solidFill>
                <a:latin typeface="Bebas Neue"/>
                <a:ea typeface="Bebas Neue"/>
                <a:cs typeface="Bebas Neue"/>
              </a:rPr>
              <a:t>pass • warn </a:t>
            </a:r>
            <a:r>
              <a:rPr sz="800">
                <a:solidFill>
                  <a:schemeClr val="tx1">
                    <a:lumMod val="50000"/>
                    <a:lumOff val="50000"/>
                  </a:schemeClr>
                </a:solidFill>
                <a:latin typeface="Bebas Neue"/>
                <a:ea typeface="Bebas Neue"/>
                <a:cs typeface="Bebas Neue"/>
              </a:rPr>
              <a:t>• </a:t>
            </a:r>
            <a:r>
              <a:rPr sz="700">
                <a:solidFill>
                  <a:schemeClr val="tx1">
                    <a:lumMod val="50000"/>
                    <a:lumOff val="50000"/>
                  </a:schemeClr>
                </a:solidFill>
                <a:latin typeface="Bebas Neue"/>
                <a:ea typeface="Bebas Neue"/>
                <a:cs typeface="Bebas Neue"/>
              </a:rPr>
              <a:t>fail</a:t>
            </a:r>
          </a:p>
        </p:txBody>
      </p:sp>
      <p:sp>
        <p:nvSpPr>
          <p:cNvPr id="89" name="Rectangle: Top Corners Rounded 88">
            <a:extLst xmlns:a="http://schemas.openxmlformats.org/drawingml/2006/main">
              <a:ext uri="{FF2B5EF4-FFF2-40B4-BE49-F238E27FC236}">
                <a16:creationId xmlns:a16="http://schemas.microsoft.com/office/drawing/2014/main" id="{E0409303-7CD8-B135-AF62-807FB9AAB297}"/>
              </a:ext>
            </a:extLst>
          </p:cNvPr>
          <p:cNvSpPr>
            <a:spLocks xmlns:a="http://schemas.openxmlformats.org/drawingml/2006/main" noGrp="1"/>
          </p:cNvSpPr>
          <p:nvPr/>
        </p:nvSpPr>
        <p:spPr>
          <a:xfrm xmlns:a="http://schemas.openxmlformats.org/drawingml/2006/main">
            <a:off x="3255631" y="2008131"/>
            <a:ext cx="1210234" cy="290829"/>
          </a:xfrm>
          <a:prstGeom xmlns:a="http://schemas.openxmlformats.org/drawingml/2006/main" prst="round2SameRect">
            <a:avLst>
              <a:gd name="adj1" fmla="val 34443"/>
              <a:gd name="adj2" fmla="val 0"/>
            </a:avLst>
          </a:prstGeom>
          <a:solidFill xmlns:a="http://schemas.openxmlformats.org/drawingml/2006/main">
            <a:srgbClr val="8760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Rectangle: Rounded Corners 89">
            <a:extLst xmlns:a="http://schemas.openxmlformats.org/drawingml/2006/main">
              <a:ext uri="{FF2B5EF4-FFF2-40B4-BE49-F238E27FC236}">
                <a16:creationId xmlns:a16="http://schemas.microsoft.com/office/drawing/2014/main" id="{4B0ACCF5-BC8D-83DD-428B-23798219D516}"/>
              </a:ext>
            </a:extLst>
          </p:cNvPr>
          <p:cNvSpPr>
            <a:spLocks xmlns:a="http://schemas.openxmlformats.org/drawingml/2006/main" noGrp="1"/>
          </p:cNvSpPr>
          <p:nvPr/>
        </p:nvSpPr>
        <p:spPr>
          <a:xfrm xmlns:a="http://schemas.openxmlformats.org/drawingml/2006/main">
            <a:off x="3255630" y="2041824"/>
            <a:ext cx="1210235" cy="1782303"/>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Oval 90">
            <a:extLst xmlns:a="http://schemas.openxmlformats.org/drawingml/2006/main">
              <a:ext uri="{FF2B5EF4-FFF2-40B4-BE49-F238E27FC236}">
                <a16:creationId xmlns:a16="http://schemas.microsoft.com/office/drawing/2014/main" id="{9D91E801-6901-5C84-05FD-3A3A0E7947E3}"/>
              </a:ext>
            </a:extLst>
          </p:cNvPr>
          <p:cNvSpPr>
            <a:spLocks xmlns:a="http://schemas.openxmlformats.org/drawingml/2006/main" noGrp="1"/>
          </p:cNvSpPr>
          <p:nvPr/>
        </p:nvSpPr>
        <p:spPr>
          <a:xfrm xmlns:a="http://schemas.openxmlformats.org/drawingml/2006/main">
            <a:off x="3370309" y="1935363"/>
            <a:ext cx="197224" cy="197224"/>
          </a:xfrm>
          <a:prstGeom xmlns:a="http://schemas.openxmlformats.org/drawingml/2006/main" prst="ellipse">
            <a:avLst/>
          </a:prstGeom>
          <a:solidFill xmlns:a="http://schemas.openxmlformats.org/drawingml/2006/main">
            <a:srgbClr val="8760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100"/>
              <a:t>3</a:t>
            </a:r>
          </a:p>
        </p:txBody>
      </p:sp>
      <p:sp>
        <p:nvSpPr>
          <p:cNvPr id="92" name="Rectangle: Rounded Corners 91">
            <a:extLst xmlns:a="http://schemas.openxmlformats.org/drawingml/2006/main">
              <a:ext uri="{FF2B5EF4-FFF2-40B4-BE49-F238E27FC236}">
                <a16:creationId xmlns:a16="http://schemas.microsoft.com/office/drawing/2014/main" id="{2254F105-F2CE-E601-48C5-0D2846CA6421}"/>
              </a:ext>
            </a:extLst>
          </p:cNvPr>
          <p:cNvSpPr>
            <a:spLocks xmlns:a="http://schemas.openxmlformats.org/drawingml/2006/main" noGrp="1"/>
          </p:cNvSpPr>
          <p:nvPr/>
        </p:nvSpPr>
        <p:spPr>
          <a:xfrm xmlns:a="http://schemas.openxmlformats.org/drawingml/2006/main">
            <a:off x="3388605" y="2288840"/>
            <a:ext cx="438935" cy="438935"/>
          </a:xfrm>
          <a:prstGeom xmlns:a="http://schemas.openxmlformats.org/drawingml/2006/main" prst="roundRect">
            <a:avLst/>
          </a:prstGeom>
          <a:solidFill xmlns:a="http://schemas.openxmlformats.org/drawingml/2006/main">
            <a:srgbClr val="8760ED">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64" name="Picture 92"/>
          <p:cNvPicPr>
            <a:picLocks xmlns:a="http://schemas.openxmlformats.org/drawingml/2006/main" noChangeAspect="1"/>
          </p:cNvPicPr>
          <p:nvPr/>
        </p:nvPicPr>
        <p:blipFill>
          <a:blip xmlns:r="http://schemas.openxmlformats.org/officeDocument/2006/relationships" xmlns:a="http://schemas.openxmlformats.org/drawingml/2006/main" r:embed="Re1b4e3588a0a4cc0"/>
          <a:srcRect xmlns:a="http://schemas.openxmlformats.org/drawingml/2006/main" l="0" t="0" r="0" b="0"/>
          <a:stretch xmlns:a="http://schemas.openxmlformats.org/drawingml/2006/main"/>
        </p:blipFill>
        <p:spPr>
          <a:xfrm xmlns:a="http://schemas.openxmlformats.org/drawingml/2006/main">
            <a:off x="3413065" y="2310151"/>
            <a:ext cx="390013" cy="390013"/>
          </a:xfrm>
          <a:prstGeom xmlns:a="http://schemas.openxmlformats.org/drawingml/2006/main" prst="rect">
            <a:avLst/>
          </a:prstGeom>
        </p:spPr>
      </p:pic>
      <p:sp>
        <p:nvSpPr>
          <p:cNvPr id="94" name="TextBox 93">
            <a:extLst xmlns:a="http://schemas.openxmlformats.org/drawingml/2006/main">
              <a:ext uri="{FF2B5EF4-FFF2-40B4-BE49-F238E27FC236}">
                <a16:creationId xmlns:a16="http://schemas.microsoft.com/office/drawing/2014/main" id="{B19B2502-BD3E-1D89-A40E-9735B0686260}"/>
              </a:ext>
            </a:extLst>
          </p:cNvPr>
          <p:cNvSpPr>
            <a:spLocks xmlns:a="http://schemas.openxmlformats.org/drawingml/2006/main" noGrp="1"/>
          </p:cNvSpPr>
          <p:nvPr/>
        </p:nvSpPr>
        <p:spPr>
          <a:xfrm xmlns:a="http://schemas.openxmlformats.org/drawingml/2006/main">
            <a:off x="3321611" y="2760273"/>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1">
                <a:solidFill>
                  <a:schemeClr val="bg1">
                    <a:lumMod val="95000"/>
                  </a:schemeClr>
                </a:solidFill>
                <a:latin typeface="Montserrat"/>
                <a:ea typeface="Montserrat"/>
                <a:cs typeface="Montserrat"/>
              </a:rPr>
              <a:t>ALIGN</a:t>
            </a:r>
          </a:p>
        </p:txBody>
      </p:sp>
      <p:sp>
        <p:nvSpPr>
          <p:cNvPr id="95" name="TextBox 94">
            <a:extLst xmlns:a="http://schemas.openxmlformats.org/drawingml/2006/main">
              <a:ext uri="{FF2B5EF4-FFF2-40B4-BE49-F238E27FC236}">
                <a16:creationId xmlns:a16="http://schemas.microsoft.com/office/drawing/2014/main" id="{4EACA119-D22C-2BDB-B302-4635E86780EA}"/>
              </a:ext>
            </a:extLst>
          </p:cNvPr>
          <p:cNvSpPr>
            <a:spLocks xmlns:a="http://schemas.openxmlformats.org/drawingml/2006/main" noGrp="1"/>
          </p:cNvSpPr>
          <p:nvPr/>
        </p:nvSpPr>
        <p:spPr>
          <a:xfrm xmlns:a="http://schemas.openxmlformats.org/drawingml/2006/main">
            <a:off x="3321611" y="2954353"/>
            <a:ext cx="1078272"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1">
                    <a:lumMod val="95000"/>
                  </a:schemeClr>
                </a:solidFill>
                <a:latin typeface="Montserrat"/>
                <a:ea typeface="Montserrat"/>
                <a:cs typeface="Montserrat"/>
              </a:rPr>
              <a:t>Column mapping</a:t>
            </a:r>
          </a:p>
        </p:txBody>
      </p:sp>
      <p:sp>
        <p:nvSpPr>
          <p:cNvPr id="96" name="TextBox 95">
            <a:extLst xmlns:a="http://schemas.openxmlformats.org/drawingml/2006/main">
              <a:ext uri="{FF2B5EF4-FFF2-40B4-BE49-F238E27FC236}">
                <a16:creationId xmlns:a16="http://schemas.microsoft.com/office/drawing/2014/main" id="{FA16E208-B58D-D1B0-BB61-7C406A55A923}"/>
              </a:ext>
            </a:extLst>
          </p:cNvPr>
          <p:cNvSpPr>
            <a:spLocks xmlns:a="http://schemas.openxmlformats.org/drawingml/2006/main" noGrp="1"/>
          </p:cNvSpPr>
          <p:nvPr/>
        </p:nvSpPr>
        <p:spPr>
          <a:xfrm xmlns:a="http://schemas.openxmlformats.org/drawingml/2006/main">
            <a:off x="3321611" y="3186800"/>
            <a:ext cx="1078272"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tx1">
                    <a:lumMod val="50000"/>
                    <a:lumOff val="50000"/>
                  </a:schemeClr>
                </a:solidFill>
                <a:latin typeface="Bebas Neue"/>
                <a:ea typeface="Bebas Neue"/>
                <a:cs typeface="Bebas Neue"/>
              </a:rPr>
              <a:t>REORDER • NORMALISE</a:t>
            </a:r>
          </a:p>
        </p:txBody>
      </p:sp>
      <p:sp>
        <p:nvSpPr>
          <p:cNvPr id="98" name="Rectangle: Top Corners Rounded 97">
            <a:extLst xmlns:a="http://schemas.openxmlformats.org/drawingml/2006/main">
              <a:ext uri="{FF2B5EF4-FFF2-40B4-BE49-F238E27FC236}">
                <a16:creationId xmlns:a16="http://schemas.microsoft.com/office/drawing/2014/main" id="{B60D0631-A460-9417-0DF0-A469599240D8}"/>
              </a:ext>
            </a:extLst>
          </p:cNvPr>
          <p:cNvSpPr>
            <a:spLocks xmlns:a="http://schemas.openxmlformats.org/drawingml/2006/main" noGrp="1"/>
          </p:cNvSpPr>
          <p:nvPr/>
        </p:nvSpPr>
        <p:spPr>
          <a:xfrm xmlns:a="http://schemas.openxmlformats.org/drawingml/2006/main">
            <a:off x="4678139" y="2014815"/>
            <a:ext cx="1210234" cy="290829"/>
          </a:xfrm>
          <a:prstGeom xmlns:a="http://schemas.openxmlformats.org/drawingml/2006/main" prst="round2SameRect">
            <a:avLst>
              <a:gd name="adj1" fmla="val 34443"/>
              <a:gd name="adj2" fmla="val 0"/>
            </a:avLst>
          </a:prstGeom>
          <a:solidFill xmlns:a="http://schemas.openxmlformats.org/drawingml/2006/main">
            <a:srgbClr val="6082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9" name="Rectangle: Rounded Corners 98">
            <a:extLst xmlns:a="http://schemas.openxmlformats.org/drawingml/2006/main">
              <a:ext uri="{FF2B5EF4-FFF2-40B4-BE49-F238E27FC236}">
                <a16:creationId xmlns:a16="http://schemas.microsoft.com/office/drawing/2014/main" id="{20DEE4A6-BA5E-F2F3-713E-71827728A572}"/>
              </a:ext>
            </a:extLst>
          </p:cNvPr>
          <p:cNvSpPr>
            <a:spLocks xmlns:a="http://schemas.openxmlformats.org/drawingml/2006/main" noGrp="1"/>
          </p:cNvSpPr>
          <p:nvPr/>
        </p:nvSpPr>
        <p:spPr>
          <a:xfrm xmlns:a="http://schemas.openxmlformats.org/drawingml/2006/main">
            <a:off x="4678138" y="2048508"/>
            <a:ext cx="1210235" cy="1782303"/>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0" name="Oval 99">
            <a:extLst xmlns:a="http://schemas.openxmlformats.org/drawingml/2006/main">
              <a:ext uri="{FF2B5EF4-FFF2-40B4-BE49-F238E27FC236}">
                <a16:creationId xmlns:a16="http://schemas.microsoft.com/office/drawing/2014/main" id="{22DC606E-990E-A72B-9643-747D22C5C383}"/>
              </a:ext>
            </a:extLst>
          </p:cNvPr>
          <p:cNvSpPr>
            <a:spLocks xmlns:a="http://schemas.openxmlformats.org/drawingml/2006/main" noGrp="1"/>
          </p:cNvSpPr>
          <p:nvPr/>
        </p:nvSpPr>
        <p:spPr>
          <a:xfrm xmlns:a="http://schemas.openxmlformats.org/drawingml/2006/main">
            <a:off x="4792817" y="1942047"/>
            <a:ext cx="197224" cy="197224"/>
          </a:xfrm>
          <a:prstGeom xmlns:a="http://schemas.openxmlformats.org/drawingml/2006/main" prst="ellipse">
            <a:avLst/>
          </a:prstGeom>
          <a:solidFill xmlns:a="http://schemas.openxmlformats.org/drawingml/2006/main">
            <a:srgbClr val="6082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100"/>
              <a:t>4</a:t>
            </a:r>
          </a:p>
        </p:txBody>
      </p:sp>
      <p:sp>
        <p:nvSpPr>
          <p:cNvPr id="101" name="Rectangle: Rounded Corners 100">
            <a:extLst xmlns:a="http://schemas.openxmlformats.org/drawingml/2006/main">
              <a:ext uri="{FF2B5EF4-FFF2-40B4-BE49-F238E27FC236}">
                <a16:creationId xmlns:a16="http://schemas.microsoft.com/office/drawing/2014/main" id="{1D95323A-42A4-FCAD-5817-CFFE4C709A85}"/>
              </a:ext>
            </a:extLst>
          </p:cNvPr>
          <p:cNvSpPr>
            <a:spLocks xmlns:a="http://schemas.openxmlformats.org/drawingml/2006/main" noGrp="1"/>
          </p:cNvSpPr>
          <p:nvPr/>
        </p:nvSpPr>
        <p:spPr>
          <a:xfrm xmlns:a="http://schemas.openxmlformats.org/drawingml/2006/main">
            <a:off x="4811113" y="2295524"/>
            <a:ext cx="438935" cy="438935"/>
          </a:xfrm>
          <a:prstGeom xmlns:a="http://schemas.openxmlformats.org/drawingml/2006/main" prst="roundRect">
            <a:avLst/>
          </a:prstGeom>
          <a:solidFill xmlns:a="http://schemas.openxmlformats.org/drawingml/2006/main">
            <a:srgbClr val="6082ED">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72" name="Picture 101"/>
          <p:cNvPicPr>
            <a:picLocks xmlns:a="http://schemas.openxmlformats.org/drawingml/2006/main" noChangeAspect="1"/>
          </p:cNvPicPr>
          <p:nvPr/>
        </p:nvPicPr>
        <p:blipFill>
          <a:blip xmlns:r="http://schemas.openxmlformats.org/officeDocument/2006/relationships" xmlns:a="http://schemas.openxmlformats.org/drawingml/2006/main" r:embed="R10b0493a9e2f45f6"/>
          <a:srcRect xmlns:a="http://schemas.openxmlformats.org/drawingml/2006/main" l="0" t="0" r="0" b="0"/>
          <a:stretch xmlns:a="http://schemas.openxmlformats.org/drawingml/2006/main"/>
        </p:blipFill>
        <p:spPr>
          <a:xfrm xmlns:a="http://schemas.openxmlformats.org/drawingml/2006/main">
            <a:off x="4835573" y="2316835"/>
            <a:ext cx="390013" cy="390013"/>
          </a:xfrm>
          <a:prstGeom xmlns:a="http://schemas.openxmlformats.org/drawingml/2006/main" prst="rect">
            <a:avLst/>
          </a:prstGeom>
        </p:spPr>
      </p:pic>
      <p:sp>
        <p:nvSpPr>
          <p:cNvPr id="103" name="TextBox 102">
            <a:extLst xmlns:a="http://schemas.openxmlformats.org/drawingml/2006/main">
              <a:ext uri="{FF2B5EF4-FFF2-40B4-BE49-F238E27FC236}">
                <a16:creationId xmlns:a16="http://schemas.microsoft.com/office/drawing/2014/main" id="{F470D7CD-586E-E0FF-172D-14819F266A4D}"/>
              </a:ext>
            </a:extLst>
          </p:cNvPr>
          <p:cNvSpPr>
            <a:spLocks xmlns:a="http://schemas.openxmlformats.org/drawingml/2006/main" noGrp="1"/>
          </p:cNvSpPr>
          <p:nvPr/>
        </p:nvSpPr>
        <p:spPr>
          <a:xfrm xmlns:a="http://schemas.openxmlformats.org/drawingml/2006/main">
            <a:off x="4744119" y="2766957"/>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1">
                <a:solidFill>
                  <a:schemeClr val="bg1">
                    <a:lumMod val="95000"/>
                  </a:schemeClr>
                </a:solidFill>
                <a:latin typeface="Montserrat"/>
                <a:ea typeface="Montserrat"/>
                <a:cs typeface="Montserrat"/>
              </a:rPr>
              <a:t>FILTER</a:t>
            </a:r>
          </a:p>
        </p:txBody>
      </p:sp>
      <p:sp>
        <p:nvSpPr>
          <p:cNvPr id="104" name="TextBox 103">
            <a:extLst xmlns:a="http://schemas.openxmlformats.org/drawingml/2006/main">
              <a:ext uri="{FF2B5EF4-FFF2-40B4-BE49-F238E27FC236}">
                <a16:creationId xmlns:a16="http://schemas.microsoft.com/office/drawing/2014/main" id="{A77A7BA1-841D-4F94-8A1D-F22631DAA018}"/>
              </a:ext>
            </a:extLst>
          </p:cNvPr>
          <p:cNvSpPr>
            <a:spLocks xmlns:a="http://schemas.openxmlformats.org/drawingml/2006/main" noGrp="1"/>
          </p:cNvSpPr>
          <p:nvPr/>
        </p:nvSpPr>
        <p:spPr>
          <a:xfrm xmlns:a="http://schemas.openxmlformats.org/drawingml/2006/main">
            <a:off x="4744119" y="2961037"/>
            <a:ext cx="1078272"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1">
                    <a:lumMod val="95000"/>
                  </a:schemeClr>
                </a:solidFill>
                <a:latin typeface="Montserrat"/>
                <a:ea typeface="Montserrat"/>
                <a:cs typeface="Montserrat"/>
              </a:rPr>
              <a:t>Precision slicing</a:t>
            </a:r>
          </a:p>
        </p:txBody>
      </p:sp>
      <p:sp>
        <p:nvSpPr>
          <p:cNvPr id="105" name="TextBox 104">
            <a:extLst xmlns:a="http://schemas.openxmlformats.org/drawingml/2006/main">
              <a:ext uri="{FF2B5EF4-FFF2-40B4-BE49-F238E27FC236}">
                <a16:creationId xmlns:a16="http://schemas.microsoft.com/office/drawing/2014/main" id="{28912EBF-728C-FC59-D67C-40280AF5F967}"/>
              </a:ext>
            </a:extLst>
          </p:cNvPr>
          <p:cNvSpPr>
            <a:spLocks xmlns:a="http://schemas.openxmlformats.org/drawingml/2006/main" noGrp="1"/>
          </p:cNvSpPr>
          <p:nvPr/>
        </p:nvSpPr>
        <p:spPr>
          <a:xfrm xmlns:a="http://schemas.openxmlformats.org/drawingml/2006/main">
            <a:off x="4744119" y="3193484"/>
            <a:ext cx="1078272"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tx1">
                    <a:lumMod val="50000"/>
                    <a:lumOff val="50000"/>
                  </a:schemeClr>
                </a:solidFill>
                <a:latin typeface="Bebas Neue"/>
                <a:ea typeface="Bebas Neue"/>
                <a:cs typeface="Bebas Neue"/>
              </a:rPr>
              <a:t>cat • text </a:t>
            </a:r>
            <a:r>
              <a:rPr sz="800">
                <a:solidFill>
                  <a:schemeClr val="tx1">
                    <a:lumMod val="50000"/>
                    <a:lumOff val="50000"/>
                  </a:schemeClr>
                </a:solidFill>
                <a:latin typeface="Bebas Neue"/>
                <a:ea typeface="Bebas Neue"/>
                <a:cs typeface="Bebas Neue"/>
              </a:rPr>
              <a:t>• </a:t>
            </a:r>
            <a:r>
              <a:rPr sz="700">
                <a:solidFill>
                  <a:schemeClr val="tx1">
                    <a:lumMod val="50000"/>
                    <a:lumOff val="50000"/>
                  </a:schemeClr>
                </a:solidFill>
                <a:latin typeface="Bebas Neue"/>
                <a:ea typeface="Bebas Neue"/>
                <a:cs typeface="Bebas Neue"/>
              </a:rPr>
              <a:t>num • date</a:t>
            </a:r>
          </a:p>
        </p:txBody>
      </p:sp>
      <p:sp>
        <p:nvSpPr>
          <p:cNvPr id="107" name="Rectangle: Top Corners Rounded 106">
            <a:extLst xmlns:a="http://schemas.openxmlformats.org/drawingml/2006/main">
              <a:ext uri="{FF2B5EF4-FFF2-40B4-BE49-F238E27FC236}">
                <a16:creationId xmlns:a16="http://schemas.microsoft.com/office/drawing/2014/main" id="{AD1D76F0-E5EA-B067-76B4-7AEDAE1988C2}"/>
              </a:ext>
            </a:extLst>
          </p:cNvPr>
          <p:cNvSpPr>
            <a:spLocks xmlns:a="http://schemas.openxmlformats.org/drawingml/2006/main" noGrp="1"/>
          </p:cNvSpPr>
          <p:nvPr/>
        </p:nvSpPr>
        <p:spPr>
          <a:xfrm xmlns:a="http://schemas.openxmlformats.org/drawingml/2006/main">
            <a:off x="6100647" y="2019464"/>
            <a:ext cx="1210234" cy="290829"/>
          </a:xfrm>
          <a:prstGeom xmlns:a="http://schemas.openxmlformats.org/drawingml/2006/main" prst="round2SameRect">
            <a:avLst>
              <a:gd name="adj1" fmla="val 34443"/>
              <a:gd name="adj2" fmla="val 0"/>
            </a:avLst>
          </a:prstGeom>
          <a:solidFill xmlns:a="http://schemas.openxmlformats.org/drawingml/2006/main">
            <a:srgbClr val="64B5A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 name="Rectangle: Rounded Corners 107">
            <a:extLst xmlns:a="http://schemas.openxmlformats.org/drawingml/2006/main">
              <a:ext uri="{FF2B5EF4-FFF2-40B4-BE49-F238E27FC236}">
                <a16:creationId xmlns:a16="http://schemas.microsoft.com/office/drawing/2014/main" id="{099731BD-7084-AD69-2452-B0CD16EFF562}"/>
              </a:ext>
            </a:extLst>
          </p:cNvPr>
          <p:cNvSpPr>
            <a:spLocks xmlns:a="http://schemas.openxmlformats.org/drawingml/2006/main" noGrp="1"/>
          </p:cNvSpPr>
          <p:nvPr/>
        </p:nvSpPr>
        <p:spPr>
          <a:xfrm xmlns:a="http://schemas.openxmlformats.org/drawingml/2006/main">
            <a:off x="6100646" y="2053157"/>
            <a:ext cx="1210235" cy="1782303"/>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 name="Oval 108">
            <a:extLst xmlns:a="http://schemas.openxmlformats.org/drawingml/2006/main">
              <a:ext uri="{FF2B5EF4-FFF2-40B4-BE49-F238E27FC236}">
                <a16:creationId xmlns:a16="http://schemas.microsoft.com/office/drawing/2014/main" id="{1D8A635D-43BC-69A0-3846-22D040D2509E}"/>
              </a:ext>
            </a:extLst>
          </p:cNvPr>
          <p:cNvSpPr>
            <a:spLocks xmlns:a="http://schemas.openxmlformats.org/drawingml/2006/main" noGrp="1"/>
          </p:cNvSpPr>
          <p:nvPr/>
        </p:nvSpPr>
        <p:spPr>
          <a:xfrm xmlns:a="http://schemas.openxmlformats.org/drawingml/2006/main">
            <a:off x="6215325" y="1946696"/>
            <a:ext cx="197224" cy="197224"/>
          </a:xfrm>
          <a:prstGeom xmlns:a="http://schemas.openxmlformats.org/drawingml/2006/main" prst="ellipse">
            <a:avLst/>
          </a:prstGeom>
          <a:solidFill xmlns:a="http://schemas.openxmlformats.org/drawingml/2006/main">
            <a:srgbClr val="64B5A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100"/>
              <a:t>5</a:t>
            </a:r>
          </a:p>
        </p:txBody>
      </p:sp>
      <p:sp>
        <p:nvSpPr>
          <p:cNvPr id="110" name="Rectangle: Rounded Corners 109">
            <a:extLst xmlns:a="http://schemas.openxmlformats.org/drawingml/2006/main">
              <a:ext uri="{FF2B5EF4-FFF2-40B4-BE49-F238E27FC236}">
                <a16:creationId xmlns:a16="http://schemas.microsoft.com/office/drawing/2014/main" id="{32CA9CFF-A87F-BBEA-CB48-0EEE2A822086}"/>
              </a:ext>
            </a:extLst>
          </p:cNvPr>
          <p:cNvSpPr>
            <a:spLocks xmlns:a="http://schemas.openxmlformats.org/drawingml/2006/main" noGrp="1"/>
          </p:cNvSpPr>
          <p:nvPr/>
        </p:nvSpPr>
        <p:spPr>
          <a:xfrm xmlns:a="http://schemas.openxmlformats.org/drawingml/2006/main">
            <a:off x="6233621" y="2300173"/>
            <a:ext cx="438935" cy="438935"/>
          </a:xfrm>
          <a:prstGeom xmlns:a="http://schemas.openxmlformats.org/drawingml/2006/main" prst="roundRect">
            <a:avLst/>
          </a:prstGeom>
          <a:solidFill xmlns:a="http://schemas.openxmlformats.org/drawingml/2006/main">
            <a:srgbClr val="64B5A6">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0" name="Picture 110"/>
          <p:cNvPicPr>
            <a:picLocks xmlns:a="http://schemas.openxmlformats.org/drawingml/2006/main" noChangeAspect="1"/>
          </p:cNvPicPr>
          <p:nvPr/>
        </p:nvPicPr>
        <p:blipFill>
          <a:blip xmlns:r="http://schemas.openxmlformats.org/officeDocument/2006/relationships" xmlns:a="http://schemas.openxmlformats.org/drawingml/2006/main" r:embed="R3b0e5b08edd647ba"/>
          <a:srcRect xmlns:a="http://schemas.openxmlformats.org/drawingml/2006/main" l="0" t="0" r="0" b="0"/>
          <a:stretch xmlns:a="http://schemas.openxmlformats.org/drawingml/2006/main"/>
        </p:blipFill>
        <p:spPr>
          <a:xfrm xmlns:a="http://schemas.openxmlformats.org/drawingml/2006/main">
            <a:off x="6258081" y="2321484"/>
            <a:ext cx="390013" cy="390013"/>
          </a:xfrm>
          <a:prstGeom xmlns:a="http://schemas.openxmlformats.org/drawingml/2006/main" prst="rect">
            <a:avLst/>
          </a:prstGeom>
        </p:spPr>
      </p:pic>
      <p:sp>
        <p:nvSpPr>
          <p:cNvPr id="112" name="TextBox 111">
            <a:extLst xmlns:a="http://schemas.openxmlformats.org/drawingml/2006/main">
              <a:ext uri="{FF2B5EF4-FFF2-40B4-BE49-F238E27FC236}">
                <a16:creationId xmlns:a16="http://schemas.microsoft.com/office/drawing/2014/main" id="{51D312A5-2CF4-4C9C-DA43-9337C5879F2C}"/>
              </a:ext>
            </a:extLst>
          </p:cNvPr>
          <p:cNvSpPr>
            <a:spLocks xmlns:a="http://schemas.openxmlformats.org/drawingml/2006/main" noGrp="1"/>
          </p:cNvSpPr>
          <p:nvPr/>
        </p:nvSpPr>
        <p:spPr>
          <a:xfrm xmlns:a="http://schemas.openxmlformats.org/drawingml/2006/main">
            <a:off x="6166627" y="2771606"/>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1">
                <a:solidFill>
                  <a:schemeClr val="bg1">
                    <a:lumMod val="95000"/>
                  </a:schemeClr>
                </a:solidFill>
                <a:latin typeface="Montserrat"/>
                <a:ea typeface="Montserrat"/>
                <a:cs typeface="Montserrat"/>
              </a:rPr>
              <a:t>EXPORT</a:t>
            </a:r>
          </a:p>
        </p:txBody>
      </p:sp>
      <p:sp>
        <p:nvSpPr>
          <p:cNvPr id="113" name="TextBox 112">
            <a:extLst xmlns:a="http://schemas.openxmlformats.org/drawingml/2006/main">
              <a:ext uri="{FF2B5EF4-FFF2-40B4-BE49-F238E27FC236}">
                <a16:creationId xmlns:a16="http://schemas.microsoft.com/office/drawing/2014/main" id="{3BC9421B-4E67-0567-1B58-2B66AE660419}"/>
              </a:ext>
            </a:extLst>
          </p:cNvPr>
          <p:cNvSpPr>
            <a:spLocks xmlns:a="http://schemas.openxmlformats.org/drawingml/2006/main" noGrp="1"/>
          </p:cNvSpPr>
          <p:nvPr/>
        </p:nvSpPr>
        <p:spPr>
          <a:xfrm xmlns:a="http://schemas.openxmlformats.org/drawingml/2006/main">
            <a:off x="6166627" y="2965686"/>
            <a:ext cx="1078272"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1">
                    <a:lumMod val="95000"/>
                  </a:schemeClr>
                </a:solidFill>
                <a:latin typeface="Montserrat"/>
                <a:ea typeface="Montserrat"/>
                <a:cs typeface="Montserrat"/>
              </a:rPr>
              <a:t>4 export modes</a:t>
            </a:r>
          </a:p>
        </p:txBody>
      </p:sp>
      <p:sp>
        <p:nvSpPr>
          <p:cNvPr id="114" name="TextBox 113">
            <a:extLst xmlns:a="http://schemas.openxmlformats.org/drawingml/2006/main">
              <a:ext uri="{FF2B5EF4-FFF2-40B4-BE49-F238E27FC236}">
                <a16:creationId xmlns:a16="http://schemas.microsoft.com/office/drawing/2014/main" id="{24D16486-034F-310B-D178-E3B87B7D191F}"/>
              </a:ext>
            </a:extLst>
          </p:cNvPr>
          <p:cNvSpPr>
            <a:spLocks xmlns:a="http://schemas.openxmlformats.org/drawingml/2006/main" noGrp="1"/>
          </p:cNvSpPr>
          <p:nvPr/>
        </p:nvSpPr>
        <p:spPr>
          <a:xfrm xmlns:a="http://schemas.openxmlformats.org/drawingml/2006/main">
            <a:off x="6166627" y="3198133"/>
            <a:ext cx="1078272"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tx1">
                    <a:lumMod val="50000"/>
                    <a:lumOff val="50000"/>
                  </a:schemeClr>
                </a:solidFill>
                <a:latin typeface="Bebas Neue"/>
                <a:ea typeface="Bebas Neue"/>
                <a:cs typeface="Bebas Neue"/>
              </a:rPr>
              <a:t>xlsx • csv • csv-text • parquet</a:t>
            </a:r>
          </a:p>
        </p:txBody>
      </p:sp>
      <p:sp>
        <p:nvSpPr>
          <p:cNvPr id="116" name="Rectangle: Top Corners Rounded 115">
            <a:extLst xmlns:a="http://schemas.openxmlformats.org/drawingml/2006/main">
              <a:ext uri="{FF2B5EF4-FFF2-40B4-BE49-F238E27FC236}">
                <a16:creationId xmlns:a16="http://schemas.microsoft.com/office/drawing/2014/main" id="{6EA0EE39-BF98-DC9F-C14A-5D55149B47B8}"/>
              </a:ext>
            </a:extLst>
          </p:cNvPr>
          <p:cNvSpPr>
            <a:spLocks xmlns:a="http://schemas.openxmlformats.org/drawingml/2006/main" noGrp="1"/>
          </p:cNvSpPr>
          <p:nvPr/>
        </p:nvSpPr>
        <p:spPr>
          <a:xfrm xmlns:a="http://schemas.openxmlformats.org/drawingml/2006/main">
            <a:off x="7523153" y="2019464"/>
            <a:ext cx="1210234" cy="290829"/>
          </a:xfrm>
          <a:prstGeom xmlns:a="http://schemas.openxmlformats.org/drawingml/2006/main" prst="round2SameRect">
            <a:avLst>
              <a:gd name="adj1" fmla="val 34443"/>
              <a:gd name="adj2" fmla="val 0"/>
            </a:avLst>
          </a:prstGeom>
          <a:solidFill xmlns:a="http://schemas.openxmlformats.org/drawingml/2006/main">
            <a:srgbClr val="70C09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7" name="Rectangle: Rounded Corners 116">
            <a:extLst xmlns:a="http://schemas.openxmlformats.org/drawingml/2006/main">
              <a:ext uri="{FF2B5EF4-FFF2-40B4-BE49-F238E27FC236}">
                <a16:creationId xmlns:a16="http://schemas.microsoft.com/office/drawing/2014/main" id="{77555A20-FCAD-50A3-D27F-F87666B990A8}"/>
              </a:ext>
            </a:extLst>
          </p:cNvPr>
          <p:cNvSpPr>
            <a:spLocks xmlns:a="http://schemas.openxmlformats.org/drawingml/2006/main" noGrp="1"/>
          </p:cNvSpPr>
          <p:nvPr/>
        </p:nvSpPr>
        <p:spPr>
          <a:xfrm xmlns:a="http://schemas.openxmlformats.org/drawingml/2006/main">
            <a:off x="7523152" y="2053157"/>
            <a:ext cx="1210235" cy="1782303"/>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8" name="Oval 117">
            <a:extLst xmlns:a="http://schemas.openxmlformats.org/drawingml/2006/main">
              <a:ext uri="{FF2B5EF4-FFF2-40B4-BE49-F238E27FC236}">
                <a16:creationId xmlns:a16="http://schemas.microsoft.com/office/drawing/2014/main" id="{67AFCE2D-B600-C16C-E65A-5F8EBE9EEA9F}"/>
              </a:ext>
            </a:extLst>
          </p:cNvPr>
          <p:cNvSpPr>
            <a:spLocks xmlns:a="http://schemas.openxmlformats.org/drawingml/2006/main" noGrp="1"/>
          </p:cNvSpPr>
          <p:nvPr/>
        </p:nvSpPr>
        <p:spPr>
          <a:xfrm xmlns:a="http://schemas.openxmlformats.org/drawingml/2006/main">
            <a:off x="7637831" y="1946696"/>
            <a:ext cx="197224" cy="197224"/>
          </a:xfrm>
          <a:prstGeom xmlns:a="http://schemas.openxmlformats.org/drawingml/2006/main" prst="ellipse">
            <a:avLst/>
          </a:prstGeom>
          <a:solidFill xmlns:a="http://schemas.openxmlformats.org/drawingml/2006/main">
            <a:srgbClr val="70C09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100"/>
              <a:t>6</a:t>
            </a:r>
          </a:p>
        </p:txBody>
      </p:sp>
      <p:sp>
        <p:nvSpPr>
          <p:cNvPr id="119" name="Rectangle: Rounded Corners 118">
            <a:extLst xmlns:a="http://schemas.openxmlformats.org/drawingml/2006/main">
              <a:ext uri="{FF2B5EF4-FFF2-40B4-BE49-F238E27FC236}">
                <a16:creationId xmlns:a16="http://schemas.microsoft.com/office/drawing/2014/main" id="{04B77740-7CA1-88E4-AEE2-D1FD01E3CCD0}"/>
              </a:ext>
            </a:extLst>
          </p:cNvPr>
          <p:cNvSpPr>
            <a:spLocks xmlns:a="http://schemas.openxmlformats.org/drawingml/2006/main" noGrp="1"/>
          </p:cNvSpPr>
          <p:nvPr/>
        </p:nvSpPr>
        <p:spPr>
          <a:xfrm xmlns:a="http://schemas.openxmlformats.org/drawingml/2006/main">
            <a:off x="7656127" y="2300173"/>
            <a:ext cx="438935" cy="438935"/>
          </a:xfrm>
          <a:prstGeom xmlns:a="http://schemas.openxmlformats.org/drawingml/2006/main" prst="roundRect">
            <a:avLst/>
          </a:prstGeom>
          <a:solidFill xmlns:a="http://schemas.openxmlformats.org/drawingml/2006/main">
            <a:srgbClr val="70C094">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8" name="Picture 119"/>
          <p:cNvPicPr>
            <a:picLocks xmlns:a="http://schemas.openxmlformats.org/drawingml/2006/main" noChangeAspect="1"/>
          </p:cNvPicPr>
          <p:nvPr/>
        </p:nvPicPr>
        <p:blipFill>
          <a:blip xmlns:r="http://schemas.openxmlformats.org/officeDocument/2006/relationships" xmlns:a="http://schemas.openxmlformats.org/drawingml/2006/main" r:embed="Rd273d519ffd2461e"/>
          <a:srcRect xmlns:a="http://schemas.openxmlformats.org/drawingml/2006/main" l="0" t="0" r="0" b="0"/>
          <a:stretch xmlns:a="http://schemas.openxmlformats.org/drawingml/2006/main"/>
        </p:blipFill>
        <p:spPr>
          <a:xfrm xmlns:a="http://schemas.openxmlformats.org/drawingml/2006/main">
            <a:off x="7693511" y="2321484"/>
            <a:ext cx="390013" cy="390013"/>
          </a:xfrm>
          <a:prstGeom xmlns:a="http://schemas.openxmlformats.org/drawingml/2006/main" prst="rect">
            <a:avLst/>
          </a:prstGeom>
        </p:spPr>
      </p:pic>
      <p:sp>
        <p:nvSpPr>
          <p:cNvPr id="121" name="TextBox 120">
            <a:extLst xmlns:a="http://schemas.openxmlformats.org/drawingml/2006/main">
              <a:ext uri="{FF2B5EF4-FFF2-40B4-BE49-F238E27FC236}">
                <a16:creationId xmlns:a16="http://schemas.microsoft.com/office/drawing/2014/main" id="{AA8DBF2A-1EBD-A4D9-5CE9-7335723DD832}"/>
              </a:ext>
            </a:extLst>
          </p:cNvPr>
          <p:cNvSpPr>
            <a:spLocks xmlns:a="http://schemas.openxmlformats.org/drawingml/2006/main" noGrp="1"/>
          </p:cNvSpPr>
          <p:nvPr/>
        </p:nvSpPr>
        <p:spPr>
          <a:xfrm xmlns:a="http://schemas.openxmlformats.org/drawingml/2006/main">
            <a:off x="7589133" y="2771606"/>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1">
                <a:solidFill>
                  <a:schemeClr val="bg1">
                    <a:lumMod val="95000"/>
                  </a:schemeClr>
                </a:solidFill>
                <a:latin typeface="Montserrat"/>
                <a:ea typeface="Montserrat"/>
                <a:cs typeface="Montserrat"/>
              </a:rPr>
              <a:t>AUDIT</a:t>
            </a:r>
          </a:p>
        </p:txBody>
      </p:sp>
      <p:sp>
        <p:nvSpPr>
          <p:cNvPr id="122" name="TextBox 121">
            <a:extLst xmlns:a="http://schemas.openxmlformats.org/drawingml/2006/main">
              <a:ext uri="{FF2B5EF4-FFF2-40B4-BE49-F238E27FC236}">
                <a16:creationId xmlns:a16="http://schemas.microsoft.com/office/drawing/2014/main" id="{E763E7C1-FAEB-478A-398B-2EE717648D61}"/>
              </a:ext>
            </a:extLst>
          </p:cNvPr>
          <p:cNvSpPr>
            <a:spLocks xmlns:a="http://schemas.openxmlformats.org/drawingml/2006/main" noGrp="1"/>
          </p:cNvSpPr>
          <p:nvPr/>
        </p:nvSpPr>
        <p:spPr>
          <a:xfrm xmlns:a="http://schemas.openxmlformats.org/drawingml/2006/main">
            <a:off x="7589133" y="2965686"/>
            <a:ext cx="1078272"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1">
                    <a:lumMod val="95000"/>
                  </a:schemeClr>
                </a:solidFill>
                <a:latin typeface="Montserrat"/>
                <a:ea typeface="Montserrat"/>
                <a:cs typeface="Montserrat"/>
              </a:rPr>
              <a:t>Full log</a:t>
            </a:r>
          </a:p>
        </p:txBody>
      </p:sp>
      <p:sp>
        <p:nvSpPr>
          <p:cNvPr id="123" name="TextBox 122">
            <a:extLst xmlns:a="http://schemas.openxmlformats.org/drawingml/2006/main">
              <a:ext uri="{FF2B5EF4-FFF2-40B4-BE49-F238E27FC236}">
                <a16:creationId xmlns:a16="http://schemas.microsoft.com/office/drawing/2014/main" id="{044A0695-637E-FF7E-A505-DA4010E29643}"/>
              </a:ext>
            </a:extLst>
          </p:cNvPr>
          <p:cNvSpPr>
            <a:spLocks xmlns:a="http://schemas.openxmlformats.org/drawingml/2006/main" noGrp="1"/>
          </p:cNvSpPr>
          <p:nvPr/>
        </p:nvSpPr>
        <p:spPr>
          <a:xfrm xmlns:a="http://schemas.openxmlformats.org/drawingml/2006/main">
            <a:off x="7589133" y="3198133"/>
            <a:ext cx="1078272"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tx1">
                    <a:lumMod val="50000"/>
                    <a:lumOff val="50000"/>
                  </a:schemeClr>
                </a:solidFill>
                <a:latin typeface="Bebas Neue"/>
                <a:ea typeface="Bebas Neue"/>
                <a:cs typeface="Bebas Neue"/>
              </a:rPr>
              <a:t>Export evidence captured</a:t>
            </a:r>
          </a:p>
        </p:txBody>
      </p:sp>
      <p:sp>
        <p:nvSpPr>
          <p:cNvPr id="125" name="Arrow: Striped Right 124">
            <a:extLst xmlns:a="http://schemas.openxmlformats.org/drawingml/2006/main">
              <a:ext uri="{FF2B5EF4-FFF2-40B4-BE49-F238E27FC236}">
                <a16:creationId xmlns:a16="http://schemas.microsoft.com/office/drawing/2014/main" id="{E93CF9EE-ED7F-6BEA-9496-69DC965E8FC7}"/>
              </a:ext>
            </a:extLst>
          </p:cNvPr>
          <p:cNvSpPr>
            <a:spLocks xmlns:a="http://schemas.openxmlformats.org/drawingml/2006/main" noGrp="1"/>
          </p:cNvSpPr>
          <p:nvPr/>
        </p:nvSpPr>
        <p:spPr>
          <a:xfrm xmlns:a="http://schemas.openxmlformats.org/drawingml/2006/main">
            <a:off x="1641775" y="2830121"/>
            <a:ext cx="181651" cy="165879"/>
          </a:xfrm>
          <a:prstGeom xmlns:a="http://schemas.openxmlformats.org/drawingml/2006/main" prst="stripedRightArrow">
            <a:avLst/>
          </a:prstGeom>
          <a:solidFill xmlns:a="http://schemas.openxmlformats.org/drawingml/2006/main">
            <a:schemeClr val="bg2">
              <a:lumMod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6" name="Arrow: Striped Right 125">
            <a:extLst xmlns:a="http://schemas.openxmlformats.org/drawingml/2006/main">
              <a:ext uri="{FF2B5EF4-FFF2-40B4-BE49-F238E27FC236}">
                <a16:creationId xmlns:a16="http://schemas.microsoft.com/office/drawing/2014/main" id="{E78F73CB-A6B9-B502-350D-391D16D86C29}"/>
              </a:ext>
            </a:extLst>
          </p:cNvPr>
          <p:cNvSpPr>
            <a:spLocks xmlns:a="http://schemas.openxmlformats.org/drawingml/2006/main" noGrp="1"/>
          </p:cNvSpPr>
          <p:nvPr/>
        </p:nvSpPr>
        <p:spPr>
          <a:xfrm xmlns:a="http://schemas.openxmlformats.org/drawingml/2006/main">
            <a:off x="3061965" y="2830121"/>
            <a:ext cx="181651" cy="165879"/>
          </a:xfrm>
          <a:prstGeom xmlns:a="http://schemas.openxmlformats.org/drawingml/2006/main" prst="stripedRightArrow">
            <a:avLst/>
          </a:prstGeom>
          <a:solidFill xmlns:a="http://schemas.openxmlformats.org/drawingml/2006/main">
            <a:schemeClr val="bg2">
              <a:lumMod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7" name="Arrow: Striped Right 126">
            <a:extLst xmlns:a="http://schemas.openxmlformats.org/drawingml/2006/main">
              <a:ext uri="{FF2B5EF4-FFF2-40B4-BE49-F238E27FC236}">
                <a16:creationId xmlns:a16="http://schemas.microsoft.com/office/drawing/2014/main" id="{A402DC57-5A3C-D020-CFF2-E2B25466AD46}"/>
              </a:ext>
            </a:extLst>
          </p:cNvPr>
          <p:cNvSpPr>
            <a:spLocks xmlns:a="http://schemas.openxmlformats.org/drawingml/2006/main" noGrp="1"/>
          </p:cNvSpPr>
          <p:nvPr/>
        </p:nvSpPr>
        <p:spPr>
          <a:xfrm xmlns:a="http://schemas.openxmlformats.org/drawingml/2006/main">
            <a:off x="4484405" y="2830121"/>
            <a:ext cx="181651" cy="165879"/>
          </a:xfrm>
          <a:prstGeom xmlns:a="http://schemas.openxmlformats.org/drawingml/2006/main" prst="stripedRightArrow">
            <a:avLst/>
          </a:prstGeom>
          <a:solidFill xmlns:a="http://schemas.openxmlformats.org/drawingml/2006/main">
            <a:schemeClr val="bg2">
              <a:lumMod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8" name="Arrow: Striped Right 127">
            <a:extLst xmlns:a="http://schemas.openxmlformats.org/drawingml/2006/main">
              <a:ext uri="{FF2B5EF4-FFF2-40B4-BE49-F238E27FC236}">
                <a16:creationId xmlns:a16="http://schemas.microsoft.com/office/drawing/2014/main" id="{D76F392F-CAFD-6C19-A8AA-E4EF6D530A68}"/>
              </a:ext>
            </a:extLst>
          </p:cNvPr>
          <p:cNvSpPr>
            <a:spLocks xmlns:a="http://schemas.openxmlformats.org/drawingml/2006/main" noGrp="1"/>
          </p:cNvSpPr>
          <p:nvPr/>
        </p:nvSpPr>
        <p:spPr>
          <a:xfrm xmlns:a="http://schemas.openxmlformats.org/drawingml/2006/main">
            <a:off x="5908630" y="2830121"/>
            <a:ext cx="181651" cy="165879"/>
          </a:xfrm>
          <a:prstGeom xmlns:a="http://schemas.openxmlformats.org/drawingml/2006/main" prst="stripedRightArrow">
            <a:avLst/>
          </a:prstGeom>
          <a:solidFill xmlns:a="http://schemas.openxmlformats.org/drawingml/2006/main">
            <a:schemeClr val="bg2">
              <a:lumMod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9" name="Arrow: Striped Right 128">
            <a:extLst xmlns:a="http://schemas.openxmlformats.org/drawingml/2006/main">
              <a:ext uri="{FF2B5EF4-FFF2-40B4-BE49-F238E27FC236}">
                <a16:creationId xmlns:a16="http://schemas.microsoft.com/office/drawing/2014/main" id="{8A297EBF-3E69-47CD-21E0-1C2AC0766984}"/>
              </a:ext>
            </a:extLst>
          </p:cNvPr>
          <p:cNvSpPr>
            <a:spLocks xmlns:a="http://schemas.openxmlformats.org/drawingml/2006/main" noGrp="1"/>
          </p:cNvSpPr>
          <p:nvPr/>
        </p:nvSpPr>
        <p:spPr>
          <a:xfrm xmlns:a="http://schemas.openxmlformats.org/drawingml/2006/main">
            <a:off x="7330939" y="2830121"/>
            <a:ext cx="181651" cy="165879"/>
          </a:xfrm>
          <a:prstGeom xmlns:a="http://schemas.openxmlformats.org/drawingml/2006/main" prst="stripedRightArrow">
            <a:avLst/>
          </a:prstGeom>
          <a:solidFill xmlns:a="http://schemas.openxmlformats.org/drawingml/2006/main">
            <a:schemeClr val="bg2">
              <a:lumMod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7" name="Picture 196"/>
          <p:cNvPicPr>
            <a:picLocks xmlns:a="http://schemas.openxmlformats.org/drawingml/2006/main" noChangeAspect="1"/>
          </p:cNvPicPr>
          <p:nvPr/>
        </p:nvPicPr>
        <p:blipFill>
          <a:blip xmlns:r="http://schemas.openxmlformats.org/officeDocument/2006/relationships" xmlns:a="http://schemas.openxmlformats.org/drawingml/2006/main" r:embed="Rc00e083c4e5045ab"/>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3242047034"/>
      </p:ext>
    </p:extLst>
  </p:cSld>
</p:sld>
</file>

<file path=ppt/slides/slide4.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1C43F8-1015-43B3-49C1-641D27F22800}"/>
              </a:ext>
            </a:extLst>
          </p:cNvPr>
          <p:cNvSpPr>
            <a:spLocks xmlns:a="http://schemas.openxmlformats.org/drawingml/2006/main" noGrp="1"/>
          </p:cNvSpPr>
          <p:nvPr/>
        </p:nvSpPr>
        <p:spPr>
          <a:xfrm xmlns:a="http://schemas.openxmlformats.org/drawingml/2006/main">
            <a:off x="457200" y="822449"/>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600" b="1">
                <a:solidFill>
                  <a:srgbClr val="FFFFFF"/>
                </a:solidFill>
                <a:latin typeface="Arial Black"/>
                <a:ea typeface="Arial Black"/>
                <a:cs typeface="Arial Black"/>
              </a:rPr>
              <a:t>How Merge</a:t>
            </a:r>
            <a:r>
              <a:rPr sz="3600" b="1">
                <a:solidFill>
                  <a:srgbClr val="3B82F6"/>
                </a:solidFill>
                <a:latin typeface="Arial Black"/>
                <a:ea typeface="Arial Black"/>
                <a:cs typeface="Arial Black"/>
              </a:rPr>
              <a:t>Guru</a:t>
            </a:r>
            <a:r>
              <a:rPr sz="3600" b="1">
                <a:solidFill>
                  <a:srgbClr val="FFFFFF"/>
                </a:solidFill>
                <a:latin typeface="Arial Black"/>
                <a:ea typeface="Arial Black"/>
                <a:cs typeface="Arial Black"/>
              </a:rPr>
              <a:t> Works</a:t>
            </a:r>
            <a:endParaRPr sz="3600"/>
          </a:p>
        </p:txBody>
      </p:sp>
      <p:sp>
        <p:nvSpPr>
          <p:cNvPr id="3" name="Text 1">
            <a:extLst xmlns:a="http://schemas.openxmlformats.org/drawingml/2006/main">
              <a:ext uri="{FF2B5EF4-FFF2-40B4-BE49-F238E27FC236}">
                <a16:creationId xmlns:a16="http://schemas.microsoft.com/office/drawing/2014/main" id="{199599BA-2C4C-350F-656A-21F337BBD44D}"/>
              </a:ext>
            </a:extLst>
          </p:cNvPr>
          <p:cNvSpPr>
            <a:spLocks xmlns:a="http://schemas.openxmlformats.org/drawingml/2006/main" noGrp="1"/>
          </p:cNvSpPr>
          <p:nvPr/>
        </p:nvSpPr>
        <p:spPr>
          <a:xfrm xmlns:a="http://schemas.openxmlformats.org/drawingml/2006/main">
            <a:off x="457200" y="129728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Montserrat"/>
                <a:ea typeface="Montserrat"/>
                <a:cs typeface="Montserrat"/>
              </a:rPr>
              <a:t>A purpose-built pipeline for controlled data consolidation.</a:t>
            </a:r>
          </a:p>
        </p:txBody>
      </p:sp>
      <p:sp>
        <p:nvSpPr>
          <p:cNvPr id="57" name="Shape 49">
            <a:extLst xmlns:a="http://schemas.openxmlformats.org/drawingml/2006/main">
              <a:ext uri="{FF2B5EF4-FFF2-40B4-BE49-F238E27FC236}">
                <a16:creationId xmlns:a16="http://schemas.microsoft.com/office/drawing/2014/main" id="{9C5A51B9-D17F-F822-64E7-B5F52F2952FC}"/>
              </a:ext>
            </a:extLst>
          </p:cNvPr>
          <p:cNvSpPr>
            <a:spLocks xmlns:a="http://schemas.openxmlformats.org/drawingml/2006/main" noGrp="1"/>
          </p:cNvSpPr>
          <p:nvPr/>
        </p:nvSpPr>
        <p:spPr>
          <a:xfrm xmlns:a="http://schemas.openxmlformats.org/drawingml/2006/main">
            <a:off x="410614" y="4572699"/>
            <a:ext cx="8322772" cy="278607"/>
          </a:xfrm>
          <a:prstGeom xmlns:a="http://schemas.openxmlformats.org/drawingml/2006/main" prst="roundRect">
            <a:avLst>
              <a:gd name="adj" fmla="val 29567"/>
            </a:avLst>
          </a:prstGeom>
          <a:solidFill xmlns:a="http://schemas.openxmlformats.org/drawingml/2006/main">
            <a:srgbClr val="1E2A3B"/>
          </a:solidFill>
          <a:ln xmlns:a="http://schemas.openxmlformats.org/drawingml/2006/main" w="19050">
            <a:noFill/>
            <a:prstDash val="solid"/>
          </a:ln>
        </p:spPr>
      </p:sp>
      <p:sp>
        <p:nvSpPr>
          <p:cNvPr id="58" name="Text 50">
            <a:extLst xmlns:a="http://schemas.openxmlformats.org/drawingml/2006/main">
              <a:ext uri="{FF2B5EF4-FFF2-40B4-BE49-F238E27FC236}">
                <a16:creationId xmlns:a16="http://schemas.microsoft.com/office/drawing/2014/main" id="{1D71A24B-42B3-6FE8-5160-7E3888DF825E}"/>
              </a:ext>
            </a:extLst>
          </p:cNvPr>
          <p:cNvSpPr>
            <a:spLocks xmlns:a="http://schemas.openxmlformats.org/drawingml/2006/main" noGrp="1"/>
          </p:cNvSpPr>
          <p:nvPr/>
        </p:nvSpPr>
        <p:spPr>
          <a:xfrm xmlns:a="http://schemas.openxmlformats.org/drawingml/2006/main">
            <a:off x="457462" y="4572699"/>
            <a:ext cx="8275924" cy="27860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1100">
                <a:solidFill>
                  <a:srgbClr val="94A3B8"/>
                </a:solidFill>
                <a:latin typeface="Trebuchet MS"/>
                <a:ea typeface="Trebuchet MS"/>
                <a:cs typeface="Trebuchet MS"/>
              </a:rPr>
              <a:t>Background workers · Visible progress and ETA · RAM guard · Thread-safe UI updates</a:t>
            </a:r>
            <a:endParaRPr sz="1100"/>
          </a:p>
        </p:txBody>
      </p:sp>
      <p:sp>
        <p:nvSpPr>
          <p:cNvPr id="62" name="Text 23">
            <a:extLst xmlns:a="http://schemas.openxmlformats.org/drawingml/2006/main">
              <a:ext uri="{FF2B5EF4-FFF2-40B4-BE49-F238E27FC236}">
                <a16:creationId xmlns:a16="http://schemas.microsoft.com/office/drawing/2014/main" id="{579E3056-A3A3-C8F6-A63C-F9597952ADEF}"/>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63" name="Shape 21">
            <a:extLst xmlns:a="http://schemas.openxmlformats.org/drawingml/2006/main">
              <a:ext uri="{FF2B5EF4-FFF2-40B4-BE49-F238E27FC236}">
                <a16:creationId xmlns:a16="http://schemas.microsoft.com/office/drawing/2014/main" id="{FE7F06C6-A7F9-C2AC-4C9A-CC24971A70DB}"/>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2563EB"/>
            </a:solidFill>
            <a:prstDash val="dash"/>
          </a:ln>
        </p:spPr>
      </p:sp>
      <p:sp>
        <p:nvSpPr>
          <p:cNvPr id="64" name="Text 22">
            <a:extLst xmlns:a="http://schemas.openxmlformats.org/drawingml/2006/main">
              <a:ext uri="{FF2B5EF4-FFF2-40B4-BE49-F238E27FC236}">
                <a16:creationId xmlns:a16="http://schemas.microsoft.com/office/drawing/2014/main" id="{687ADDC5-FB3C-E279-6C00-8804D9D85378}"/>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50">
                <a:solidFill>
                  <a:srgbClr val="3B82F6"/>
                </a:solidFill>
                <a:latin typeface="Trebuchet MS"/>
                <a:ea typeface="Trebuchet MS"/>
                <a:cs typeface="Trebuchet MS"/>
              </a:rPr>
              <a:t>UNDER THE HOOD</a:t>
            </a:r>
            <a:endParaRPr sz="850"/>
          </a:p>
        </p:txBody>
      </p:sp>
      <p:sp>
        <p:nvSpPr>
          <p:cNvPr id="4" name="Text 1">
            <a:extLst xmlns:a="http://schemas.openxmlformats.org/drawingml/2006/main">
              <a:ext uri="{FF2B5EF4-FFF2-40B4-BE49-F238E27FC236}">
                <a16:creationId xmlns:a16="http://schemas.microsoft.com/office/drawing/2014/main" id="{A50A6897-9C1B-38BD-DFE1-C5BD2CC85B1A}"/>
              </a:ext>
            </a:extLst>
          </p:cNvPr>
          <p:cNvSpPr>
            <a:spLocks xmlns:a="http://schemas.openxmlformats.org/drawingml/2006/main" noGrp="1"/>
          </p:cNvSpPr>
          <p:nvPr/>
        </p:nvSpPr>
        <p:spPr>
          <a:xfrm xmlns:a="http://schemas.openxmlformats.org/drawingml/2006/main">
            <a:off x="332974" y="1696386"/>
            <a:ext cx="675033"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chemeClr val="bg2">
                    <a:lumMod val="25000"/>
                  </a:schemeClr>
                </a:solidFill>
                <a:latin typeface="Montserrat"/>
                <a:ea typeface="Montserrat"/>
                <a:cs typeface="Montserrat"/>
              </a:rPr>
              <a:t>INPUT</a:t>
            </a:r>
          </a:p>
        </p:txBody>
      </p:sp>
      <p:sp>
        <p:nvSpPr>
          <p:cNvPr id="5" name="Text 1">
            <a:extLst xmlns:a="http://schemas.openxmlformats.org/drawingml/2006/main">
              <a:ext uri="{FF2B5EF4-FFF2-40B4-BE49-F238E27FC236}">
                <a16:creationId xmlns:a16="http://schemas.microsoft.com/office/drawing/2014/main" id="{6E4B96FA-E7E9-95C7-F57C-86B16D5CBB40}"/>
              </a:ext>
            </a:extLst>
          </p:cNvPr>
          <p:cNvSpPr>
            <a:spLocks xmlns:a="http://schemas.openxmlformats.org/drawingml/2006/main" noGrp="1"/>
          </p:cNvSpPr>
          <p:nvPr/>
        </p:nvSpPr>
        <p:spPr>
          <a:xfrm xmlns:a="http://schemas.openxmlformats.org/drawingml/2006/main">
            <a:off x="3375014" y="1696386"/>
            <a:ext cx="2099503"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chemeClr val="bg2">
                    <a:lumMod val="25000"/>
                  </a:schemeClr>
                </a:solidFill>
                <a:latin typeface="Montserrat"/>
                <a:ea typeface="Montserrat"/>
                <a:cs typeface="Montserrat"/>
              </a:rPr>
              <a:t>PROCESSING ENGINES</a:t>
            </a:r>
          </a:p>
        </p:txBody>
      </p:sp>
      <p:sp>
        <p:nvSpPr>
          <p:cNvPr id="7" name="Text 1">
            <a:extLst xmlns:a="http://schemas.openxmlformats.org/drawingml/2006/main">
              <a:ext uri="{FF2B5EF4-FFF2-40B4-BE49-F238E27FC236}">
                <a16:creationId xmlns:a16="http://schemas.microsoft.com/office/drawing/2014/main" id="{6A558EE7-D679-1CBF-F6AC-149AFCD98E3F}"/>
              </a:ext>
            </a:extLst>
          </p:cNvPr>
          <p:cNvSpPr>
            <a:spLocks xmlns:a="http://schemas.openxmlformats.org/drawingml/2006/main" noGrp="1"/>
          </p:cNvSpPr>
          <p:nvPr/>
        </p:nvSpPr>
        <p:spPr>
          <a:xfrm xmlns:a="http://schemas.openxmlformats.org/drawingml/2006/main">
            <a:off x="6398927" y="1696386"/>
            <a:ext cx="2099503"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chemeClr val="bg2">
                    <a:lumMod val="25000"/>
                  </a:schemeClr>
                </a:solidFill>
                <a:latin typeface="Montserrat"/>
                <a:ea typeface="Montserrat"/>
                <a:cs typeface="Montserrat"/>
              </a:rPr>
              <a:t>OUTPUT</a:t>
            </a:r>
          </a:p>
        </p:txBody>
      </p:sp>
      <p:sp>
        <p:nvSpPr>
          <p:cNvPr id="8" name="Shape 2">
            <a:extLst xmlns:a="http://schemas.openxmlformats.org/drawingml/2006/main">
              <a:ext uri="{FF2B5EF4-FFF2-40B4-BE49-F238E27FC236}">
                <a16:creationId xmlns:a16="http://schemas.microsoft.com/office/drawing/2014/main" id="{5E822591-467D-6982-C9AE-4E47E3C86EDC}"/>
              </a:ext>
            </a:extLst>
          </p:cNvPr>
          <p:cNvSpPr>
            <a:spLocks xmlns:a="http://schemas.openxmlformats.org/drawingml/2006/main" noGrp="1"/>
          </p:cNvSpPr>
          <p:nvPr/>
        </p:nvSpPr>
        <p:spPr>
          <a:xfrm xmlns:a="http://schemas.openxmlformats.org/drawingml/2006/main">
            <a:off x="457463" y="2346676"/>
            <a:ext cx="1444139" cy="434805"/>
          </a:xfrm>
          <a:prstGeom xmlns:a="http://schemas.openxmlformats.org/drawingml/2006/main" prst="roundRect">
            <a:avLst/>
          </a:prstGeom>
          <a:solidFill xmlns:a="http://schemas.openxmlformats.org/drawingml/2006/main">
            <a:srgbClr val="1E2A3B"/>
          </a:solidFill>
          <a:ln xmlns:a="http://schemas.openxmlformats.org/drawingml/2006/main" w="6350">
            <a:solidFill>
              <a:srgbClr val="10B981"/>
            </a:solidFill>
            <a:prstDash val="solid"/>
          </a:ln>
          <a:effectLst xmlns:a="http://schemas.openxmlformats.org/drawingml/2006/main">
            <a:outerShdw blurRad="76200" dist="38100" dir="8100000" algn="bl" rotWithShape="0">
              <a:srgbClr val="000000">
                <a:alpha val="30000"/>
              </a:srgbClr>
            </a:outerShdw>
          </a:effectLst>
        </p:spPr>
      </p:sp>
      <p:pic>
        <p:nvPicPr>
          <p:cNvPr id="268" name="Image 0"/>
          <p:cNvPicPr>
            <a:picLocks xmlns:a="http://schemas.openxmlformats.org/drawingml/2006/main" noChangeAspect="1"/>
          </p:cNvPicPr>
          <p:nvPr/>
        </p:nvPicPr>
        <p:blipFill>
          <a:blip xmlns:r="http://schemas.openxmlformats.org/officeDocument/2006/relationships" xmlns:a="http://schemas.openxmlformats.org/drawingml/2006/main" r:embed="Re3dc2f60f7e141d1"/>
          <a:stretch xmlns:a="http://schemas.openxmlformats.org/drawingml/2006/main">
            <a:fillRect l="0" t="0" r="0" b="0"/>
          </a:stretch>
        </p:blipFill>
        <p:spPr>
          <a:xfrm xmlns:a="http://schemas.openxmlformats.org/drawingml/2006/main">
            <a:off x="539850" y="2432564"/>
            <a:ext cx="266644" cy="266644"/>
          </a:xfrm>
          <a:prstGeom xmlns:a="http://schemas.openxmlformats.org/drawingml/2006/main" prst="rect">
            <a:avLst/>
          </a:prstGeom>
        </p:spPr>
      </p:pic>
      <p:sp>
        <p:nvSpPr>
          <p:cNvPr id="10" name="Text 3">
            <a:extLst xmlns:a="http://schemas.openxmlformats.org/drawingml/2006/main">
              <a:ext uri="{FF2B5EF4-FFF2-40B4-BE49-F238E27FC236}">
                <a16:creationId xmlns:a16="http://schemas.microsoft.com/office/drawing/2014/main" id="{1E845B2C-2773-2A1E-EDEE-59BE7650ADC6}"/>
              </a:ext>
            </a:extLst>
          </p:cNvPr>
          <p:cNvSpPr>
            <a:spLocks xmlns:a="http://schemas.openxmlformats.org/drawingml/2006/main" noGrp="1"/>
          </p:cNvSpPr>
          <p:nvPr/>
        </p:nvSpPr>
        <p:spPr>
          <a:xfrm xmlns:a="http://schemas.openxmlformats.org/drawingml/2006/main">
            <a:off x="883915" y="2377152"/>
            <a:ext cx="798077" cy="2307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1F5F9"/>
                </a:solidFill>
                <a:latin typeface="Montserrat"/>
                <a:ea typeface="Montserrat"/>
                <a:cs typeface="Montserrat"/>
              </a:rPr>
              <a:t>Excel</a:t>
            </a:r>
            <a:endParaRPr sz="1050">
              <a:latin typeface="Montserrat"/>
              <a:ea typeface="Montserrat"/>
              <a:cs typeface="Montserrat"/>
            </a:endParaRPr>
          </a:p>
        </p:txBody>
      </p:sp>
      <p:sp>
        <p:nvSpPr>
          <p:cNvPr id="17" name="Text 3">
            <a:extLst xmlns:a="http://schemas.openxmlformats.org/drawingml/2006/main">
              <a:ext uri="{FF2B5EF4-FFF2-40B4-BE49-F238E27FC236}">
                <a16:creationId xmlns:a16="http://schemas.microsoft.com/office/drawing/2014/main" id="{2603A806-3B7A-3383-F3F2-0D7A8C592145}"/>
              </a:ext>
            </a:extLst>
          </p:cNvPr>
          <p:cNvSpPr>
            <a:spLocks xmlns:a="http://schemas.openxmlformats.org/drawingml/2006/main" noGrp="1"/>
          </p:cNvSpPr>
          <p:nvPr/>
        </p:nvSpPr>
        <p:spPr>
          <a:xfrm xmlns:a="http://schemas.openxmlformats.org/drawingml/2006/main">
            <a:off x="883915" y="2534552"/>
            <a:ext cx="798077" cy="2307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900">
                <a:solidFill>
                  <a:schemeClr val="bg2">
                    <a:lumMod val="50000"/>
                  </a:schemeClr>
                </a:solidFill>
                <a:latin typeface="Montserrat"/>
                <a:ea typeface="Montserrat"/>
                <a:cs typeface="Montserrat"/>
              </a:rPr>
              <a:t>.xlsx</a:t>
            </a:r>
            <a:r>
              <a:rPr sz="900">
                <a:solidFill>
                  <a:schemeClr val="bg2">
                    <a:lumMod val="50000"/>
                  </a:schemeClr>
                </a:solidFill>
                <a:latin typeface="Trebuchet MS"/>
                <a:ea typeface="Trebuchet MS"/>
                <a:cs typeface="Trebuchet MS"/>
              </a:rPr>
              <a:t> · </a:t>
            </a:r>
            <a:r>
              <a:rPr sz="900">
                <a:solidFill>
                  <a:schemeClr val="bg2">
                    <a:lumMod val="50000"/>
                  </a:schemeClr>
                </a:solidFill>
                <a:latin typeface="Montserrat"/>
                <a:ea typeface="Montserrat"/>
                <a:cs typeface="Montserrat"/>
              </a:rPr>
              <a:t>.xlsm</a:t>
            </a:r>
          </a:p>
        </p:txBody>
      </p:sp>
      <p:sp>
        <p:nvSpPr>
          <p:cNvPr id="20" name="Shape 2">
            <a:extLst xmlns:a="http://schemas.openxmlformats.org/drawingml/2006/main">
              <a:ext uri="{FF2B5EF4-FFF2-40B4-BE49-F238E27FC236}">
                <a16:creationId xmlns:a16="http://schemas.microsoft.com/office/drawing/2014/main" id="{E716C03A-D7EC-B16F-8DCD-7D8621B0A2AB}"/>
              </a:ext>
            </a:extLst>
          </p:cNvPr>
          <p:cNvSpPr>
            <a:spLocks xmlns:a="http://schemas.openxmlformats.org/drawingml/2006/main" noGrp="1"/>
          </p:cNvSpPr>
          <p:nvPr/>
        </p:nvSpPr>
        <p:spPr>
          <a:xfrm xmlns:a="http://schemas.openxmlformats.org/drawingml/2006/main">
            <a:off x="457462" y="2962574"/>
            <a:ext cx="1444139" cy="434805"/>
          </a:xfrm>
          <a:prstGeom xmlns:a="http://schemas.openxmlformats.org/drawingml/2006/main" prst="roundRect">
            <a:avLst/>
          </a:prstGeom>
          <a:solidFill xmlns:a="http://schemas.openxmlformats.org/drawingml/2006/main">
            <a:srgbClr val="1E2A3B"/>
          </a:solidFill>
          <a:ln xmlns:a="http://schemas.openxmlformats.org/drawingml/2006/main" w="6350">
            <a:solidFill>
              <a:srgbClr val="3B82F6"/>
            </a:solidFill>
            <a:prstDash val="solid"/>
          </a:ln>
          <a:effectLst xmlns:a="http://schemas.openxmlformats.org/drawingml/2006/main">
            <a:outerShdw blurRad="76200" dist="38100" dir="8100000" algn="bl" rotWithShape="0">
              <a:srgbClr val="000000">
                <a:alpha val="30000"/>
              </a:srgbClr>
            </a:outerShdw>
          </a:effectLst>
        </p:spPr>
      </p:sp>
      <p:sp>
        <p:nvSpPr>
          <p:cNvPr id="22" name="Text 3">
            <a:extLst xmlns:a="http://schemas.openxmlformats.org/drawingml/2006/main">
              <a:ext uri="{FF2B5EF4-FFF2-40B4-BE49-F238E27FC236}">
                <a16:creationId xmlns:a16="http://schemas.microsoft.com/office/drawing/2014/main" id="{496667B5-761B-D157-5C7D-73048155175E}"/>
              </a:ext>
            </a:extLst>
          </p:cNvPr>
          <p:cNvSpPr>
            <a:spLocks xmlns:a="http://schemas.openxmlformats.org/drawingml/2006/main" noGrp="1"/>
          </p:cNvSpPr>
          <p:nvPr/>
        </p:nvSpPr>
        <p:spPr>
          <a:xfrm xmlns:a="http://schemas.openxmlformats.org/drawingml/2006/main">
            <a:off x="883914" y="2993050"/>
            <a:ext cx="798077" cy="2307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1F5F9"/>
                </a:solidFill>
                <a:latin typeface="Montserrat"/>
                <a:ea typeface="Montserrat"/>
                <a:cs typeface="Montserrat"/>
              </a:rPr>
              <a:t>CSV</a:t>
            </a:r>
            <a:endParaRPr sz="1050">
              <a:latin typeface="Montserrat"/>
              <a:ea typeface="Montserrat"/>
              <a:cs typeface="Montserrat"/>
            </a:endParaRPr>
          </a:p>
        </p:txBody>
      </p:sp>
      <p:sp>
        <p:nvSpPr>
          <p:cNvPr id="23" name="Text 3">
            <a:extLst xmlns:a="http://schemas.openxmlformats.org/drawingml/2006/main">
              <a:ext uri="{FF2B5EF4-FFF2-40B4-BE49-F238E27FC236}">
                <a16:creationId xmlns:a16="http://schemas.microsoft.com/office/drawing/2014/main" id="{56B709C4-394E-D40D-262B-C25D402BCEE7}"/>
              </a:ext>
            </a:extLst>
          </p:cNvPr>
          <p:cNvSpPr>
            <a:spLocks xmlns:a="http://schemas.openxmlformats.org/drawingml/2006/main" noGrp="1"/>
          </p:cNvSpPr>
          <p:nvPr/>
        </p:nvSpPr>
        <p:spPr>
          <a:xfrm xmlns:a="http://schemas.openxmlformats.org/drawingml/2006/main">
            <a:off x="883914" y="3150450"/>
            <a:ext cx="798077" cy="2307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900">
                <a:solidFill>
                  <a:schemeClr val="bg2">
                    <a:lumMod val="50000"/>
                  </a:schemeClr>
                </a:solidFill>
                <a:latin typeface="Montserrat"/>
                <a:ea typeface="Montserrat"/>
                <a:cs typeface="Montserrat"/>
              </a:rPr>
              <a:t>Utf-8 </a:t>
            </a:r>
            <a:r>
              <a:rPr sz="900">
                <a:solidFill>
                  <a:schemeClr val="bg2">
                    <a:lumMod val="50000"/>
                  </a:schemeClr>
                </a:solidFill>
                <a:latin typeface="Trebuchet MS"/>
                <a:ea typeface="Trebuchet MS"/>
                <a:cs typeface="Trebuchet MS"/>
              </a:rPr>
              <a:t>· </a:t>
            </a:r>
            <a:r>
              <a:rPr sz="900">
                <a:solidFill>
                  <a:schemeClr val="bg2">
                    <a:lumMod val="50000"/>
                  </a:schemeClr>
                </a:solidFill>
                <a:latin typeface="Montserrat"/>
                <a:ea typeface="Montserrat"/>
                <a:cs typeface="Montserrat"/>
              </a:rPr>
              <a:t>ascii</a:t>
            </a:r>
          </a:p>
        </p:txBody>
      </p:sp>
      <p:pic>
        <p:nvPicPr>
          <p:cNvPr id="274" name="Image 1"/>
          <p:cNvPicPr>
            <a:picLocks xmlns:a="http://schemas.openxmlformats.org/drawingml/2006/main" noChangeAspect="1"/>
          </p:cNvPicPr>
          <p:nvPr/>
        </p:nvPicPr>
        <p:blipFill>
          <a:blip xmlns:r="http://schemas.openxmlformats.org/officeDocument/2006/relationships" xmlns:a="http://schemas.openxmlformats.org/drawingml/2006/main" r:embed="Rec7e608910d84866"/>
          <a:stretch xmlns:a="http://schemas.openxmlformats.org/drawingml/2006/main">
            <a:fillRect l="0" t="0" r="0" b="0"/>
          </a:stretch>
        </p:blipFill>
        <p:spPr>
          <a:xfrm xmlns:a="http://schemas.openxmlformats.org/drawingml/2006/main">
            <a:off x="543906" y="3044257"/>
            <a:ext cx="266644" cy="276441"/>
          </a:xfrm>
          <a:prstGeom xmlns:a="http://schemas.openxmlformats.org/drawingml/2006/main" prst="rect">
            <a:avLst/>
          </a:prstGeom>
        </p:spPr>
      </p:pic>
      <p:sp>
        <p:nvSpPr>
          <p:cNvPr id="25" name="Shape 2">
            <a:extLst xmlns:a="http://schemas.openxmlformats.org/drawingml/2006/main">
              <a:ext uri="{FF2B5EF4-FFF2-40B4-BE49-F238E27FC236}">
                <a16:creationId xmlns:a16="http://schemas.microsoft.com/office/drawing/2014/main" id="{8468536C-BB6C-96DD-A8DD-E4D2D3FAC630}"/>
              </a:ext>
            </a:extLst>
          </p:cNvPr>
          <p:cNvSpPr>
            <a:spLocks xmlns:a="http://schemas.openxmlformats.org/drawingml/2006/main" noGrp="1"/>
          </p:cNvSpPr>
          <p:nvPr/>
        </p:nvSpPr>
        <p:spPr>
          <a:xfrm xmlns:a="http://schemas.openxmlformats.org/drawingml/2006/main">
            <a:off x="461519" y="3578471"/>
            <a:ext cx="1444139" cy="434805"/>
          </a:xfrm>
          <a:prstGeom xmlns:a="http://schemas.openxmlformats.org/drawingml/2006/main" prst="roundRect">
            <a:avLst/>
          </a:prstGeom>
          <a:solidFill xmlns:a="http://schemas.openxmlformats.org/drawingml/2006/main">
            <a:srgbClr val="1E2A3B"/>
          </a:solidFill>
          <a:ln xmlns:a="http://schemas.openxmlformats.org/drawingml/2006/main" w="6350">
            <a:solidFill>
              <a:srgbClr val="10B981"/>
            </a:solidFill>
            <a:prstDash val="solid"/>
          </a:ln>
          <a:effectLst xmlns:a="http://schemas.openxmlformats.org/drawingml/2006/main">
            <a:outerShdw blurRad="76200" dist="38100" dir="8100000" algn="bl" rotWithShape="0">
              <a:srgbClr val="000000">
                <a:alpha val="30000"/>
              </a:srgbClr>
            </a:outerShdw>
          </a:effectLst>
        </p:spPr>
      </p:sp>
      <p:sp>
        <p:nvSpPr>
          <p:cNvPr id="27" name="Text 3">
            <a:extLst xmlns:a="http://schemas.openxmlformats.org/drawingml/2006/main">
              <a:ext uri="{FF2B5EF4-FFF2-40B4-BE49-F238E27FC236}">
                <a16:creationId xmlns:a16="http://schemas.microsoft.com/office/drawing/2014/main" id="{6847068A-BBA8-27F1-F5B9-4B921EE26B65}"/>
              </a:ext>
            </a:extLst>
          </p:cNvPr>
          <p:cNvSpPr>
            <a:spLocks xmlns:a="http://schemas.openxmlformats.org/drawingml/2006/main" noGrp="1"/>
          </p:cNvSpPr>
          <p:nvPr/>
        </p:nvSpPr>
        <p:spPr>
          <a:xfrm xmlns:a="http://schemas.openxmlformats.org/drawingml/2006/main">
            <a:off x="887971" y="3608947"/>
            <a:ext cx="925761" cy="2307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1F5F9"/>
                </a:solidFill>
                <a:latin typeface="Montserrat"/>
                <a:ea typeface="Montserrat"/>
                <a:cs typeface="Montserrat"/>
              </a:rPr>
              <a:t>ZIP Archive</a:t>
            </a:r>
            <a:endParaRPr sz="1050">
              <a:latin typeface="Montserrat"/>
              <a:ea typeface="Montserrat"/>
              <a:cs typeface="Montserrat"/>
            </a:endParaRPr>
          </a:p>
        </p:txBody>
      </p:sp>
      <p:sp>
        <p:nvSpPr>
          <p:cNvPr id="28" name="Text 3">
            <a:extLst xmlns:a="http://schemas.openxmlformats.org/drawingml/2006/main">
              <a:ext uri="{FF2B5EF4-FFF2-40B4-BE49-F238E27FC236}">
                <a16:creationId xmlns:a16="http://schemas.microsoft.com/office/drawing/2014/main" id="{F1F36758-BB01-78DD-30E9-78566D18E4A1}"/>
              </a:ext>
            </a:extLst>
          </p:cNvPr>
          <p:cNvSpPr>
            <a:spLocks xmlns:a="http://schemas.openxmlformats.org/drawingml/2006/main" noGrp="1"/>
          </p:cNvSpPr>
          <p:nvPr/>
        </p:nvSpPr>
        <p:spPr>
          <a:xfrm xmlns:a="http://schemas.openxmlformats.org/drawingml/2006/main">
            <a:off x="887971" y="3766347"/>
            <a:ext cx="925761" cy="23072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900">
                <a:solidFill>
                  <a:schemeClr val="bg2">
                    <a:lumMod val="50000"/>
                  </a:schemeClr>
                </a:solidFill>
                <a:latin typeface="Montserrat"/>
                <a:ea typeface="Montserrat"/>
                <a:cs typeface="Montserrat"/>
              </a:rPr>
              <a:t>Recursive scan</a:t>
            </a:r>
          </a:p>
        </p:txBody>
      </p:sp>
      <p:pic>
        <p:nvPicPr>
          <p:cNvPr id="278" name="Image 2"/>
          <p:cNvPicPr>
            <a:picLocks xmlns:a="http://schemas.openxmlformats.org/drawingml/2006/main" noChangeAspect="1"/>
          </p:cNvPicPr>
          <p:nvPr/>
        </p:nvPicPr>
        <p:blipFill>
          <a:blip xmlns:r="http://schemas.openxmlformats.org/officeDocument/2006/relationships" xmlns:a="http://schemas.openxmlformats.org/drawingml/2006/main" r:embed="R778613198cfd407b"/>
          <a:stretch xmlns:a="http://schemas.openxmlformats.org/drawingml/2006/main">
            <a:fillRect l="0" t="0" r="0" b="0"/>
          </a:stretch>
        </p:blipFill>
        <p:spPr>
          <a:xfrm xmlns:a="http://schemas.openxmlformats.org/drawingml/2006/main">
            <a:off x="539850" y="3642807"/>
            <a:ext cx="266644" cy="306131"/>
          </a:xfrm>
          <a:prstGeom xmlns:a="http://schemas.openxmlformats.org/drawingml/2006/main" prst="rect">
            <a:avLst/>
          </a:prstGeom>
        </p:spPr>
      </p:pic>
      <p:sp>
        <p:nvSpPr>
          <p:cNvPr id="35" name="Rectangle: Rounded Corners 34">
            <a:extLst xmlns:a="http://schemas.openxmlformats.org/drawingml/2006/main">
              <a:ext uri="{FF2B5EF4-FFF2-40B4-BE49-F238E27FC236}">
                <a16:creationId xmlns:a16="http://schemas.microsoft.com/office/drawing/2014/main" id="{46FCB86A-81B1-6AA9-8757-A05E689696ED}"/>
              </a:ext>
            </a:extLst>
          </p:cNvPr>
          <p:cNvSpPr>
            <a:spLocks xmlns:a="http://schemas.openxmlformats.org/drawingml/2006/main" noGrp="1"/>
          </p:cNvSpPr>
          <p:nvPr/>
        </p:nvSpPr>
        <p:spPr>
          <a:xfrm xmlns:a="http://schemas.openxmlformats.org/drawingml/2006/main">
            <a:off x="2606918" y="2080234"/>
            <a:ext cx="487895" cy="306320"/>
          </a:xfrm>
          <a:prstGeom xmlns:a="http://schemas.openxmlformats.org/drawingml/2006/main" prst="roundRect">
            <a:avLst/>
          </a:prstGeom>
          <a:solidFill xmlns:a="http://schemas.openxmlformats.org/drawingml/2006/main">
            <a:srgbClr val="CE544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Rectangle: Rounded Corners 30">
            <a:extLst xmlns:a="http://schemas.openxmlformats.org/drawingml/2006/main">
              <a:ext uri="{FF2B5EF4-FFF2-40B4-BE49-F238E27FC236}">
                <a16:creationId xmlns:a16="http://schemas.microsoft.com/office/drawing/2014/main" id="{390291A8-A0EA-AAC0-CFB1-6CD53442704F}"/>
              </a:ext>
            </a:extLst>
          </p:cNvPr>
          <p:cNvSpPr>
            <a:spLocks xmlns:a="http://schemas.openxmlformats.org/drawingml/2006/main" noGrp="1"/>
          </p:cNvSpPr>
          <p:nvPr/>
        </p:nvSpPr>
        <p:spPr>
          <a:xfrm xmlns:a="http://schemas.openxmlformats.org/drawingml/2006/main">
            <a:off x="2639941" y="2080234"/>
            <a:ext cx="3602671" cy="306320"/>
          </a:xfrm>
          <a:prstGeom xmlns:a="http://schemas.openxmlformats.org/drawingml/2006/main" prst="roundRect">
            <a:avLst>
              <a:gd name="adj" fmla="val 19831"/>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 3">
            <a:extLst xmlns:a="http://schemas.openxmlformats.org/drawingml/2006/main">
              <a:ext uri="{FF2B5EF4-FFF2-40B4-BE49-F238E27FC236}">
                <a16:creationId xmlns:a16="http://schemas.microsoft.com/office/drawing/2014/main" id="{54C86620-03AA-E3CA-2F02-461156ECB93F}"/>
              </a:ext>
            </a:extLst>
          </p:cNvPr>
          <p:cNvSpPr>
            <a:spLocks xmlns:a="http://schemas.openxmlformats.org/drawingml/2006/main" noGrp="1"/>
          </p:cNvSpPr>
          <p:nvPr/>
        </p:nvSpPr>
        <p:spPr>
          <a:xfrm xmlns:a="http://schemas.openxmlformats.org/drawingml/2006/main">
            <a:off x="3044711" y="2100082"/>
            <a:ext cx="798077" cy="15103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F1F5F9"/>
                </a:solidFill>
                <a:latin typeface="Montserrat"/>
                <a:ea typeface="Montserrat"/>
                <a:cs typeface="Montserrat"/>
              </a:rPr>
              <a:t>Excel</a:t>
            </a:r>
            <a:endParaRPr sz="900">
              <a:latin typeface="Montserrat"/>
              <a:ea typeface="Montserrat"/>
              <a:cs typeface="Montserrat"/>
            </a:endParaRPr>
          </a:p>
        </p:txBody>
      </p:sp>
      <p:sp>
        <p:nvSpPr>
          <p:cNvPr id="37" name="Text 3">
            <a:extLst xmlns:a="http://schemas.openxmlformats.org/drawingml/2006/main">
              <a:ext uri="{FF2B5EF4-FFF2-40B4-BE49-F238E27FC236}">
                <a16:creationId xmlns:a16="http://schemas.microsoft.com/office/drawing/2014/main" id="{A6A6C23A-FB71-8862-933B-C8832D6984D9}"/>
              </a:ext>
            </a:extLst>
          </p:cNvPr>
          <p:cNvSpPr>
            <a:spLocks xmlns:a="http://schemas.openxmlformats.org/drawingml/2006/main" noGrp="1"/>
          </p:cNvSpPr>
          <p:nvPr/>
        </p:nvSpPr>
        <p:spPr>
          <a:xfrm xmlns:a="http://schemas.openxmlformats.org/drawingml/2006/main">
            <a:off x="3044711" y="2220808"/>
            <a:ext cx="2040152" cy="16242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700">
                <a:solidFill>
                  <a:schemeClr val="bg2">
                    <a:lumMod val="50000"/>
                  </a:schemeClr>
                </a:solidFill>
                <a:latin typeface="Montserrat"/>
                <a:ea typeface="Montserrat"/>
                <a:cs typeface="Montserrat"/>
              </a:rPr>
              <a:t>Schema</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Headers</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Duplicates</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Corrupt files</a:t>
            </a:r>
          </a:p>
        </p:txBody>
      </p:sp>
      <p:pic>
        <p:nvPicPr>
          <p:cNvPr id="283" name="Image 3"/>
          <p:cNvPicPr>
            <a:picLocks xmlns:a="http://schemas.openxmlformats.org/drawingml/2006/main" noChangeAspect="1"/>
          </p:cNvPicPr>
          <p:nvPr/>
        </p:nvPicPr>
        <p:blipFill>
          <a:blip xmlns:r="http://schemas.openxmlformats.org/officeDocument/2006/relationships" xmlns:a="http://schemas.openxmlformats.org/drawingml/2006/main" r:embed="R318f0d0589904656"/>
          <a:stretch xmlns:a="http://schemas.openxmlformats.org/drawingml/2006/main">
            <a:fillRect l="0" t="0" r="0" b="0"/>
          </a:stretch>
        </p:blipFill>
        <p:spPr>
          <a:xfrm xmlns:a="http://schemas.openxmlformats.org/drawingml/2006/main">
            <a:off x="2728055" y="2155832"/>
            <a:ext cx="155124" cy="155124"/>
          </a:xfrm>
          <a:prstGeom xmlns:a="http://schemas.openxmlformats.org/drawingml/2006/main" prst="rect">
            <a:avLst/>
          </a:prstGeom>
        </p:spPr>
      </p:pic>
      <p:sp>
        <p:nvSpPr>
          <p:cNvPr id="39" name="Rectangle: Rounded Corners 38">
            <a:extLst xmlns:a="http://schemas.openxmlformats.org/drawingml/2006/main">
              <a:ext uri="{FF2B5EF4-FFF2-40B4-BE49-F238E27FC236}">
                <a16:creationId xmlns:a16="http://schemas.microsoft.com/office/drawing/2014/main" id="{CBB0091F-52DB-CFD8-32FB-FD8F916712C6}"/>
              </a:ext>
            </a:extLst>
          </p:cNvPr>
          <p:cNvSpPr>
            <a:spLocks xmlns:a="http://schemas.openxmlformats.org/drawingml/2006/main" noGrp="1"/>
          </p:cNvSpPr>
          <p:nvPr/>
        </p:nvSpPr>
        <p:spPr>
          <a:xfrm xmlns:a="http://schemas.openxmlformats.org/drawingml/2006/main">
            <a:off x="2694105" y="2125427"/>
            <a:ext cx="223024" cy="223024"/>
          </a:xfrm>
          <a:prstGeom xmlns:a="http://schemas.openxmlformats.org/drawingml/2006/main" prst="roundRect">
            <a:avLst/>
          </a:prstGeom>
          <a:solidFill xmlns:a="http://schemas.openxmlformats.org/drawingml/2006/main">
            <a:srgbClr val="CE544C">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 3">
            <a:extLst xmlns:a="http://schemas.openxmlformats.org/drawingml/2006/main">
              <a:ext uri="{FF2B5EF4-FFF2-40B4-BE49-F238E27FC236}">
                <a16:creationId xmlns:a16="http://schemas.microsoft.com/office/drawing/2014/main" id="{22927C8D-E00B-9769-0CDE-E33EDC2EAE01}"/>
              </a:ext>
            </a:extLst>
          </p:cNvPr>
          <p:cNvSpPr>
            <a:spLocks xmlns:a="http://schemas.openxmlformats.org/drawingml/2006/main" noGrp="1"/>
          </p:cNvSpPr>
          <p:nvPr/>
        </p:nvSpPr>
        <p:spPr>
          <a:xfrm xmlns:a="http://schemas.openxmlformats.org/drawingml/2006/main">
            <a:off x="5863062" y="2155832"/>
            <a:ext cx="299311" cy="16242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600" b="1">
                <a:solidFill>
                  <a:srgbClr val="CE544C"/>
                </a:solidFill>
                <a:latin typeface="Montserrat"/>
                <a:ea typeface="Montserrat"/>
                <a:cs typeface="Montserrat"/>
              </a:rPr>
              <a:t>FIRST</a:t>
            </a:r>
          </a:p>
        </p:txBody>
      </p:sp>
      <p:sp>
        <p:nvSpPr>
          <p:cNvPr id="43" name="Rectangle: Rounded Corners 42">
            <a:extLst xmlns:a="http://schemas.openxmlformats.org/drawingml/2006/main">
              <a:ext uri="{FF2B5EF4-FFF2-40B4-BE49-F238E27FC236}">
                <a16:creationId xmlns:a16="http://schemas.microsoft.com/office/drawing/2014/main" id="{3ACD9F51-BA45-430D-D234-268B08A84E71}"/>
              </a:ext>
            </a:extLst>
          </p:cNvPr>
          <p:cNvSpPr>
            <a:spLocks xmlns:a="http://schemas.openxmlformats.org/drawingml/2006/main" noGrp="1"/>
          </p:cNvSpPr>
          <p:nvPr/>
        </p:nvSpPr>
        <p:spPr>
          <a:xfrm xmlns:a="http://schemas.openxmlformats.org/drawingml/2006/main">
            <a:off x="2606918" y="2553525"/>
            <a:ext cx="487895" cy="306320"/>
          </a:xfrm>
          <a:prstGeom xmlns:a="http://schemas.openxmlformats.org/drawingml/2006/main" prst="roundRect">
            <a:avLst/>
          </a:prstGeom>
          <a:solidFill xmlns:a="http://schemas.openxmlformats.org/drawingml/2006/main">
            <a:srgbClr val="8861EF"/>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Rectangle: Rounded Corners 43">
            <a:extLst xmlns:a="http://schemas.openxmlformats.org/drawingml/2006/main">
              <a:ext uri="{FF2B5EF4-FFF2-40B4-BE49-F238E27FC236}">
                <a16:creationId xmlns:a16="http://schemas.microsoft.com/office/drawing/2014/main" id="{A431FE90-4490-3A85-C356-4C5DF17C4742}"/>
              </a:ext>
            </a:extLst>
          </p:cNvPr>
          <p:cNvSpPr>
            <a:spLocks xmlns:a="http://schemas.openxmlformats.org/drawingml/2006/main" noGrp="1"/>
          </p:cNvSpPr>
          <p:nvPr/>
        </p:nvSpPr>
        <p:spPr>
          <a:xfrm xmlns:a="http://schemas.openxmlformats.org/drawingml/2006/main">
            <a:off x="2639941" y="2553525"/>
            <a:ext cx="3602671" cy="306320"/>
          </a:xfrm>
          <a:prstGeom xmlns:a="http://schemas.openxmlformats.org/drawingml/2006/main" prst="roundRect">
            <a:avLst>
              <a:gd name="adj" fmla="val 19831"/>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 3">
            <a:extLst xmlns:a="http://schemas.openxmlformats.org/drawingml/2006/main">
              <a:ext uri="{FF2B5EF4-FFF2-40B4-BE49-F238E27FC236}">
                <a16:creationId xmlns:a16="http://schemas.microsoft.com/office/drawing/2014/main" id="{FB332035-6173-5634-1CAC-04F24338CBE3}"/>
              </a:ext>
            </a:extLst>
          </p:cNvPr>
          <p:cNvSpPr>
            <a:spLocks xmlns:a="http://schemas.openxmlformats.org/drawingml/2006/main" noGrp="1"/>
          </p:cNvSpPr>
          <p:nvPr/>
        </p:nvSpPr>
        <p:spPr>
          <a:xfrm xmlns:a="http://schemas.openxmlformats.org/drawingml/2006/main">
            <a:off x="3044711" y="2573373"/>
            <a:ext cx="1290466" cy="15103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F1F5F9"/>
                </a:solidFill>
                <a:latin typeface="Montserrat"/>
                <a:ea typeface="Montserrat"/>
                <a:cs typeface="Montserrat"/>
              </a:rPr>
              <a:t>Schema Alignment</a:t>
            </a:r>
            <a:endParaRPr sz="900">
              <a:latin typeface="Montserrat"/>
              <a:ea typeface="Montserrat"/>
              <a:cs typeface="Montserrat"/>
            </a:endParaRPr>
          </a:p>
        </p:txBody>
      </p:sp>
      <p:sp>
        <p:nvSpPr>
          <p:cNvPr id="46" name="Text 3">
            <a:extLst xmlns:a="http://schemas.openxmlformats.org/drawingml/2006/main">
              <a:ext uri="{FF2B5EF4-FFF2-40B4-BE49-F238E27FC236}">
                <a16:creationId xmlns:a16="http://schemas.microsoft.com/office/drawing/2014/main" id="{012ACD3D-24B0-DB4E-0A14-E46CFE8A529B}"/>
              </a:ext>
            </a:extLst>
          </p:cNvPr>
          <p:cNvSpPr>
            <a:spLocks xmlns:a="http://schemas.openxmlformats.org/drawingml/2006/main" noGrp="1"/>
          </p:cNvSpPr>
          <p:nvPr/>
        </p:nvSpPr>
        <p:spPr>
          <a:xfrm xmlns:a="http://schemas.openxmlformats.org/drawingml/2006/main">
            <a:off x="3044711" y="2694099"/>
            <a:ext cx="2873672" cy="16242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700">
                <a:solidFill>
                  <a:schemeClr val="bg2">
                    <a:lumMod val="50000"/>
                  </a:schemeClr>
                </a:solidFill>
                <a:latin typeface="Montserrat"/>
                <a:ea typeface="Montserrat"/>
                <a:cs typeface="Montserrat"/>
              </a:rPr>
              <a:t>Column reorder</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Normalize</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Reference-match</a:t>
            </a:r>
          </a:p>
        </p:txBody>
      </p:sp>
      <p:sp>
        <p:nvSpPr>
          <p:cNvPr id="48" name="Rectangle: Rounded Corners 47">
            <a:extLst xmlns:a="http://schemas.openxmlformats.org/drawingml/2006/main">
              <a:ext uri="{FF2B5EF4-FFF2-40B4-BE49-F238E27FC236}">
                <a16:creationId xmlns:a16="http://schemas.microsoft.com/office/drawing/2014/main" id="{53526E1B-FE38-9840-A385-1A173AB7BE4C}"/>
              </a:ext>
            </a:extLst>
          </p:cNvPr>
          <p:cNvSpPr>
            <a:spLocks xmlns:a="http://schemas.openxmlformats.org/drawingml/2006/main" noGrp="1"/>
          </p:cNvSpPr>
          <p:nvPr/>
        </p:nvSpPr>
        <p:spPr>
          <a:xfrm xmlns:a="http://schemas.openxmlformats.org/drawingml/2006/main">
            <a:off x="2694105" y="2598718"/>
            <a:ext cx="223024" cy="223024"/>
          </a:xfrm>
          <a:prstGeom xmlns:a="http://schemas.openxmlformats.org/drawingml/2006/main" prst="roundRect">
            <a:avLst/>
          </a:prstGeom>
          <a:solidFill xmlns:a="http://schemas.openxmlformats.org/drawingml/2006/main">
            <a:srgbClr val="8861EF">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Rectangle: Rounded Corners 50">
            <a:extLst xmlns:a="http://schemas.openxmlformats.org/drawingml/2006/main">
              <a:ext uri="{FF2B5EF4-FFF2-40B4-BE49-F238E27FC236}">
                <a16:creationId xmlns:a16="http://schemas.microsoft.com/office/drawing/2014/main" id="{8EAF12FB-A858-DA0D-5DBD-671E358E18EA}"/>
              </a:ext>
            </a:extLst>
          </p:cNvPr>
          <p:cNvSpPr>
            <a:spLocks xmlns:a="http://schemas.openxmlformats.org/drawingml/2006/main" noGrp="1"/>
          </p:cNvSpPr>
          <p:nvPr/>
        </p:nvSpPr>
        <p:spPr>
          <a:xfrm xmlns:a="http://schemas.openxmlformats.org/drawingml/2006/main">
            <a:off x="2606918" y="3026816"/>
            <a:ext cx="487895" cy="306320"/>
          </a:xfrm>
          <a:prstGeom xmlns:a="http://schemas.openxmlformats.org/drawingml/2006/main" prst="roundRect">
            <a:avLst/>
          </a:prstGeom>
          <a:solidFill xmlns:a="http://schemas.openxmlformats.org/drawingml/2006/main">
            <a:srgbClr val="4D67E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Rectangle: Rounded Corners 51">
            <a:extLst xmlns:a="http://schemas.openxmlformats.org/drawingml/2006/main">
              <a:ext uri="{FF2B5EF4-FFF2-40B4-BE49-F238E27FC236}">
                <a16:creationId xmlns:a16="http://schemas.microsoft.com/office/drawing/2014/main" id="{97C77006-79C9-BDC6-1A71-D0AABDA64164}"/>
              </a:ext>
            </a:extLst>
          </p:cNvPr>
          <p:cNvSpPr>
            <a:spLocks xmlns:a="http://schemas.openxmlformats.org/drawingml/2006/main" noGrp="1"/>
          </p:cNvSpPr>
          <p:nvPr/>
        </p:nvSpPr>
        <p:spPr>
          <a:xfrm xmlns:a="http://schemas.openxmlformats.org/drawingml/2006/main">
            <a:off x="2639941" y="3026816"/>
            <a:ext cx="3602671" cy="306320"/>
          </a:xfrm>
          <a:prstGeom xmlns:a="http://schemas.openxmlformats.org/drawingml/2006/main" prst="roundRect">
            <a:avLst>
              <a:gd name="adj" fmla="val 19831"/>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 3">
            <a:extLst xmlns:a="http://schemas.openxmlformats.org/drawingml/2006/main">
              <a:ext uri="{FF2B5EF4-FFF2-40B4-BE49-F238E27FC236}">
                <a16:creationId xmlns:a16="http://schemas.microsoft.com/office/drawing/2014/main" id="{35000B87-86BB-FAE8-3742-CC7B9DF88B25}"/>
              </a:ext>
            </a:extLst>
          </p:cNvPr>
          <p:cNvSpPr>
            <a:spLocks xmlns:a="http://schemas.openxmlformats.org/drawingml/2006/main" noGrp="1"/>
          </p:cNvSpPr>
          <p:nvPr/>
        </p:nvSpPr>
        <p:spPr>
          <a:xfrm xmlns:a="http://schemas.openxmlformats.org/drawingml/2006/main">
            <a:off x="3044711" y="3046664"/>
            <a:ext cx="1189597" cy="15103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F1F5F9"/>
                </a:solidFill>
                <a:latin typeface="Montserrat"/>
                <a:ea typeface="Montserrat"/>
                <a:cs typeface="Montserrat"/>
              </a:rPr>
              <a:t>Combine Engine</a:t>
            </a:r>
            <a:endParaRPr sz="900">
              <a:latin typeface="Montserrat"/>
              <a:ea typeface="Montserrat"/>
              <a:cs typeface="Montserrat"/>
            </a:endParaRPr>
          </a:p>
        </p:txBody>
      </p:sp>
      <p:sp>
        <p:nvSpPr>
          <p:cNvPr id="54" name="Text 3">
            <a:extLst xmlns:a="http://schemas.openxmlformats.org/drawingml/2006/main">
              <a:ext uri="{FF2B5EF4-FFF2-40B4-BE49-F238E27FC236}">
                <a16:creationId xmlns:a16="http://schemas.microsoft.com/office/drawing/2014/main" id="{88BCAF6C-AA70-FB84-1920-77B3F85D17F2}"/>
              </a:ext>
            </a:extLst>
          </p:cNvPr>
          <p:cNvSpPr>
            <a:spLocks xmlns:a="http://schemas.openxmlformats.org/drawingml/2006/main" noGrp="1"/>
          </p:cNvSpPr>
          <p:nvPr/>
        </p:nvSpPr>
        <p:spPr>
          <a:xfrm xmlns:a="http://schemas.openxmlformats.org/drawingml/2006/main">
            <a:off x="3044711" y="3167390"/>
            <a:ext cx="2553522" cy="16242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700">
                <a:solidFill>
                  <a:schemeClr val="bg2">
                    <a:lumMod val="50000"/>
                  </a:schemeClr>
                </a:solidFill>
                <a:latin typeface="Montserrat"/>
                <a:ea typeface="Montserrat"/>
                <a:cs typeface="Montserrat"/>
              </a:rPr>
              <a:t>Parallel reads</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Rolling concat</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Mem-optimise</a:t>
            </a:r>
          </a:p>
        </p:txBody>
      </p:sp>
      <p:sp>
        <p:nvSpPr>
          <p:cNvPr id="56" name="Rectangle: Rounded Corners 55">
            <a:extLst xmlns:a="http://schemas.openxmlformats.org/drawingml/2006/main">
              <a:ext uri="{FF2B5EF4-FFF2-40B4-BE49-F238E27FC236}">
                <a16:creationId xmlns:a16="http://schemas.microsoft.com/office/drawing/2014/main" id="{BFAB30E5-64FC-080C-8535-8B9BAF37EE7F}"/>
              </a:ext>
            </a:extLst>
          </p:cNvPr>
          <p:cNvSpPr>
            <a:spLocks xmlns:a="http://schemas.openxmlformats.org/drawingml/2006/main" noGrp="1"/>
          </p:cNvSpPr>
          <p:nvPr/>
        </p:nvSpPr>
        <p:spPr>
          <a:xfrm xmlns:a="http://schemas.openxmlformats.org/drawingml/2006/main">
            <a:off x="2694105" y="3072009"/>
            <a:ext cx="223024" cy="223024"/>
          </a:xfrm>
          <a:prstGeom xmlns:a="http://schemas.openxmlformats.org/drawingml/2006/main" prst="roundRect">
            <a:avLst/>
          </a:prstGeom>
          <a:solidFill xmlns:a="http://schemas.openxmlformats.org/drawingml/2006/main">
            <a:srgbClr val="4D67EB">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Rectangle: Rounded Corners 60">
            <a:extLst xmlns:a="http://schemas.openxmlformats.org/drawingml/2006/main">
              <a:ext uri="{FF2B5EF4-FFF2-40B4-BE49-F238E27FC236}">
                <a16:creationId xmlns:a16="http://schemas.microsoft.com/office/drawing/2014/main" id="{47317913-4356-5AD0-2566-8298CE3EF4CE}"/>
              </a:ext>
            </a:extLst>
          </p:cNvPr>
          <p:cNvSpPr>
            <a:spLocks xmlns:a="http://schemas.openxmlformats.org/drawingml/2006/main" noGrp="1"/>
          </p:cNvSpPr>
          <p:nvPr/>
        </p:nvSpPr>
        <p:spPr>
          <a:xfrm xmlns:a="http://schemas.openxmlformats.org/drawingml/2006/main">
            <a:off x="2606918" y="3500107"/>
            <a:ext cx="487895" cy="306320"/>
          </a:xfrm>
          <a:prstGeom xmlns:a="http://schemas.openxmlformats.org/drawingml/2006/main" prst="roundRect">
            <a:avLst/>
          </a:prstGeom>
          <a:solidFill xmlns:a="http://schemas.openxmlformats.org/drawingml/2006/main">
            <a:srgbClr val="6082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Rectangle: Rounded Corners 66">
            <a:extLst xmlns:a="http://schemas.openxmlformats.org/drawingml/2006/main">
              <a:ext uri="{FF2B5EF4-FFF2-40B4-BE49-F238E27FC236}">
                <a16:creationId xmlns:a16="http://schemas.microsoft.com/office/drawing/2014/main" id="{3F1F5906-9FA9-58C5-368C-8C72ABE442F7}"/>
              </a:ext>
            </a:extLst>
          </p:cNvPr>
          <p:cNvSpPr>
            <a:spLocks xmlns:a="http://schemas.openxmlformats.org/drawingml/2006/main" noGrp="1"/>
          </p:cNvSpPr>
          <p:nvPr/>
        </p:nvSpPr>
        <p:spPr>
          <a:xfrm xmlns:a="http://schemas.openxmlformats.org/drawingml/2006/main">
            <a:off x="2639941" y="3500107"/>
            <a:ext cx="3602671" cy="306320"/>
          </a:xfrm>
          <a:prstGeom xmlns:a="http://schemas.openxmlformats.org/drawingml/2006/main" prst="roundRect">
            <a:avLst>
              <a:gd name="adj" fmla="val 19831"/>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8" name="Text 3">
            <a:extLst xmlns:a="http://schemas.openxmlformats.org/drawingml/2006/main">
              <a:ext uri="{FF2B5EF4-FFF2-40B4-BE49-F238E27FC236}">
                <a16:creationId xmlns:a16="http://schemas.microsoft.com/office/drawing/2014/main" id="{84B498E9-6E01-315E-268A-F7817A29E82F}"/>
              </a:ext>
            </a:extLst>
          </p:cNvPr>
          <p:cNvSpPr>
            <a:spLocks xmlns:a="http://schemas.openxmlformats.org/drawingml/2006/main" noGrp="1"/>
          </p:cNvSpPr>
          <p:nvPr/>
        </p:nvSpPr>
        <p:spPr>
          <a:xfrm xmlns:a="http://schemas.openxmlformats.org/drawingml/2006/main">
            <a:off x="3044711" y="3519955"/>
            <a:ext cx="798077" cy="15103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F1F5F9"/>
                </a:solidFill>
                <a:latin typeface="Montserrat"/>
                <a:ea typeface="Montserrat"/>
                <a:cs typeface="Montserrat"/>
              </a:rPr>
              <a:t>Filter Engine</a:t>
            </a:r>
            <a:endParaRPr sz="900">
              <a:latin typeface="Montserrat"/>
              <a:ea typeface="Montserrat"/>
              <a:cs typeface="Montserrat"/>
            </a:endParaRPr>
          </a:p>
        </p:txBody>
      </p:sp>
      <p:sp>
        <p:nvSpPr>
          <p:cNvPr id="73" name="Text 3">
            <a:extLst xmlns:a="http://schemas.openxmlformats.org/drawingml/2006/main">
              <a:ext uri="{FF2B5EF4-FFF2-40B4-BE49-F238E27FC236}">
                <a16:creationId xmlns:a16="http://schemas.microsoft.com/office/drawing/2014/main" id="{8FF2852B-F6B8-520B-BC66-9ECF449229A3}"/>
              </a:ext>
            </a:extLst>
          </p:cNvPr>
          <p:cNvSpPr>
            <a:spLocks xmlns:a="http://schemas.openxmlformats.org/drawingml/2006/main" noGrp="1"/>
          </p:cNvSpPr>
          <p:nvPr/>
        </p:nvSpPr>
        <p:spPr>
          <a:xfrm xmlns:a="http://schemas.openxmlformats.org/drawingml/2006/main">
            <a:off x="3044711" y="3640681"/>
            <a:ext cx="2454846" cy="16242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700">
                <a:solidFill>
                  <a:schemeClr val="bg2">
                    <a:lumMod val="50000"/>
                  </a:schemeClr>
                </a:solidFill>
                <a:latin typeface="Montserrat"/>
                <a:ea typeface="Montserrat"/>
                <a:cs typeface="Montserrat"/>
              </a:rPr>
              <a:t>Category</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Text</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Numeric </a:t>
            </a:r>
            <a:r>
              <a:rPr sz="700">
                <a:solidFill>
                  <a:srgbClr val="94A3B8"/>
                </a:solidFill>
                <a:latin typeface="Trebuchet MS"/>
                <a:ea typeface="Trebuchet MS"/>
                <a:cs typeface="Trebuchet MS"/>
              </a:rPr>
              <a:t>· </a:t>
            </a:r>
            <a:r>
              <a:rPr sz="700">
                <a:solidFill>
                  <a:schemeClr val="bg2">
                    <a:lumMod val="50000"/>
                  </a:schemeClr>
                </a:solidFill>
                <a:latin typeface="Montserrat"/>
                <a:ea typeface="Montserrat"/>
                <a:cs typeface="Montserrat"/>
              </a:rPr>
              <a:t>Date </a:t>
            </a:r>
            <a:r>
              <a:rPr sz="700">
                <a:solidFill>
                  <a:srgbClr val="94A3B8"/>
                </a:solidFill>
                <a:latin typeface="Trebuchet MS"/>
                <a:ea typeface="Trebuchet MS"/>
                <a:cs typeface="Trebuchet MS"/>
              </a:rPr>
              <a:t>· </a:t>
            </a:r>
            <a:r>
              <a:rPr sz="700">
                <a:solidFill>
                  <a:schemeClr val="bg2">
                    <a:lumMod val="50000"/>
                  </a:schemeClr>
                </a:solidFill>
                <a:latin typeface="Montserrat"/>
                <a:ea typeface="Montserrat"/>
                <a:cs typeface="Montserrat"/>
              </a:rPr>
              <a:t>Cached</a:t>
            </a:r>
          </a:p>
        </p:txBody>
      </p:sp>
      <p:sp>
        <p:nvSpPr>
          <p:cNvPr id="130" name="Rectangle: Rounded Corners 129">
            <a:extLst xmlns:a="http://schemas.openxmlformats.org/drawingml/2006/main">
              <a:ext uri="{FF2B5EF4-FFF2-40B4-BE49-F238E27FC236}">
                <a16:creationId xmlns:a16="http://schemas.microsoft.com/office/drawing/2014/main" id="{0F49112D-6F68-C6E5-0B50-6B59AB30E484}"/>
              </a:ext>
            </a:extLst>
          </p:cNvPr>
          <p:cNvSpPr>
            <a:spLocks xmlns:a="http://schemas.openxmlformats.org/drawingml/2006/main" noGrp="1"/>
          </p:cNvSpPr>
          <p:nvPr/>
        </p:nvSpPr>
        <p:spPr>
          <a:xfrm xmlns:a="http://schemas.openxmlformats.org/drawingml/2006/main">
            <a:off x="2694105" y="3545300"/>
            <a:ext cx="223024" cy="223024"/>
          </a:xfrm>
          <a:prstGeom xmlns:a="http://schemas.openxmlformats.org/drawingml/2006/main" prst="roundRect">
            <a:avLst/>
          </a:prstGeom>
          <a:solidFill xmlns:a="http://schemas.openxmlformats.org/drawingml/2006/main">
            <a:srgbClr val="6082ED">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3" name="Rectangle: Rounded Corners 132">
            <a:extLst xmlns:a="http://schemas.openxmlformats.org/drawingml/2006/main">
              <a:ext uri="{FF2B5EF4-FFF2-40B4-BE49-F238E27FC236}">
                <a16:creationId xmlns:a16="http://schemas.microsoft.com/office/drawing/2014/main" id="{D8F60647-5611-3721-B2E2-AE1A380A0329}"/>
              </a:ext>
            </a:extLst>
          </p:cNvPr>
          <p:cNvSpPr>
            <a:spLocks xmlns:a="http://schemas.openxmlformats.org/drawingml/2006/main" noGrp="1"/>
          </p:cNvSpPr>
          <p:nvPr/>
        </p:nvSpPr>
        <p:spPr>
          <a:xfrm xmlns:a="http://schemas.openxmlformats.org/drawingml/2006/main">
            <a:off x="2606918" y="3973398"/>
            <a:ext cx="487895" cy="306320"/>
          </a:xfrm>
          <a:prstGeom xmlns:a="http://schemas.openxmlformats.org/drawingml/2006/main" prst="roundRect">
            <a:avLst/>
          </a:prstGeom>
          <a:solidFill xmlns:a="http://schemas.openxmlformats.org/drawingml/2006/main">
            <a:srgbClr val="65B88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4" name="Rectangle: Rounded Corners 133">
            <a:extLst xmlns:a="http://schemas.openxmlformats.org/drawingml/2006/main">
              <a:ext uri="{FF2B5EF4-FFF2-40B4-BE49-F238E27FC236}">
                <a16:creationId xmlns:a16="http://schemas.microsoft.com/office/drawing/2014/main" id="{65CA9535-D67F-5222-9B93-3EBDEBBBF430}"/>
              </a:ext>
            </a:extLst>
          </p:cNvPr>
          <p:cNvSpPr>
            <a:spLocks xmlns:a="http://schemas.openxmlformats.org/drawingml/2006/main" noGrp="1"/>
          </p:cNvSpPr>
          <p:nvPr/>
        </p:nvSpPr>
        <p:spPr>
          <a:xfrm xmlns:a="http://schemas.openxmlformats.org/drawingml/2006/main">
            <a:off x="2639941" y="3973398"/>
            <a:ext cx="3602671" cy="306320"/>
          </a:xfrm>
          <a:prstGeom xmlns:a="http://schemas.openxmlformats.org/drawingml/2006/main" prst="roundRect">
            <a:avLst>
              <a:gd name="adj" fmla="val 19831"/>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5" name="Text 3">
            <a:extLst xmlns:a="http://schemas.openxmlformats.org/drawingml/2006/main">
              <a:ext uri="{FF2B5EF4-FFF2-40B4-BE49-F238E27FC236}">
                <a16:creationId xmlns:a16="http://schemas.microsoft.com/office/drawing/2014/main" id="{7B6851FF-AD57-D017-8363-EDE969240306}"/>
              </a:ext>
            </a:extLst>
          </p:cNvPr>
          <p:cNvSpPr>
            <a:spLocks xmlns:a="http://schemas.openxmlformats.org/drawingml/2006/main" noGrp="1"/>
          </p:cNvSpPr>
          <p:nvPr/>
        </p:nvSpPr>
        <p:spPr>
          <a:xfrm xmlns:a="http://schemas.openxmlformats.org/drawingml/2006/main">
            <a:off x="3044711" y="3993246"/>
            <a:ext cx="954967" cy="15103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F1F5F9"/>
                </a:solidFill>
                <a:latin typeface="Montserrat"/>
                <a:ea typeface="Montserrat"/>
                <a:cs typeface="Montserrat"/>
              </a:rPr>
              <a:t>Export Engine</a:t>
            </a:r>
            <a:endParaRPr sz="900">
              <a:latin typeface="Montserrat"/>
              <a:ea typeface="Montserrat"/>
              <a:cs typeface="Montserrat"/>
            </a:endParaRPr>
          </a:p>
        </p:txBody>
      </p:sp>
      <p:sp>
        <p:nvSpPr>
          <p:cNvPr id="136" name="Text 3">
            <a:extLst xmlns:a="http://schemas.openxmlformats.org/drawingml/2006/main">
              <a:ext uri="{FF2B5EF4-FFF2-40B4-BE49-F238E27FC236}">
                <a16:creationId xmlns:a16="http://schemas.microsoft.com/office/drawing/2014/main" id="{97EFBAA1-C487-2334-EE7B-E231D72106BC}"/>
              </a:ext>
            </a:extLst>
          </p:cNvPr>
          <p:cNvSpPr>
            <a:spLocks xmlns:a="http://schemas.openxmlformats.org/drawingml/2006/main" noGrp="1"/>
          </p:cNvSpPr>
          <p:nvPr/>
        </p:nvSpPr>
        <p:spPr>
          <a:xfrm xmlns:a="http://schemas.openxmlformats.org/drawingml/2006/main">
            <a:off x="3044711" y="4113972"/>
            <a:ext cx="2040152" cy="16242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700">
                <a:solidFill>
                  <a:schemeClr val="bg2">
                    <a:lumMod val="50000"/>
                  </a:schemeClr>
                </a:solidFill>
                <a:latin typeface="Montserrat"/>
                <a:ea typeface="Montserrat"/>
                <a:cs typeface="Montserrat"/>
              </a:rPr>
              <a:t>xlsx</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csv</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parquet</a:t>
            </a:r>
            <a:r>
              <a:rPr sz="700">
                <a:solidFill>
                  <a:srgbClr val="94A3B8"/>
                </a:solidFill>
                <a:latin typeface="Trebuchet MS"/>
                <a:ea typeface="Trebuchet MS"/>
                <a:cs typeface="Trebuchet MS"/>
              </a:rPr>
              <a:t> · </a:t>
            </a:r>
            <a:r>
              <a:rPr sz="700">
                <a:solidFill>
                  <a:schemeClr val="bg2">
                    <a:lumMod val="50000"/>
                  </a:schemeClr>
                </a:solidFill>
                <a:latin typeface="Montserrat"/>
                <a:ea typeface="Montserrat"/>
                <a:cs typeface="Montserrat"/>
              </a:rPr>
              <a:t>audit log</a:t>
            </a:r>
          </a:p>
        </p:txBody>
      </p:sp>
      <p:sp>
        <p:nvSpPr>
          <p:cNvPr id="138" name="Rectangle: Rounded Corners 137">
            <a:extLst xmlns:a="http://schemas.openxmlformats.org/drawingml/2006/main">
              <a:ext uri="{FF2B5EF4-FFF2-40B4-BE49-F238E27FC236}">
                <a16:creationId xmlns:a16="http://schemas.microsoft.com/office/drawing/2014/main" id="{0CB900B9-FC14-DA65-8837-63D41DDFE51A}"/>
              </a:ext>
            </a:extLst>
          </p:cNvPr>
          <p:cNvSpPr>
            <a:spLocks xmlns:a="http://schemas.openxmlformats.org/drawingml/2006/main" noGrp="1"/>
          </p:cNvSpPr>
          <p:nvPr/>
        </p:nvSpPr>
        <p:spPr>
          <a:xfrm xmlns:a="http://schemas.openxmlformats.org/drawingml/2006/main">
            <a:off x="2694105" y="4018591"/>
            <a:ext cx="223024" cy="223024"/>
          </a:xfrm>
          <a:prstGeom xmlns:a="http://schemas.openxmlformats.org/drawingml/2006/main" prst="roundRect">
            <a:avLst/>
          </a:prstGeom>
          <a:solidFill xmlns:a="http://schemas.openxmlformats.org/drawingml/2006/main">
            <a:srgbClr val="65B887">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cxnSp>
        <p:nvCxnSpPr>
          <p:cNvPr id="306" name="Straight Connector 151"/>
          <p:cNvCxnSpPr>
            <a:stCxn xmlns:a="http://schemas.openxmlformats.org/drawingml/2006/main" id="20" idx="3"/>
            <a:endCxn xmlns:a="http://schemas.openxmlformats.org/drawingml/2006/main" id="51" idx="1"/>
          </p:cNvCxnSpPr>
          <p:nvPr/>
        </p:nvCxnSpPr>
        <p:spPr>
          <a:xfrm xmlns:a="http://schemas.openxmlformats.org/drawingml/2006/main" flipV="1">
            <a:off x="1901601" y="3179976"/>
            <a:ext cx="705317" cy="1"/>
          </a:xfrm>
          <a:prstGeom xmlns:a="http://schemas.openxmlformats.org/drawingml/2006/main" prst="line">
            <a:avLst/>
          </a:prstGeom>
          <a:ln xmlns:a="http://schemas.openxmlformats.org/drawingml/2006/main">
            <a:solidFill>
              <a:schemeClr val="bg2">
                <a:lumMod val="25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53" name="Straight Connector 152">
            <a:extLst xmlns:a="http://schemas.openxmlformats.org/drawingml/2006/main">
              <a:ext uri="{FF2B5EF4-FFF2-40B4-BE49-F238E27FC236}">
                <a16:creationId xmlns:a16="http://schemas.microsoft.com/office/drawing/2014/main" id="{937B19A6-4407-4E32-8602-A3CE309E3A82}"/>
              </a:ext>
            </a:extLst>
          </p:cNvPr>
          <p:cNvSpPr>
            <a:spLocks xmlns:a="http://schemas.openxmlformats.org/drawingml/2006/main" noGrp="1"/>
          </p:cNvSpPr>
          <p:nvPr/>
        </p:nvSpPr>
        <p:spPr>
          <a:xfrm xmlns:a="http://schemas.openxmlformats.org/drawingml/2006/main">
            <a:off x="1908575" y="3803738"/>
            <a:ext cx="401853" cy="0"/>
          </a:xfrm>
          <a:prstGeom xmlns:a="http://schemas.openxmlformats.org/drawingml/2006/main" prst="line">
            <a:avLst/>
          </a:prstGeom>
          <a:ln xmlns:a="http://schemas.openxmlformats.org/drawingml/2006/main">
            <a:solidFill>
              <a:schemeClr val="bg2">
                <a:lumMod val="25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5" name="Straight Connector 154">
            <a:extLst xmlns:a="http://schemas.openxmlformats.org/drawingml/2006/main">
              <a:ext uri="{FF2B5EF4-FFF2-40B4-BE49-F238E27FC236}">
                <a16:creationId xmlns:a16="http://schemas.microsoft.com/office/drawing/2014/main" id="{8CB0F5DD-EB49-4615-8A21-0D400C5A737F}"/>
              </a:ext>
            </a:extLst>
          </p:cNvPr>
          <p:cNvSpPr>
            <a:spLocks xmlns:a="http://schemas.openxmlformats.org/drawingml/2006/main" noGrp="1"/>
          </p:cNvSpPr>
          <p:nvPr/>
        </p:nvSpPr>
        <p:spPr>
          <a:xfrm xmlns:a="http://schemas.openxmlformats.org/drawingml/2006/main">
            <a:off x="1908574" y="2572653"/>
            <a:ext cx="401853" cy="0"/>
          </a:xfrm>
          <a:prstGeom xmlns:a="http://schemas.openxmlformats.org/drawingml/2006/main" prst="line">
            <a:avLst/>
          </a:prstGeom>
          <a:ln xmlns:a="http://schemas.openxmlformats.org/drawingml/2006/main">
            <a:solidFill>
              <a:schemeClr val="bg2">
                <a:lumMod val="25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6" name="Straight Connector 155">
            <a:extLst xmlns:a="http://schemas.openxmlformats.org/drawingml/2006/main">
              <a:ext uri="{FF2B5EF4-FFF2-40B4-BE49-F238E27FC236}">
                <a16:creationId xmlns:a16="http://schemas.microsoft.com/office/drawing/2014/main" id="{9C285555-078D-4EC1-9817-43373CE9BF7E}"/>
              </a:ext>
            </a:extLst>
          </p:cNvPr>
          <p:cNvSpPr>
            <a:spLocks xmlns:a="http://schemas.openxmlformats.org/drawingml/2006/main" noGrp="1"/>
          </p:cNvSpPr>
          <p:nvPr/>
        </p:nvSpPr>
        <p:spPr>
          <a:xfrm xmlns:a="http://schemas.openxmlformats.org/drawingml/2006/main">
            <a:off x="2306582" y="2573373"/>
            <a:ext cx="11084" cy="1230365"/>
          </a:xfrm>
          <a:prstGeom xmlns:a="http://schemas.openxmlformats.org/drawingml/2006/main" prst="line">
            <a:avLst/>
          </a:prstGeom>
          <a:ln xmlns:a="http://schemas.openxmlformats.org/drawingml/2006/main">
            <a:solidFill>
              <a:schemeClr val="bg2">
                <a:lumMod val="25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310" name="Image 4"/>
          <p:cNvPicPr>
            <a:picLocks xmlns:a="http://schemas.openxmlformats.org/drawingml/2006/main" noChangeAspect="1"/>
          </p:cNvPicPr>
          <p:nvPr/>
        </p:nvPicPr>
        <p:blipFill>
          <a:blip xmlns:r="http://schemas.openxmlformats.org/officeDocument/2006/relationships" xmlns:a="http://schemas.openxmlformats.org/drawingml/2006/main" r:embed="R89a4f68b9b714d29"/>
          <a:stretch xmlns:a="http://schemas.openxmlformats.org/drawingml/2006/main">
            <a:fillRect l="0" t="0" r="0" b="0"/>
          </a:stretch>
        </p:blipFill>
        <p:spPr>
          <a:xfrm xmlns:a="http://schemas.openxmlformats.org/drawingml/2006/main">
            <a:off x="2722252" y="2625502"/>
            <a:ext cx="173929" cy="173929"/>
          </a:xfrm>
          <a:prstGeom xmlns:a="http://schemas.openxmlformats.org/drawingml/2006/main" prst="rect">
            <a:avLst/>
          </a:prstGeom>
        </p:spPr>
      </p:pic>
      <p:pic>
        <p:nvPicPr>
          <p:cNvPr id="311" name="Image 5"/>
          <p:cNvPicPr>
            <a:picLocks xmlns:a="http://schemas.openxmlformats.org/drawingml/2006/main" noChangeAspect="1"/>
          </p:cNvPicPr>
          <p:nvPr/>
        </p:nvPicPr>
        <p:blipFill>
          <a:blip xmlns:r="http://schemas.openxmlformats.org/officeDocument/2006/relationships" xmlns:a="http://schemas.openxmlformats.org/drawingml/2006/main" r:embed="R1040e6c1e6c14bcb"/>
          <a:stretch xmlns:a="http://schemas.openxmlformats.org/drawingml/2006/main">
            <a:fillRect l="0" t="0" r="0" b="0"/>
          </a:stretch>
        </p:blipFill>
        <p:spPr>
          <a:xfrm xmlns:a="http://schemas.openxmlformats.org/drawingml/2006/main">
            <a:off x="2722252" y="3097940"/>
            <a:ext cx="173111" cy="173111"/>
          </a:xfrm>
          <a:prstGeom xmlns:a="http://schemas.openxmlformats.org/drawingml/2006/main" prst="rect">
            <a:avLst/>
          </a:prstGeom>
        </p:spPr>
      </p:pic>
      <p:pic>
        <p:nvPicPr>
          <p:cNvPr id="312" name="Image 6"/>
          <p:cNvPicPr>
            <a:picLocks xmlns:a="http://schemas.openxmlformats.org/drawingml/2006/main" noChangeAspect="1"/>
          </p:cNvPicPr>
          <p:nvPr/>
        </p:nvPicPr>
        <p:blipFill>
          <a:blip xmlns:r="http://schemas.openxmlformats.org/officeDocument/2006/relationships" xmlns:a="http://schemas.openxmlformats.org/drawingml/2006/main" r:embed="R4aff66aef7ad4c09"/>
          <a:stretch xmlns:a="http://schemas.openxmlformats.org/drawingml/2006/main">
            <a:fillRect l="0" t="0" r="0" b="0"/>
          </a:stretch>
        </p:blipFill>
        <p:spPr>
          <a:xfrm xmlns:a="http://schemas.openxmlformats.org/drawingml/2006/main">
            <a:off x="2729179" y="3586100"/>
            <a:ext cx="152876" cy="152876"/>
          </a:xfrm>
          <a:prstGeom xmlns:a="http://schemas.openxmlformats.org/drawingml/2006/main" prst="rect">
            <a:avLst/>
          </a:prstGeom>
        </p:spPr>
      </p:pic>
      <p:pic>
        <p:nvPicPr>
          <p:cNvPr id="313" name="Image 7"/>
          <p:cNvPicPr>
            <a:picLocks xmlns:a="http://schemas.openxmlformats.org/drawingml/2006/main" noChangeAspect="1"/>
          </p:cNvPicPr>
          <p:nvPr/>
        </p:nvPicPr>
        <p:blipFill>
          <a:blip xmlns:r="http://schemas.openxmlformats.org/officeDocument/2006/relationships" xmlns:a="http://schemas.openxmlformats.org/drawingml/2006/main" r:embed="Rf275755967704404"/>
          <a:stretch xmlns:a="http://schemas.openxmlformats.org/drawingml/2006/main">
            <a:fillRect l="0" t="0" r="0" b="0"/>
          </a:stretch>
        </p:blipFill>
        <p:spPr>
          <a:xfrm xmlns:a="http://schemas.openxmlformats.org/drawingml/2006/main">
            <a:off x="2741430" y="4062065"/>
            <a:ext cx="131853" cy="131853"/>
          </a:xfrm>
          <a:prstGeom xmlns:a="http://schemas.openxmlformats.org/drawingml/2006/main" prst="rect">
            <a:avLst/>
          </a:prstGeom>
        </p:spPr>
      </p:pic>
      <p:sp>
        <p:nvSpPr>
          <p:cNvPr id="168" name="Shape 2">
            <a:extLst xmlns:a="http://schemas.openxmlformats.org/drawingml/2006/main">
              <a:ext uri="{FF2B5EF4-FFF2-40B4-BE49-F238E27FC236}">
                <a16:creationId xmlns:a16="http://schemas.microsoft.com/office/drawing/2014/main" id="{B419EE03-AAB9-13C1-6D7D-7552B22F5FA0}"/>
              </a:ext>
            </a:extLst>
          </p:cNvPr>
          <p:cNvSpPr>
            <a:spLocks xmlns:a="http://schemas.openxmlformats.org/drawingml/2006/main" noGrp="1"/>
          </p:cNvSpPr>
          <p:nvPr/>
        </p:nvSpPr>
        <p:spPr>
          <a:xfrm xmlns:a="http://schemas.openxmlformats.org/drawingml/2006/main">
            <a:off x="6731537" y="2571750"/>
            <a:ext cx="1421973" cy="1230365"/>
          </a:xfrm>
          <a:prstGeom xmlns:a="http://schemas.openxmlformats.org/drawingml/2006/main" prst="roundRect">
            <a:avLst/>
          </a:prstGeom>
          <a:solidFill xmlns:a="http://schemas.openxmlformats.org/drawingml/2006/main">
            <a:srgbClr val="1E2A3B"/>
          </a:solidFill>
          <a:ln xmlns:a="http://schemas.openxmlformats.org/drawingml/2006/main" w="6350">
            <a:solidFill>
              <a:srgbClr val="10B981"/>
            </a:solidFill>
            <a:prstDash val="solid"/>
          </a:ln>
          <a:effectLst xmlns:a="http://schemas.openxmlformats.org/drawingml/2006/main">
            <a:outerShdw blurRad="76200" dist="38100" dir="8100000" algn="bl" rotWithShape="0">
              <a:srgbClr val="000000">
                <a:alpha val="30000"/>
              </a:srgbClr>
            </a:outerShdw>
          </a:effectLst>
        </p:spPr>
      </p:sp>
      <p:sp>
        <p:nvSpPr>
          <p:cNvPr id="170" name="Text 3">
            <a:extLst xmlns:a="http://schemas.openxmlformats.org/drawingml/2006/main">
              <a:ext uri="{FF2B5EF4-FFF2-40B4-BE49-F238E27FC236}">
                <a16:creationId xmlns:a16="http://schemas.microsoft.com/office/drawing/2014/main" id="{9D9B71DF-CE59-1E74-90CB-275AC58433B9}"/>
              </a:ext>
            </a:extLst>
          </p:cNvPr>
          <p:cNvSpPr>
            <a:spLocks xmlns:a="http://schemas.openxmlformats.org/drawingml/2006/main" noGrp="1"/>
          </p:cNvSpPr>
          <p:nvPr/>
        </p:nvSpPr>
        <p:spPr>
          <a:xfrm xmlns:a="http://schemas.openxmlformats.org/drawingml/2006/main">
            <a:off x="7055766" y="3305246"/>
            <a:ext cx="785827" cy="34225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1F5F9"/>
                </a:solidFill>
                <a:latin typeface="Montserrat"/>
                <a:ea typeface="Montserrat"/>
                <a:cs typeface="Montserrat"/>
              </a:rPr>
              <a:t>Clean</a:t>
            </a:r>
          </a:p>
          <a:p xmlns:a="http://schemas.openxmlformats.org/drawingml/2006/main">
            <a:pPr marL="0" indent="0" algn="ctr">
              <a:buNone/>
            </a:pPr>
            <a:r>
              <a:rPr sz="1200" b="1">
                <a:solidFill>
                  <a:srgbClr val="F1F5F9"/>
                </a:solidFill>
                <a:latin typeface="Montserrat"/>
                <a:ea typeface="Montserrat"/>
                <a:cs typeface="Montserrat"/>
              </a:rPr>
              <a:t>Output</a:t>
            </a:r>
            <a:endParaRPr sz="1200">
              <a:latin typeface="Montserrat"/>
              <a:ea typeface="Montserrat"/>
              <a:cs typeface="Montserrat"/>
            </a:endParaRPr>
          </a:p>
        </p:txBody>
      </p:sp>
      <p:pic>
        <p:nvPicPr>
          <p:cNvPr id="316" name="Picture 172"/>
          <p:cNvPicPr>
            <a:picLocks xmlns:a="http://schemas.openxmlformats.org/drawingml/2006/main" noChangeAspect="1"/>
          </p:cNvPicPr>
          <p:nvPr/>
        </p:nvPicPr>
        <p:blipFill>
          <a:blip xmlns:r="http://schemas.openxmlformats.org/officeDocument/2006/relationships" xmlns:a="http://schemas.openxmlformats.org/drawingml/2006/main" r:embed="R7ef586b070f34ecd"/>
          <a:stretch xmlns:a="http://schemas.openxmlformats.org/drawingml/2006/main">
            <a:fillRect l="0" t="0" r="0" b="0"/>
          </a:stretch>
        </p:blipFill>
        <p:spPr>
          <a:xfrm xmlns:a="http://schemas.openxmlformats.org/drawingml/2006/main">
            <a:off x="7130790" y="2672215"/>
            <a:ext cx="612125" cy="612125"/>
          </a:xfrm>
          <a:prstGeom xmlns:a="http://schemas.openxmlformats.org/drawingml/2006/main" prst="rect">
            <a:avLst/>
          </a:prstGeom>
        </p:spPr>
      </p:pic>
      <p:cxnSp>
        <p:nvCxnSpPr>
          <p:cNvPr id="317" name="Straight Connector 174"/>
          <p:cNvCxnSpPr>
            <a:stCxn xmlns:a="http://schemas.openxmlformats.org/drawingml/2006/main" id="52" idx="3"/>
            <a:endCxn xmlns:a="http://schemas.openxmlformats.org/drawingml/2006/main" id="168" idx="1"/>
          </p:cNvCxnSpPr>
          <p:nvPr/>
        </p:nvCxnSpPr>
        <p:spPr>
          <a:xfrm xmlns:a="http://schemas.openxmlformats.org/drawingml/2006/main">
            <a:off x="6242612" y="3179976"/>
            <a:ext cx="488925" cy="6957"/>
          </a:xfrm>
          <a:prstGeom xmlns:a="http://schemas.openxmlformats.org/drawingml/2006/main" prst="line">
            <a:avLst/>
          </a:prstGeom>
          <a:ln xmlns:a="http://schemas.openxmlformats.org/drawingml/2006/main">
            <a:solidFill>
              <a:schemeClr val="bg2">
                <a:lumMod val="25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pic>
        <p:nvPicPr>
          <p:cNvPr id="318" name="Picture 246"/>
          <p:cNvPicPr>
            <a:picLocks xmlns:a="http://schemas.openxmlformats.org/drawingml/2006/main" noChangeAspect="1"/>
          </p:cNvPicPr>
          <p:nvPr/>
        </p:nvPicPr>
        <p:blipFill>
          <a:blip xmlns:r="http://schemas.openxmlformats.org/officeDocument/2006/relationships" xmlns:a="http://schemas.openxmlformats.org/drawingml/2006/main" r:embed="Rb0939bec0a9a465c"/>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306595122"/>
      </p:ext>
    </p:extLst>
  </p:cSld>
</p:sld>
</file>

<file path=ppt/slides/slide5.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82597A9-774F-EB79-53C7-C6638424D7E5}"/>
              </a:ext>
            </a:extLst>
          </p:cNvPr>
          <p:cNvSpPr>
            <a:spLocks xmlns:a="http://schemas.openxmlformats.org/drawingml/2006/main" noGrp="1"/>
          </p:cNvSpPr>
          <p:nvPr/>
        </p:nvSpPr>
        <p:spPr>
          <a:xfrm xmlns:a="http://schemas.openxmlformats.org/drawingml/2006/main">
            <a:off x="457200" y="886007"/>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600" b="1">
                <a:solidFill>
                  <a:srgbClr val="FFFFFF"/>
                </a:solidFill>
                <a:latin typeface="Montserrat"/>
                <a:ea typeface="Montserrat"/>
                <a:cs typeface="Montserrat"/>
              </a:rPr>
              <a:t>Validation </a:t>
            </a:r>
            <a:r>
              <a:rPr sz="3600">
                <a:solidFill>
                  <a:srgbClr val="FFFFFF"/>
                </a:solidFill>
                <a:latin typeface="Montserrat"/>
                <a:ea typeface="Montserrat"/>
                <a:cs typeface="Montserrat"/>
              </a:rPr>
              <a:t>Before</a:t>
            </a:r>
            <a:r>
              <a:rPr sz="3600" b="1">
                <a:solidFill>
                  <a:srgbClr val="FFFFFF"/>
                </a:solidFill>
                <a:latin typeface="Montserrat"/>
                <a:ea typeface="Montserrat"/>
                <a:cs typeface="Montserrat"/>
              </a:rPr>
              <a:t> Consolidation</a:t>
            </a:r>
            <a:endParaRPr sz="3600">
              <a:latin typeface="Montserrat"/>
              <a:ea typeface="Montserrat"/>
              <a:cs typeface="Montserrat"/>
            </a:endParaRPr>
          </a:p>
        </p:txBody>
      </p:sp>
      <p:sp>
        <p:nvSpPr>
          <p:cNvPr id="3" name="Text 1">
            <a:extLst xmlns:a="http://schemas.openxmlformats.org/drawingml/2006/main">
              <a:ext uri="{FF2B5EF4-FFF2-40B4-BE49-F238E27FC236}">
                <a16:creationId xmlns:a16="http://schemas.microsoft.com/office/drawing/2014/main" id="{9BA2120E-763D-D3D6-54D8-3BB228FD5B95}"/>
              </a:ext>
            </a:extLst>
          </p:cNvPr>
          <p:cNvSpPr>
            <a:spLocks xmlns:a="http://schemas.openxmlformats.org/drawingml/2006/main" noGrp="1"/>
          </p:cNvSpPr>
          <p:nvPr/>
        </p:nvSpPr>
        <p:spPr>
          <a:xfrm xmlns:a="http://schemas.openxmlformats.org/drawingml/2006/main">
            <a:off x="457200" y="1360838"/>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Montserrat"/>
                <a:ea typeface="Montserrat"/>
                <a:cs typeface="Montserrat"/>
              </a:rPr>
              <a:t>The order of operations changes everything.</a:t>
            </a:r>
          </a:p>
        </p:txBody>
      </p:sp>
      <p:sp>
        <p:nvSpPr>
          <p:cNvPr id="62" name="Text 23">
            <a:extLst xmlns:a="http://schemas.openxmlformats.org/drawingml/2006/main">
              <a:ext uri="{FF2B5EF4-FFF2-40B4-BE49-F238E27FC236}">
                <a16:creationId xmlns:a16="http://schemas.microsoft.com/office/drawing/2014/main" id="{D9D91FA5-2471-9B37-525C-5F5CA0117A76}"/>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63" name="Shape 21">
            <a:extLst xmlns:a="http://schemas.openxmlformats.org/drawingml/2006/main">
              <a:ext uri="{FF2B5EF4-FFF2-40B4-BE49-F238E27FC236}">
                <a16:creationId xmlns:a16="http://schemas.microsoft.com/office/drawing/2014/main" id="{D1C07200-BC32-DDE3-4B60-978D7C0FE7E2}"/>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2563EB"/>
            </a:solidFill>
            <a:prstDash val="dash"/>
          </a:ln>
        </p:spPr>
      </p:sp>
      <p:sp>
        <p:nvSpPr>
          <p:cNvPr id="64" name="Text 22">
            <a:extLst xmlns:a="http://schemas.openxmlformats.org/drawingml/2006/main">
              <a:ext uri="{FF2B5EF4-FFF2-40B4-BE49-F238E27FC236}">
                <a16:creationId xmlns:a16="http://schemas.microsoft.com/office/drawing/2014/main" id="{A6C43C19-F7F7-2924-9071-E34AB43EED4D}"/>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50">
                <a:solidFill>
                  <a:srgbClr val="3B82F6"/>
                </a:solidFill>
                <a:latin typeface="Trebuchet MS"/>
                <a:ea typeface="Trebuchet MS"/>
                <a:cs typeface="Trebuchet MS"/>
              </a:rPr>
              <a:t>METHODOLOGY</a:t>
            </a:r>
            <a:endParaRPr sz="850"/>
          </a:p>
        </p:txBody>
      </p:sp>
      <p:sp>
        <p:nvSpPr>
          <p:cNvPr id="11" name="Shape 20">
            <a:extLst xmlns:a="http://schemas.openxmlformats.org/drawingml/2006/main">
              <a:ext uri="{FF2B5EF4-FFF2-40B4-BE49-F238E27FC236}">
                <a16:creationId xmlns:a16="http://schemas.microsoft.com/office/drawing/2014/main" id="{D4DA8E52-666B-41E9-DD2E-C41522D95290}"/>
              </a:ext>
            </a:extLst>
          </p:cNvPr>
          <p:cNvSpPr>
            <a:spLocks xmlns:a="http://schemas.openxmlformats.org/drawingml/2006/main" noGrp="1"/>
          </p:cNvSpPr>
          <p:nvPr/>
        </p:nvSpPr>
        <p:spPr>
          <a:xfrm xmlns:a="http://schemas.openxmlformats.org/drawingml/2006/main">
            <a:off x="5343413" y="1879969"/>
            <a:ext cx="3112137" cy="2880000"/>
          </a:xfrm>
          <a:prstGeom xmlns:a="http://schemas.openxmlformats.org/drawingml/2006/main" prst="roundRect">
            <a:avLst>
              <a:gd name="adj" fmla="val 3494"/>
            </a:avLst>
          </a:prstGeom>
          <a:solidFill xmlns:a="http://schemas.openxmlformats.org/drawingml/2006/main">
            <a:schemeClr val="tx1">
              <a:lumMod val="95000"/>
              <a:lumOff val="5000"/>
              <a:alpha val="57000"/>
            </a:schemeClr>
          </a:solidFill>
          <a:ln xmlns:a="http://schemas.openxmlformats.org/drawingml/2006/main" w="9525">
            <a:solidFill>
              <a:srgbClr val="10B981"/>
            </a:solidFill>
            <a:prstDash val="solid"/>
          </a:ln>
          <a:effectLst xmlns:a="http://schemas.openxmlformats.org/drawingml/2006/main">
            <a:outerShdw blurRad="101600" dist="38100" dir="8100000" algn="bl" rotWithShape="0">
              <a:srgbClr val="000000">
                <a:alpha val="12000"/>
              </a:srgbClr>
            </a:outerShdw>
          </a:effectLst>
        </p:spPr>
      </p:sp>
      <p:sp>
        <p:nvSpPr>
          <p:cNvPr id="14" name="Text 22">
            <a:extLst xmlns:a="http://schemas.openxmlformats.org/drawingml/2006/main">
              <a:ext uri="{FF2B5EF4-FFF2-40B4-BE49-F238E27FC236}">
                <a16:creationId xmlns:a16="http://schemas.microsoft.com/office/drawing/2014/main" id="{B75B2DE6-ADB8-C910-3888-3981DD24F425}"/>
              </a:ext>
            </a:extLst>
          </p:cNvPr>
          <p:cNvSpPr>
            <a:spLocks xmlns:a="http://schemas.openxmlformats.org/drawingml/2006/main" noGrp="1"/>
          </p:cNvSpPr>
          <p:nvPr/>
        </p:nvSpPr>
        <p:spPr>
          <a:xfrm xmlns:a="http://schemas.openxmlformats.org/drawingml/2006/main">
            <a:off x="6009342" y="2130541"/>
            <a:ext cx="1447078" cy="2280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400" b="1">
                <a:solidFill>
                  <a:srgbClr val="FFFFFF"/>
                </a:solidFill>
                <a:latin typeface="Arial Black"/>
                <a:ea typeface="Arial Black"/>
                <a:cs typeface="Arial Black"/>
              </a:rPr>
              <a:t>Merge</a:t>
            </a:r>
            <a:r>
              <a:rPr sz="1400" b="1">
                <a:solidFill>
                  <a:srgbClr val="2563EB"/>
                </a:solidFill>
                <a:latin typeface="Arial Black"/>
                <a:ea typeface="Arial Black"/>
                <a:cs typeface="Arial Black"/>
              </a:rPr>
              <a:t>Guru</a:t>
            </a:r>
            <a:endParaRPr sz="1400">
              <a:solidFill>
                <a:srgbClr val="2563EB"/>
              </a:solidFill>
            </a:endParaRPr>
          </a:p>
        </p:txBody>
      </p:sp>
      <p:sp>
        <p:nvSpPr>
          <p:cNvPr id="21" name="Rectangle: Rounded Corners 20">
            <a:extLst xmlns:a="http://schemas.openxmlformats.org/drawingml/2006/main">
              <a:ext uri="{FF2B5EF4-FFF2-40B4-BE49-F238E27FC236}">
                <a16:creationId xmlns:a16="http://schemas.microsoft.com/office/drawing/2014/main" id="{21C33EDB-205D-5172-297D-572C1BFB496A}"/>
              </a:ext>
            </a:extLst>
          </p:cNvPr>
          <p:cNvSpPr>
            <a:spLocks xmlns:a="http://schemas.openxmlformats.org/drawingml/2006/main" noGrp="1"/>
          </p:cNvSpPr>
          <p:nvPr/>
        </p:nvSpPr>
        <p:spPr>
          <a:xfrm xmlns:a="http://schemas.openxmlformats.org/drawingml/2006/main">
            <a:off x="5648803" y="2103693"/>
            <a:ext cx="281716" cy="281716"/>
          </a:xfrm>
          <a:prstGeom xmlns:a="http://schemas.openxmlformats.org/drawingml/2006/main" prst="roundRect">
            <a:avLst/>
          </a:prstGeom>
          <a:solidFill xmlns:a="http://schemas.openxmlformats.org/drawingml/2006/main">
            <a:srgbClr val="10B98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84490D9C-F22B-737D-E3CE-85650682754B}"/>
              </a:ext>
            </a:extLst>
          </p:cNvPr>
          <p:cNvSpPr>
            <a:spLocks xmlns:a="http://schemas.openxmlformats.org/drawingml/2006/main" noGrp="1"/>
          </p:cNvSpPr>
          <p:nvPr/>
        </p:nvSpPr>
        <p:spPr>
          <a:xfrm xmlns:a="http://schemas.openxmlformats.org/drawingml/2006/main">
            <a:off x="5592005" y="2599039"/>
            <a:ext cx="2343547"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94A3B8"/>
                </a:solidFill>
                <a:latin typeface="Montserrat"/>
                <a:ea typeface="Montserrat"/>
                <a:cs typeface="Montserrat"/>
              </a:rPr>
              <a:t>1    Select folder or files</a:t>
            </a:r>
          </a:p>
        </p:txBody>
      </p:sp>
      <p:sp>
        <p:nvSpPr>
          <p:cNvPr id="33" name="TextBox 32">
            <a:extLst xmlns:a="http://schemas.openxmlformats.org/drawingml/2006/main">
              <a:ext uri="{FF2B5EF4-FFF2-40B4-BE49-F238E27FC236}">
                <a16:creationId xmlns:a16="http://schemas.microsoft.com/office/drawing/2014/main" id="{E74E952F-73AF-F994-4CE1-7DD26E19E60A}"/>
              </a:ext>
            </a:extLst>
          </p:cNvPr>
          <p:cNvSpPr>
            <a:spLocks xmlns:a="http://schemas.openxmlformats.org/drawingml/2006/main" noGrp="1"/>
          </p:cNvSpPr>
          <p:nvPr/>
        </p:nvSpPr>
        <p:spPr>
          <a:xfrm xmlns:a="http://schemas.openxmlformats.org/drawingml/2006/main">
            <a:off x="5592005" y="2939128"/>
            <a:ext cx="2729388"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94A3B8"/>
                </a:solidFill>
                <a:latin typeface="Montserrat"/>
                <a:ea typeface="Montserrat"/>
                <a:cs typeface="Montserrat"/>
              </a:rPr>
              <a:t>2    Choose the reference template</a:t>
            </a:r>
            <a:endParaRPr sz="1200">
              <a:latin typeface="Montserrat"/>
              <a:ea typeface="Montserrat"/>
              <a:cs typeface="Montserrat"/>
            </a:endParaRPr>
          </a:p>
        </p:txBody>
      </p:sp>
      <p:sp>
        <p:nvSpPr>
          <p:cNvPr id="34" name="TextBox 33">
            <a:extLst xmlns:a="http://schemas.openxmlformats.org/drawingml/2006/main">
              <a:ext uri="{FF2B5EF4-FFF2-40B4-BE49-F238E27FC236}">
                <a16:creationId xmlns:a16="http://schemas.microsoft.com/office/drawing/2014/main" id="{02BB3B10-5589-B81F-23D4-11F86AB0821A}"/>
              </a:ext>
            </a:extLst>
          </p:cNvPr>
          <p:cNvSpPr>
            <a:spLocks xmlns:a="http://schemas.openxmlformats.org/drawingml/2006/main" noGrp="1"/>
          </p:cNvSpPr>
          <p:nvPr/>
        </p:nvSpPr>
        <p:spPr>
          <a:xfrm xmlns:a="http://schemas.openxmlformats.org/drawingml/2006/main">
            <a:off x="5592005" y="3277158"/>
            <a:ext cx="2821181"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10B981"/>
                </a:solidFill>
                <a:latin typeface="Montserrat"/>
                <a:ea typeface="Montserrat"/>
                <a:cs typeface="Montserrat"/>
              </a:rPr>
              <a:t>3    PASS / WARN / FAIL per file</a:t>
            </a:r>
            <a:endParaRPr sz="1200">
              <a:solidFill>
                <a:srgbClr val="10B981"/>
              </a:solidFill>
              <a:latin typeface="Montserrat"/>
              <a:ea typeface="Montserrat"/>
              <a:cs typeface="Montserrat"/>
            </a:endParaRPr>
          </a:p>
        </p:txBody>
      </p:sp>
      <p:sp>
        <p:nvSpPr>
          <p:cNvPr id="47" name="TextBox 46">
            <a:extLst xmlns:a="http://schemas.openxmlformats.org/drawingml/2006/main">
              <a:ext uri="{FF2B5EF4-FFF2-40B4-BE49-F238E27FC236}">
                <a16:creationId xmlns:a16="http://schemas.microsoft.com/office/drawing/2014/main" id="{5FD43ADE-8DEF-7C0D-35EB-957039C8DEFA}"/>
              </a:ext>
            </a:extLst>
          </p:cNvPr>
          <p:cNvSpPr>
            <a:spLocks xmlns:a="http://schemas.openxmlformats.org/drawingml/2006/main" noGrp="1"/>
          </p:cNvSpPr>
          <p:nvPr/>
        </p:nvSpPr>
        <p:spPr>
          <a:xfrm xmlns:a="http://schemas.openxmlformats.org/drawingml/2006/main">
            <a:off x="5592005" y="3584515"/>
            <a:ext cx="2343547"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10B981"/>
                </a:solidFill>
                <a:latin typeface="Montserrat"/>
                <a:ea typeface="Montserrat"/>
                <a:cs typeface="Montserrat"/>
              </a:rPr>
              <a:t>4    Align columns by name</a:t>
            </a:r>
            <a:endParaRPr sz="1200">
              <a:solidFill>
                <a:srgbClr val="10B981"/>
              </a:solidFill>
              <a:latin typeface="Montserrat"/>
              <a:ea typeface="Montserrat"/>
              <a:cs typeface="Montserrat"/>
            </a:endParaRPr>
          </a:p>
        </p:txBody>
      </p:sp>
      <p:sp>
        <p:nvSpPr>
          <p:cNvPr id="49" name="TextBox 48">
            <a:extLst xmlns:a="http://schemas.openxmlformats.org/drawingml/2006/main">
              <a:ext uri="{FF2B5EF4-FFF2-40B4-BE49-F238E27FC236}">
                <a16:creationId xmlns:a16="http://schemas.microsoft.com/office/drawing/2014/main" id="{B67E32AD-F683-A559-4C7C-A86DA5B5AC87}"/>
              </a:ext>
            </a:extLst>
          </p:cNvPr>
          <p:cNvSpPr>
            <a:spLocks xmlns:a="http://schemas.openxmlformats.org/drawingml/2006/main" noGrp="1"/>
          </p:cNvSpPr>
          <p:nvPr/>
        </p:nvSpPr>
        <p:spPr>
          <a:xfrm xmlns:a="http://schemas.openxmlformats.org/drawingml/2006/main">
            <a:off x="5592005" y="3909150"/>
            <a:ext cx="2343547"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chemeClr val="bg1"/>
                </a:solidFill>
                <a:latin typeface="Montserrat"/>
                <a:ea typeface="Montserrat"/>
                <a:cs typeface="Montserrat"/>
              </a:rPr>
              <a:t>5    Filter and export with audit</a:t>
            </a:r>
            <a:endParaRPr sz="1200">
              <a:solidFill>
                <a:schemeClr val="bg1"/>
              </a:solidFill>
              <a:latin typeface="Montserrat"/>
              <a:ea typeface="Montserrat"/>
              <a:cs typeface="Montserrat"/>
            </a:endParaRPr>
          </a:p>
        </p:txBody>
      </p:sp>
      <p:sp>
        <p:nvSpPr>
          <p:cNvPr id="55" name="Rectangle: Rounded Corners 54">
            <a:extLst xmlns:a="http://schemas.openxmlformats.org/drawingml/2006/main">
              <a:ext uri="{FF2B5EF4-FFF2-40B4-BE49-F238E27FC236}">
                <a16:creationId xmlns:a16="http://schemas.microsoft.com/office/drawing/2014/main" id="{B474A0BF-8E25-4F18-C6A2-4A9D226C1E64}"/>
              </a:ext>
            </a:extLst>
          </p:cNvPr>
          <p:cNvSpPr>
            <a:spLocks xmlns:a="http://schemas.openxmlformats.org/drawingml/2006/main" noGrp="1"/>
          </p:cNvSpPr>
          <p:nvPr/>
        </p:nvSpPr>
        <p:spPr>
          <a:xfrm xmlns:a="http://schemas.openxmlformats.org/drawingml/2006/main">
            <a:off x="5648803" y="4318392"/>
            <a:ext cx="2471351" cy="276999"/>
          </a:xfrm>
          <a:prstGeom xmlns:a="http://schemas.openxmlformats.org/drawingml/2006/main" prst="roundRect">
            <a:avLst/>
          </a:prstGeom>
          <a:solidFill xmlns:a="http://schemas.openxmlformats.org/drawingml/2006/main">
            <a:srgbClr val="10B981">
              <a:alpha val="25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9" name="TextBox 68">
            <a:extLst xmlns:a="http://schemas.openxmlformats.org/drawingml/2006/main">
              <a:ext uri="{FF2B5EF4-FFF2-40B4-BE49-F238E27FC236}">
                <a16:creationId xmlns:a16="http://schemas.microsoft.com/office/drawing/2014/main" id="{0EA2513D-0E5F-D47D-20E3-0C1778BD9D3B}"/>
              </a:ext>
            </a:extLst>
          </p:cNvPr>
          <p:cNvSpPr>
            <a:spLocks xmlns:a="http://schemas.openxmlformats.org/drawingml/2006/main" noGrp="1"/>
          </p:cNvSpPr>
          <p:nvPr/>
        </p:nvSpPr>
        <p:spPr>
          <a:xfrm xmlns:a="http://schemas.openxmlformats.org/drawingml/2006/main">
            <a:off x="5726474" y="4326338"/>
            <a:ext cx="235484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a:solidFill>
                  <a:srgbClr val="94A3B8"/>
                </a:solidFill>
                <a:latin typeface="Trebuchet MS"/>
                <a:ea typeface="Trebuchet MS"/>
                <a:cs typeface="Trebuchet MS"/>
              </a:rPr>
              <a:t>Issues handled before output</a:t>
            </a:r>
            <a:endParaRPr sz="1100">
              <a:solidFill>
                <a:srgbClr val="10B981"/>
              </a:solidFill>
              <a:latin typeface="Montserrat"/>
              <a:ea typeface="Montserrat"/>
              <a:cs typeface="Montserrat"/>
            </a:endParaRPr>
          </a:p>
        </p:txBody>
      </p:sp>
      <p:sp>
        <p:nvSpPr>
          <p:cNvPr id="70" name="Shape 20">
            <a:extLst xmlns:a="http://schemas.openxmlformats.org/drawingml/2006/main">
              <a:ext uri="{FF2B5EF4-FFF2-40B4-BE49-F238E27FC236}">
                <a16:creationId xmlns:a16="http://schemas.microsoft.com/office/drawing/2014/main" id="{6F1A4C02-FE51-90D5-4F12-58FEA80CC1E0}"/>
              </a:ext>
            </a:extLst>
          </p:cNvPr>
          <p:cNvSpPr>
            <a:spLocks xmlns:a="http://schemas.openxmlformats.org/drawingml/2006/main" noGrp="1"/>
          </p:cNvSpPr>
          <p:nvPr/>
        </p:nvSpPr>
        <p:spPr>
          <a:xfrm xmlns:a="http://schemas.openxmlformats.org/drawingml/2006/main">
            <a:off x="4215384" y="2963353"/>
            <a:ext cx="713232" cy="713232"/>
          </a:xfrm>
          <a:prstGeom xmlns:a="http://schemas.openxmlformats.org/drawingml/2006/main" prst="ellipse">
            <a:avLst/>
          </a:prstGeom>
          <a:solidFill xmlns:a="http://schemas.openxmlformats.org/drawingml/2006/main">
            <a:srgbClr val="1E2A3B"/>
          </a:solidFill>
          <a:ln xmlns:a="http://schemas.openxmlformats.org/drawingml/2006/main" w="25400">
            <a:solidFill>
              <a:srgbClr val="243348"/>
            </a:solidFill>
            <a:prstDash val="solid"/>
          </a:ln>
        </p:spPr>
        <p:txBody>
          <a:bodyPr xmlns:a="http://schemas.openxmlformats.org/drawingml/2006/main"/>
          <a:lstStyle xmlns:a="http://schemas.openxmlformats.org/drawingml/2006/main"/>
          <a:p xmlns:a="http://schemas.openxmlformats.org/drawingml/2006/main">
            <a:endParaRPr/>
          </a:p>
        </p:txBody>
      </p:sp>
      <p:sp>
        <p:nvSpPr>
          <p:cNvPr id="71" name="TextBox 70">
            <a:extLst xmlns:a="http://schemas.openxmlformats.org/drawingml/2006/main">
              <a:ext uri="{FF2B5EF4-FFF2-40B4-BE49-F238E27FC236}">
                <a16:creationId xmlns:a16="http://schemas.microsoft.com/office/drawing/2014/main" id="{B8288BD9-48B0-72BA-1C0D-766EF0787C90}"/>
              </a:ext>
            </a:extLst>
          </p:cNvPr>
          <p:cNvSpPr>
            <a:spLocks xmlns:a="http://schemas.openxmlformats.org/drawingml/2006/main" noGrp="1"/>
          </p:cNvSpPr>
          <p:nvPr/>
        </p:nvSpPr>
        <p:spPr>
          <a:xfrm xmlns:a="http://schemas.openxmlformats.org/drawingml/2006/main">
            <a:off x="4333691" y="3129322"/>
            <a:ext cx="476617" cy="38129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b="1">
                <a:solidFill>
                  <a:schemeClr val="bg2">
                    <a:lumMod val="50000"/>
                  </a:schemeClr>
                </a:solidFill>
              </a:rPr>
              <a:t>VS</a:t>
            </a:r>
          </a:p>
        </p:txBody>
      </p:sp>
      <p:sp>
        <p:nvSpPr>
          <p:cNvPr id="76" name="Shape 20">
            <a:extLst xmlns:a="http://schemas.openxmlformats.org/drawingml/2006/main">
              <a:ext uri="{FF2B5EF4-FFF2-40B4-BE49-F238E27FC236}">
                <a16:creationId xmlns:a16="http://schemas.microsoft.com/office/drawing/2014/main" id="{D50B9F45-02D3-E173-35CB-D93BD6510FC7}"/>
              </a:ext>
            </a:extLst>
          </p:cNvPr>
          <p:cNvSpPr>
            <a:spLocks xmlns:a="http://schemas.openxmlformats.org/drawingml/2006/main" noGrp="1"/>
          </p:cNvSpPr>
          <p:nvPr/>
        </p:nvSpPr>
        <p:spPr>
          <a:xfrm xmlns:a="http://schemas.openxmlformats.org/drawingml/2006/main">
            <a:off x="609599" y="1879969"/>
            <a:ext cx="3112137" cy="2880000"/>
          </a:xfrm>
          <a:prstGeom xmlns:a="http://schemas.openxmlformats.org/drawingml/2006/main" prst="roundRect">
            <a:avLst>
              <a:gd name="adj" fmla="val 3494"/>
            </a:avLst>
          </a:prstGeom>
          <a:solidFill xmlns:a="http://schemas.openxmlformats.org/drawingml/2006/main">
            <a:schemeClr val="tx1">
              <a:lumMod val="95000"/>
              <a:lumOff val="5000"/>
              <a:alpha val="57000"/>
            </a:schemeClr>
          </a:solidFill>
          <a:ln xmlns:a="http://schemas.openxmlformats.org/drawingml/2006/main" w="9525">
            <a:solidFill>
              <a:srgbClr val="CE544C"/>
            </a:solidFill>
            <a:prstDash val="solid"/>
          </a:ln>
          <a:effectLst xmlns:a="http://schemas.openxmlformats.org/drawingml/2006/main">
            <a:outerShdw blurRad="101600" dist="38100" dir="8100000" algn="bl" rotWithShape="0">
              <a:srgbClr val="000000">
                <a:alpha val="12000"/>
              </a:srgbClr>
            </a:outerShdw>
          </a:effectLst>
        </p:spPr>
      </p:sp>
      <p:sp>
        <p:nvSpPr>
          <p:cNvPr id="77" name="Text 22">
            <a:extLst xmlns:a="http://schemas.openxmlformats.org/drawingml/2006/main">
              <a:ext uri="{FF2B5EF4-FFF2-40B4-BE49-F238E27FC236}">
                <a16:creationId xmlns:a16="http://schemas.microsoft.com/office/drawing/2014/main" id="{E46720FF-CEA2-878B-FBF1-9472B33A3DC3}"/>
              </a:ext>
            </a:extLst>
          </p:cNvPr>
          <p:cNvSpPr>
            <a:spLocks xmlns:a="http://schemas.openxmlformats.org/drawingml/2006/main" noGrp="1"/>
          </p:cNvSpPr>
          <p:nvPr/>
        </p:nvSpPr>
        <p:spPr>
          <a:xfrm xmlns:a="http://schemas.openxmlformats.org/drawingml/2006/main">
            <a:off x="1275528" y="2130541"/>
            <a:ext cx="1447078" cy="2280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E544C"/>
                </a:solidFill>
                <a:latin typeface="Trebuchet MS"/>
                <a:ea typeface="Trebuchet MS"/>
                <a:cs typeface="Trebuchet MS"/>
              </a:rPr>
              <a:t>Traditional Tools</a:t>
            </a:r>
            <a:endParaRPr sz="1400" b="1">
              <a:solidFill>
                <a:srgbClr val="CE544C"/>
              </a:solidFill>
            </a:endParaRPr>
          </a:p>
        </p:txBody>
      </p:sp>
      <p:sp>
        <p:nvSpPr>
          <p:cNvPr id="87" name="Rectangle: Rounded Corners 86">
            <a:extLst xmlns:a="http://schemas.openxmlformats.org/drawingml/2006/main">
              <a:ext uri="{FF2B5EF4-FFF2-40B4-BE49-F238E27FC236}">
                <a16:creationId xmlns:a16="http://schemas.microsoft.com/office/drawing/2014/main" id="{449CF91E-C576-F198-C4F4-FB411053BA9D}"/>
              </a:ext>
            </a:extLst>
          </p:cNvPr>
          <p:cNvSpPr>
            <a:spLocks xmlns:a="http://schemas.openxmlformats.org/drawingml/2006/main" noGrp="1"/>
          </p:cNvSpPr>
          <p:nvPr/>
        </p:nvSpPr>
        <p:spPr>
          <a:xfrm xmlns:a="http://schemas.openxmlformats.org/drawingml/2006/main">
            <a:off x="914989" y="2103693"/>
            <a:ext cx="281716" cy="281716"/>
          </a:xfrm>
          <a:prstGeom xmlns:a="http://schemas.openxmlformats.org/drawingml/2006/main" prst="roundRect">
            <a:avLst/>
          </a:prstGeom>
          <a:solidFill xmlns:a="http://schemas.openxmlformats.org/drawingml/2006/main">
            <a:srgbClr val="CE544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2" name="Image 0"/>
          <p:cNvPicPr>
            <a:picLocks xmlns:a="http://schemas.openxmlformats.org/drawingml/2006/main" noChangeAspect="1"/>
          </p:cNvPicPr>
          <p:nvPr/>
        </p:nvPicPr>
        <p:blipFill>
          <a:blip xmlns:r="http://schemas.openxmlformats.org/officeDocument/2006/relationships" xmlns:a="http://schemas.openxmlformats.org/drawingml/2006/main" r:embed="Rb986a122f2544df4">
            <a:biLevel thresh="25000"/>
          </a:blip>
          <a:stretch xmlns:a="http://schemas.openxmlformats.org/drawingml/2006/main">
            <a:fillRect l="0" t="0" r="0" b="0"/>
          </a:stretch>
        </p:blipFill>
        <p:spPr>
          <a:xfrm xmlns:a="http://schemas.openxmlformats.org/drawingml/2006/main">
            <a:off x="929817" y="2118521"/>
            <a:ext cx="252059" cy="252059"/>
          </a:xfrm>
          <a:prstGeom xmlns:a="http://schemas.openxmlformats.org/drawingml/2006/main" prst="rect">
            <a:avLst/>
          </a:prstGeom>
        </p:spPr>
      </p:pic>
      <p:sp>
        <p:nvSpPr>
          <p:cNvPr id="79" name="TextBox 78">
            <a:extLst xmlns:a="http://schemas.openxmlformats.org/drawingml/2006/main">
              <a:ext uri="{FF2B5EF4-FFF2-40B4-BE49-F238E27FC236}">
                <a16:creationId xmlns:a16="http://schemas.microsoft.com/office/drawing/2014/main" id="{DC7B8D6C-3799-F6D9-49F1-191DE002A781}"/>
              </a:ext>
            </a:extLst>
          </p:cNvPr>
          <p:cNvSpPr>
            <a:spLocks xmlns:a="http://schemas.openxmlformats.org/drawingml/2006/main" noGrp="1"/>
          </p:cNvSpPr>
          <p:nvPr/>
        </p:nvSpPr>
        <p:spPr>
          <a:xfrm xmlns:a="http://schemas.openxmlformats.org/drawingml/2006/main">
            <a:off x="858191" y="2599039"/>
            <a:ext cx="2343547"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94A3B8"/>
                </a:solidFill>
                <a:latin typeface="Montserrat"/>
                <a:ea typeface="Montserrat"/>
                <a:cs typeface="Montserrat"/>
              </a:rPr>
              <a:t>1    Merge files first</a:t>
            </a:r>
            <a:endParaRPr sz="1200">
              <a:latin typeface="Montserrat"/>
              <a:ea typeface="Montserrat"/>
              <a:cs typeface="Montserrat"/>
            </a:endParaRPr>
          </a:p>
        </p:txBody>
      </p:sp>
      <p:sp>
        <p:nvSpPr>
          <p:cNvPr id="80" name="TextBox 79">
            <a:extLst xmlns:a="http://schemas.openxmlformats.org/drawingml/2006/main">
              <a:ext uri="{FF2B5EF4-FFF2-40B4-BE49-F238E27FC236}">
                <a16:creationId xmlns:a16="http://schemas.microsoft.com/office/drawing/2014/main" id="{4855BD2E-6C53-F0E1-47FC-AFE0ECEA80A4}"/>
              </a:ext>
            </a:extLst>
          </p:cNvPr>
          <p:cNvSpPr>
            <a:spLocks xmlns:a="http://schemas.openxmlformats.org/drawingml/2006/main" noGrp="1"/>
          </p:cNvSpPr>
          <p:nvPr/>
        </p:nvSpPr>
        <p:spPr>
          <a:xfrm xmlns:a="http://schemas.openxmlformats.org/drawingml/2006/main">
            <a:off x="858191" y="2939128"/>
            <a:ext cx="2343547"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94A3B8"/>
                </a:solidFill>
                <a:latin typeface="Montserrat"/>
                <a:ea typeface="Montserrat"/>
                <a:cs typeface="Montserrat"/>
              </a:rPr>
              <a:t>2    Discover exceptions late</a:t>
            </a:r>
            <a:endParaRPr sz="1200">
              <a:latin typeface="Montserrat"/>
              <a:ea typeface="Montserrat"/>
              <a:cs typeface="Montserrat"/>
            </a:endParaRPr>
          </a:p>
        </p:txBody>
      </p:sp>
      <p:sp>
        <p:nvSpPr>
          <p:cNvPr id="81" name="TextBox 80">
            <a:extLst xmlns:a="http://schemas.openxmlformats.org/drawingml/2006/main">
              <a:ext uri="{FF2B5EF4-FFF2-40B4-BE49-F238E27FC236}">
                <a16:creationId xmlns:a16="http://schemas.microsoft.com/office/drawing/2014/main" id="{EF00A6AD-716C-042C-D548-AC0C68647E6B}"/>
              </a:ext>
            </a:extLst>
          </p:cNvPr>
          <p:cNvSpPr>
            <a:spLocks xmlns:a="http://schemas.openxmlformats.org/drawingml/2006/main" noGrp="1"/>
          </p:cNvSpPr>
          <p:nvPr/>
        </p:nvSpPr>
        <p:spPr>
          <a:xfrm xmlns:a="http://schemas.openxmlformats.org/drawingml/2006/main">
            <a:off x="858191" y="3277158"/>
            <a:ext cx="2343547"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CE544C"/>
                </a:solidFill>
                <a:latin typeface="Montserrat"/>
                <a:ea typeface="Montserrat"/>
                <a:cs typeface="Montserrat"/>
              </a:rPr>
              <a:t>3    Trace the problem source</a:t>
            </a:r>
            <a:endParaRPr sz="1200">
              <a:solidFill>
                <a:srgbClr val="CE544C"/>
              </a:solidFill>
              <a:latin typeface="Montserrat"/>
              <a:ea typeface="Montserrat"/>
              <a:cs typeface="Montserrat"/>
            </a:endParaRPr>
          </a:p>
        </p:txBody>
      </p:sp>
      <p:sp>
        <p:nvSpPr>
          <p:cNvPr id="82" name="TextBox 81">
            <a:extLst xmlns:a="http://schemas.openxmlformats.org/drawingml/2006/main">
              <a:ext uri="{FF2B5EF4-FFF2-40B4-BE49-F238E27FC236}">
                <a16:creationId xmlns:a16="http://schemas.microsoft.com/office/drawing/2014/main" id="{165F91C8-5579-98C2-3D43-9B0652346D70}"/>
              </a:ext>
            </a:extLst>
          </p:cNvPr>
          <p:cNvSpPr>
            <a:spLocks xmlns:a="http://schemas.openxmlformats.org/drawingml/2006/main" noGrp="1"/>
          </p:cNvSpPr>
          <p:nvPr/>
        </p:nvSpPr>
        <p:spPr>
          <a:xfrm xmlns:a="http://schemas.openxmlformats.org/drawingml/2006/main">
            <a:off x="858191" y="3584515"/>
            <a:ext cx="2343547"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rgbClr val="CE544C"/>
                </a:solidFill>
                <a:latin typeface="Montserrat"/>
                <a:ea typeface="Montserrat"/>
                <a:cs typeface="Montserrat"/>
              </a:rPr>
              <a:t>4    Rework mapping or code</a:t>
            </a:r>
            <a:endParaRPr sz="1200">
              <a:solidFill>
                <a:srgbClr val="CE544C"/>
              </a:solidFill>
              <a:latin typeface="Montserrat"/>
              <a:ea typeface="Montserrat"/>
              <a:cs typeface="Montserrat"/>
            </a:endParaRPr>
          </a:p>
        </p:txBody>
      </p:sp>
      <p:sp>
        <p:nvSpPr>
          <p:cNvPr id="83" name="TextBox 82">
            <a:extLst xmlns:a="http://schemas.openxmlformats.org/drawingml/2006/main">
              <a:ext uri="{FF2B5EF4-FFF2-40B4-BE49-F238E27FC236}">
                <a16:creationId xmlns:a16="http://schemas.microsoft.com/office/drawing/2014/main" id="{59895F6B-4568-61BB-196D-3F42B4BDA828}"/>
              </a:ext>
            </a:extLst>
          </p:cNvPr>
          <p:cNvSpPr>
            <a:spLocks xmlns:a="http://schemas.openxmlformats.org/drawingml/2006/main" noGrp="1"/>
          </p:cNvSpPr>
          <p:nvPr/>
        </p:nvSpPr>
        <p:spPr>
          <a:xfrm xmlns:a="http://schemas.openxmlformats.org/drawingml/2006/main">
            <a:off x="858191" y="3909150"/>
            <a:ext cx="2343547"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200" b="1">
                <a:solidFill>
                  <a:schemeClr val="bg1"/>
                </a:solidFill>
                <a:latin typeface="Montserrat"/>
                <a:ea typeface="Montserrat"/>
                <a:cs typeface="Montserrat"/>
              </a:rPr>
              <a:t>5    Re-run and reconcile</a:t>
            </a:r>
            <a:endParaRPr sz="1200">
              <a:solidFill>
                <a:schemeClr val="bg1"/>
              </a:solidFill>
              <a:latin typeface="Montserrat"/>
              <a:ea typeface="Montserrat"/>
              <a:cs typeface="Montserrat"/>
            </a:endParaRPr>
          </a:p>
        </p:txBody>
      </p:sp>
      <p:sp>
        <p:nvSpPr>
          <p:cNvPr id="84" name="Rectangle: Rounded Corners 83">
            <a:extLst xmlns:a="http://schemas.openxmlformats.org/drawingml/2006/main">
              <a:ext uri="{FF2B5EF4-FFF2-40B4-BE49-F238E27FC236}">
                <a16:creationId xmlns:a16="http://schemas.microsoft.com/office/drawing/2014/main" id="{0C6C3CB2-C2B3-A1E4-45A8-2FF9A794A473}"/>
              </a:ext>
            </a:extLst>
          </p:cNvPr>
          <p:cNvSpPr>
            <a:spLocks xmlns:a="http://schemas.openxmlformats.org/drawingml/2006/main" noGrp="1"/>
          </p:cNvSpPr>
          <p:nvPr/>
        </p:nvSpPr>
        <p:spPr>
          <a:xfrm xmlns:a="http://schemas.openxmlformats.org/drawingml/2006/main">
            <a:off x="914989" y="4318392"/>
            <a:ext cx="2471351" cy="276999"/>
          </a:xfrm>
          <a:prstGeom xmlns:a="http://schemas.openxmlformats.org/drawingml/2006/main" prst="roundRect">
            <a:avLst/>
          </a:prstGeom>
          <a:solidFill xmlns:a="http://schemas.openxmlformats.org/drawingml/2006/main">
            <a:srgbClr val="CE544C">
              <a:alpha val="30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9" name="Image 3"/>
          <p:cNvPicPr>
            <a:picLocks xmlns:a="http://schemas.openxmlformats.org/drawingml/2006/main" noChangeAspect="1"/>
          </p:cNvPicPr>
          <p:nvPr/>
        </p:nvPicPr>
        <p:blipFill>
          <a:blip xmlns:r="http://schemas.openxmlformats.org/officeDocument/2006/relationships" xmlns:a="http://schemas.openxmlformats.org/drawingml/2006/main" r:embed="Rd9097996bf2e4069"/>
          <a:stretch xmlns:a="http://schemas.openxmlformats.org/drawingml/2006/main">
            <a:fillRect l="0" t="0" r="0" b="0"/>
          </a:stretch>
        </p:blipFill>
        <p:spPr>
          <a:xfrm xmlns:a="http://schemas.openxmlformats.org/drawingml/2006/main">
            <a:off x="1026752" y="4379329"/>
            <a:ext cx="155124" cy="155124"/>
          </a:xfrm>
          <a:prstGeom xmlns:a="http://schemas.openxmlformats.org/drawingml/2006/main" prst="rect">
            <a:avLst/>
          </a:prstGeom>
        </p:spPr>
      </p:pic>
      <p:sp>
        <p:nvSpPr>
          <p:cNvPr id="86" name="TextBox 85">
            <a:extLst xmlns:a="http://schemas.openxmlformats.org/drawingml/2006/main">
              <a:ext uri="{FF2B5EF4-FFF2-40B4-BE49-F238E27FC236}">
                <a16:creationId xmlns:a16="http://schemas.microsoft.com/office/drawing/2014/main" id="{04C1772A-D887-39CD-F3B2-CFA368FFDD0D}"/>
              </a:ext>
            </a:extLst>
          </p:cNvPr>
          <p:cNvSpPr>
            <a:spLocks xmlns:a="http://schemas.openxmlformats.org/drawingml/2006/main" noGrp="1"/>
          </p:cNvSpPr>
          <p:nvPr/>
        </p:nvSpPr>
        <p:spPr>
          <a:xfrm xmlns:a="http://schemas.openxmlformats.org/drawingml/2006/main">
            <a:off x="1199898" y="4326338"/>
            <a:ext cx="2147605" cy="426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b="1">
                <a:solidFill>
                  <a:schemeClr val="bg1"/>
                </a:solidFill>
                <a:latin typeface="Trebuchet MS"/>
                <a:ea typeface="Trebuchet MS"/>
                <a:cs typeface="Trebuchet MS"/>
              </a:rPr>
              <a:t>Exceptions handled after output</a:t>
            </a:r>
            <a:endParaRPr sz="1100">
              <a:solidFill>
                <a:schemeClr val="bg1"/>
              </a:solidFill>
              <a:latin typeface="Montserrat"/>
              <a:ea typeface="Montserrat"/>
              <a:cs typeface="Montserrat"/>
            </a:endParaRPr>
          </a:p>
        </p:txBody>
      </p:sp>
      <p:pic>
        <p:nvPicPr>
          <p:cNvPr id="121" name="Graphic 89"/>
          <p:cNvPicPr>
            <a:picLocks xmlns:a="http://schemas.openxmlformats.org/drawingml/2006/main" noChangeAspect="1"/>
          </p:cNvPicPr>
          <p:nvPr/>
        </p:nvPicPr>
        <p:blipFill>
          <a:blip xmlns:r="http://schemas.openxmlformats.org/officeDocument/2006/relationships" xmlns:a="http://schemas.openxmlformats.org/drawingml/2006/main" r:embed="Rf31c082bb60f4dd5">
            <a:extLst>
              <a:ext uri="{96DAC541-7B7A-43D3-8B79-37D633B846F1}">
                <asvg:svgBlip xmlns:asvg="http://schemas.microsoft.com/office/drawing/2016/SVG/main" r:embed="R09ade507ae8144f3"/>
              </a:ext>
            </a:extLst>
          </a:blip>
          <a:stretch xmlns:a="http://schemas.openxmlformats.org/drawingml/2006/main">
            <a:fillRect l="0" t="0" r="0" b="0"/>
          </a:stretch>
        </p:blipFill>
        <p:spPr>
          <a:xfrm xmlns:a="http://schemas.openxmlformats.org/drawingml/2006/main">
            <a:off x="5691274" y="2141287"/>
            <a:ext cx="200153" cy="200153"/>
          </a:xfrm>
          <a:prstGeom xmlns:a="http://schemas.openxmlformats.org/drawingml/2006/main" prst="rect">
            <a:avLst/>
          </a:prstGeom>
        </p:spPr>
      </p:pic>
      <p:pic>
        <p:nvPicPr>
          <p:cNvPr id="122" name="Picture 121"/>
          <p:cNvPicPr>
            <a:picLocks xmlns:a="http://schemas.openxmlformats.org/drawingml/2006/main" noChangeAspect="1"/>
          </p:cNvPicPr>
          <p:nvPr/>
        </p:nvPicPr>
        <p:blipFill>
          <a:blip xmlns:r="http://schemas.openxmlformats.org/officeDocument/2006/relationships" xmlns:a="http://schemas.openxmlformats.org/drawingml/2006/main" r:embed="R357e9ed9c1784f2d"/>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2421147140"/>
      </p:ext>
    </p:extLst>
  </p:cSld>
</p:sld>
</file>

<file path=ppt/slides/slide6.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08D96D-928D-4921-AF76-A27D79981FFF}"/>
              </a:ext>
            </a:extLst>
          </p:cNvPr>
          <p:cNvSpPr>
            <a:spLocks xmlns:a="http://schemas.openxmlformats.org/drawingml/2006/main" noGrp="1"/>
          </p:cNvSpPr>
          <p:nvPr/>
        </p:nvSpPr>
        <p:spPr>
          <a:xfrm xmlns:a="http://schemas.openxmlformats.org/drawingml/2006/main">
            <a:off x="457200" y="256032"/>
            <a:ext cx="82296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FFFFFF"/>
                </a:solidFill>
                <a:latin typeface="Arial Black"/>
                <a:ea typeface="Arial Black"/>
                <a:cs typeface="Arial Black"/>
              </a:rPr>
              <a:t>Schema Alignment by Column Name</a:t>
            </a:r>
            <a:endParaRPr sz="3200"/>
          </a:p>
        </p:txBody>
      </p:sp>
      <p:sp>
        <p:nvSpPr>
          <p:cNvPr id="3" name="Text 1">
            <a:extLst xmlns:a="http://schemas.openxmlformats.org/drawingml/2006/main">
              <a:ext uri="{FF2B5EF4-FFF2-40B4-BE49-F238E27FC236}">
                <a16:creationId xmlns:a16="http://schemas.microsoft.com/office/drawing/2014/main" id="{8F5CFBBB-8E98-4122-9465-CA071DADF2AC}"/>
              </a:ext>
            </a:extLst>
          </p:cNvPr>
          <p:cNvSpPr>
            <a:spLocks xmlns:a="http://schemas.openxmlformats.org/drawingml/2006/main" noGrp="1"/>
          </p:cNvSpPr>
          <p:nvPr/>
        </p:nvSpPr>
        <p:spPr>
          <a:xfrm xmlns:a="http://schemas.openxmlformats.org/drawingml/2006/main">
            <a:off x="457200" y="804672"/>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94A3B8"/>
                </a:solidFill>
                <a:latin typeface="Trebuchet MS"/>
                <a:ea typeface="Trebuchet MS"/>
                <a:cs typeface="Trebuchet MS"/>
              </a:rPr>
              <a:t>Header case and whitespace are normalised, then columns are validated and reordered before combine.</a:t>
            </a:r>
            <a:endParaRPr sz="1350"/>
          </a:p>
        </p:txBody>
      </p:sp>
      <p:sp>
        <p:nvSpPr>
          <p:cNvPr id="4" name="Shape 2">
            <a:extLst xmlns:a="http://schemas.openxmlformats.org/drawingml/2006/main">
              <a:ext uri="{FF2B5EF4-FFF2-40B4-BE49-F238E27FC236}">
                <a16:creationId xmlns:a16="http://schemas.microsoft.com/office/drawing/2014/main" id="{B240D8D4-9F33-4447-94CE-8690D19E022D}"/>
              </a:ext>
            </a:extLst>
          </p:cNvPr>
          <p:cNvSpPr>
            <a:spLocks xmlns:a="http://schemas.openxmlformats.org/drawingml/2006/main" noGrp="1"/>
          </p:cNvSpPr>
          <p:nvPr/>
        </p:nvSpPr>
        <p:spPr>
          <a:xfrm xmlns:a="http://schemas.openxmlformats.org/drawingml/2006/main">
            <a:off x="365760" y="1234440"/>
            <a:ext cx="2560320" cy="1014984"/>
          </a:xfrm>
          <a:prstGeom xmlns:a="http://schemas.openxmlformats.org/drawingml/2006/main" prst="rect">
            <a:avLst/>
          </a:prstGeom>
          <a:solidFill xmlns:a="http://schemas.openxmlformats.org/drawingml/2006/main">
            <a:srgbClr val="1E2A3B"/>
          </a:solidFill>
          <a:ln xmlns:a="http://schemas.openxmlformats.org/drawingml/2006/main" w="19050">
            <a:solidFill>
              <a:srgbClr val="3B82F6"/>
            </a:solidFill>
            <a:prstDash val="solid"/>
          </a:ln>
          <a:effectLst xmlns:a="http://schemas.openxmlformats.org/drawingml/2006/main">
            <a:outerShdw blurRad="76200" dist="38100" dir="8100000" algn="bl" rotWithShape="0">
              <a:srgbClr val="000000">
                <a:alpha val="20000"/>
              </a:srgbClr>
            </a:outerShdw>
          </a:effectLst>
        </p:spPr>
      </p:sp>
      <p:sp>
        <p:nvSpPr>
          <p:cNvPr id="5" name="Shape 3">
            <a:extLst xmlns:a="http://schemas.openxmlformats.org/drawingml/2006/main">
              <a:ext uri="{FF2B5EF4-FFF2-40B4-BE49-F238E27FC236}">
                <a16:creationId xmlns:a16="http://schemas.microsoft.com/office/drawing/2014/main" id="{065CB7D3-9B51-4C24-98F0-2B6A90DCCC5B}"/>
              </a:ext>
            </a:extLst>
          </p:cNvPr>
          <p:cNvSpPr>
            <a:spLocks xmlns:a="http://schemas.openxmlformats.org/drawingml/2006/main" noGrp="1"/>
          </p:cNvSpPr>
          <p:nvPr/>
        </p:nvSpPr>
        <p:spPr>
          <a:xfrm xmlns:a="http://schemas.openxmlformats.org/drawingml/2006/main">
            <a:off x="365760" y="1234440"/>
            <a:ext cx="2560320" cy="320040"/>
          </a:xfrm>
          <a:prstGeom xmlns:a="http://schemas.openxmlformats.org/drawingml/2006/main" prst="rect">
            <a:avLst/>
          </a:prstGeom>
          <a:solidFill xmlns:a="http://schemas.openxmlformats.org/drawingml/2006/main">
            <a:srgbClr val="162032"/>
          </a:solidFill>
          <a:ln xmlns:a="http://schemas.openxmlformats.org/drawingml/2006/main" w="12700">
            <a:solidFill>
              <a:srgbClr val="3B82F6"/>
            </a:solidFill>
            <a:prstDash val="solid"/>
          </a:ln>
        </p:spPr>
      </p:sp>
      <p:sp>
        <p:nvSpPr>
          <p:cNvPr id="6" name="Text 4">
            <a:extLst xmlns:a="http://schemas.openxmlformats.org/drawingml/2006/main">
              <a:ext uri="{FF2B5EF4-FFF2-40B4-BE49-F238E27FC236}">
                <a16:creationId xmlns:a16="http://schemas.microsoft.com/office/drawing/2014/main" id="{8D7CAF70-1C5F-47EC-9EA8-4AD2BF520219}"/>
              </a:ext>
            </a:extLst>
          </p:cNvPr>
          <p:cNvSpPr>
            <a:spLocks xmlns:a="http://schemas.openxmlformats.org/drawingml/2006/main" noGrp="1"/>
          </p:cNvSpPr>
          <p:nvPr/>
        </p:nvSpPr>
        <p:spPr>
          <a:xfrm xmlns:a="http://schemas.openxmlformats.org/drawingml/2006/main">
            <a:off x="457200" y="1234440"/>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3B82F6"/>
                </a:solidFill>
                <a:latin typeface="Trebuchet MS"/>
                <a:ea typeface="Trebuchet MS"/>
                <a:cs typeface="Trebuchet MS"/>
              </a:rPr>
              <a:t>File A</a:t>
            </a:r>
            <a:endParaRPr sz="950"/>
          </a:p>
        </p:txBody>
      </p:sp>
      <p:sp>
        <p:nvSpPr>
          <p:cNvPr id="7" name="Shape 5">
            <a:extLst xmlns:a="http://schemas.openxmlformats.org/drawingml/2006/main">
              <a:ext uri="{FF2B5EF4-FFF2-40B4-BE49-F238E27FC236}">
                <a16:creationId xmlns:a16="http://schemas.microsoft.com/office/drawing/2014/main" id="{A1F62B3F-E6AB-4C33-BC2B-9E72D3FF4092}"/>
              </a:ext>
            </a:extLst>
          </p:cNvPr>
          <p:cNvSpPr>
            <a:spLocks xmlns:a="http://schemas.openxmlformats.org/drawingml/2006/main" noGrp="1"/>
          </p:cNvSpPr>
          <p:nvPr/>
        </p:nvSpPr>
        <p:spPr>
          <a:xfrm xmlns:a="http://schemas.openxmlformats.org/drawingml/2006/main">
            <a:off x="457200" y="1554480"/>
            <a:ext cx="75590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8" name="Text 6">
            <a:extLst xmlns:a="http://schemas.openxmlformats.org/drawingml/2006/main">
              <a:ext uri="{FF2B5EF4-FFF2-40B4-BE49-F238E27FC236}">
                <a16:creationId xmlns:a16="http://schemas.microsoft.com/office/drawing/2014/main" id="{D9C01D74-6633-4290-B9E8-6054771E1D51}"/>
              </a:ext>
            </a:extLst>
          </p:cNvPr>
          <p:cNvSpPr>
            <a:spLocks xmlns:a="http://schemas.openxmlformats.org/drawingml/2006/main" noGrp="1"/>
          </p:cNvSpPr>
          <p:nvPr/>
        </p:nvSpPr>
        <p:spPr>
          <a:xfrm xmlns:a="http://schemas.openxmlformats.org/drawingml/2006/main">
            <a:off x="457200" y="1554480"/>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ID</a:t>
            </a:r>
            <a:endParaRPr sz="900"/>
          </a:p>
        </p:txBody>
      </p:sp>
      <p:sp>
        <p:nvSpPr>
          <p:cNvPr id="9" name="Shape 7">
            <a:extLst xmlns:a="http://schemas.openxmlformats.org/drawingml/2006/main">
              <a:ext uri="{FF2B5EF4-FFF2-40B4-BE49-F238E27FC236}">
                <a16:creationId xmlns:a16="http://schemas.microsoft.com/office/drawing/2014/main" id="{03B04A0D-451D-486B-A01E-A6698404E83A}"/>
              </a:ext>
            </a:extLst>
          </p:cNvPr>
          <p:cNvSpPr>
            <a:spLocks xmlns:a="http://schemas.openxmlformats.org/drawingml/2006/main" noGrp="1"/>
          </p:cNvSpPr>
          <p:nvPr/>
        </p:nvSpPr>
        <p:spPr>
          <a:xfrm xmlns:a="http://schemas.openxmlformats.org/drawingml/2006/main">
            <a:off x="457200" y="1901952"/>
            <a:ext cx="75590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10" name="Text 8">
            <a:extLst xmlns:a="http://schemas.openxmlformats.org/drawingml/2006/main">
              <a:ext uri="{FF2B5EF4-FFF2-40B4-BE49-F238E27FC236}">
                <a16:creationId xmlns:a16="http://schemas.microsoft.com/office/drawing/2014/main" id="{8F8FEF8C-70E1-4D2A-A124-A151F22A7422}"/>
              </a:ext>
            </a:extLst>
          </p:cNvPr>
          <p:cNvSpPr>
            <a:spLocks xmlns:a="http://schemas.openxmlformats.org/drawingml/2006/main" noGrp="1"/>
          </p:cNvSpPr>
          <p:nvPr/>
        </p:nvSpPr>
        <p:spPr>
          <a:xfrm xmlns:a="http://schemas.openxmlformats.org/drawingml/2006/main">
            <a:off x="457200" y="1901952"/>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11" name="Shape 9">
            <a:extLst xmlns:a="http://schemas.openxmlformats.org/drawingml/2006/main">
              <a:ext uri="{FF2B5EF4-FFF2-40B4-BE49-F238E27FC236}">
                <a16:creationId xmlns:a16="http://schemas.microsoft.com/office/drawing/2014/main" id="{1BFF495A-776B-4528-BD93-562A89EC0678}"/>
              </a:ext>
            </a:extLst>
          </p:cNvPr>
          <p:cNvSpPr>
            <a:spLocks xmlns:a="http://schemas.openxmlformats.org/drawingml/2006/main" noGrp="1"/>
          </p:cNvSpPr>
          <p:nvPr/>
        </p:nvSpPr>
        <p:spPr>
          <a:xfrm xmlns:a="http://schemas.openxmlformats.org/drawingml/2006/main">
            <a:off x="1249680" y="1554480"/>
            <a:ext cx="75590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12" name="Text 10">
            <a:extLst xmlns:a="http://schemas.openxmlformats.org/drawingml/2006/main">
              <a:ext uri="{FF2B5EF4-FFF2-40B4-BE49-F238E27FC236}">
                <a16:creationId xmlns:a16="http://schemas.microsoft.com/office/drawing/2014/main" id="{94C0C0A8-8211-4531-B0AA-DF9A3C77C322}"/>
              </a:ext>
            </a:extLst>
          </p:cNvPr>
          <p:cNvSpPr>
            <a:spLocks xmlns:a="http://schemas.openxmlformats.org/drawingml/2006/main" noGrp="1"/>
          </p:cNvSpPr>
          <p:nvPr/>
        </p:nvSpPr>
        <p:spPr>
          <a:xfrm xmlns:a="http://schemas.openxmlformats.org/drawingml/2006/main">
            <a:off x="1249680" y="1554480"/>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Name</a:t>
            </a:r>
            <a:endParaRPr sz="900"/>
          </a:p>
        </p:txBody>
      </p:sp>
      <p:sp>
        <p:nvSpPr>
          <p:cNvPr id="13" name="Shape 11">
            <a:extLst xmlns:a="http://schemas.openxmlformats.org/drawingml/2006/main">
              <a:ext uri="{FF2B5EF4-FFF2-40B4-BE49-F238E27FC236}">
                <a16:creationId xmlns:a16="http://schemas.microsoft.com/office/drawing/2014/main" id="{15B8409E-D38C-43A8-B6AC-D099EAD756AB}"/>
              </a:ext>
            </a:extLst>
          </p:cNvPr>
          <p:cNvSpPr>
            <a:spLocks xmlns:a="http://schemas.openxmlformats.org/drawingml/2006/main" noGrp="1"/>
          </p:cNvSpPr>
          <p:nvPr/>
        </p:nvSpPr>
        <p:spPr>
          <a:xfrm xmlns:a="http://schemas.openxmlformats.org/drawingml/2006/main">
            <a:off x="1249680" y="1901952"/>
            <a:ext cx="75590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14" name="Text 12">
            <a:extLst xmlns:a="http://schemas.openxmlformats.org/drawingml/2006/main">
              <a:ext uri="{FF2B5EF4-FFF2-40B4-BE49-F238E27FC236}">
                <a16:creationId xmlns:a16="http://schemas.microsoft.com/office/drawing/2014/main" id="{B92BFA41-D340-48C1-8C75-CCE43F043C3B}"/>
              </a:ext>
            </a:extLst>
          </p:cNvPr>
          <p:cNvSpPr>
            <a:spLocks xmlns:a="http://schemas.openxmlformats.org/drawingml/2006/main" noGrp="1"/>
          </p:cNvSpPr>
          <p:nvPr/>
        </p:nvSpPr>
        <p:spPr>
          <a:xfrm xmlns:a="http://schemas.openxmlformats.org/drawingml/2006/main">
            <a:off x="1249680" y="1901952"/>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15" name="Shape 13">
            <a:extLst xmlns:a="http://schemas.openxmlformats.org/drawingml/2006/main">
              <a:ext uri="{FF2B5EF4-FFF2-40B4-BE49-F238E27FC236}">
                <a16:creationId xmlns:a16="http://schemas.microsoft.com/office/drawing/2014/main" id="{C28FC99C-F18A-466C-AA95-C4A8FF0C62B3}"/>
              </a:ext>
            </a:extLst>
          </p:cNvPr>
          <p:cNvSpPr>
            <a:spLocks xmlns:a="http://schemas.openxmlformats.org/drawingml/2006/main" noGrp="1"/>
          </p:cNvSpPr>
          <p:nvPr/>
        </p:nvSpPr>
        <p:spPr>
          <a:xfrm xmlns:a="http://schemas.openxmlformats.org/drawingml/2006/main">
            <a:off x="2042160" y="1554480"/>
            <a:ext cx="75590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16" name="Text 14">
            <a:extLst xmlns:a="http://schemas.openxmlformats.org/drawingml/2006/main">
              <a:ext uri="{FF2B5EF4-FFF2-40B4-BE49-F238E27FC236}">
                <a16:creationId xmlns:a16="http://schemas.microsoft.com/office/drawing/2014/main" id="{BBD3ED52-4D56-4180-BBD0-3FB87622BD41}"/>
              </a:ext>
            </a:extLst>
          </p:cNvPr>
          <p:cNvSpPr>
            <a:spLocks xmlns:a="http://schemas.openxmlformats.org/drawingml/2006/main" noGrp="1"/>
          </p:cNvSpPr>
          <p:nvPr/>
        </p:nvSpPr>
        <p:spPr>
          <a:xfrm xmlns:a="http://schemas.openxmlformats.org/drawingml/2006/main">
            <a:off x="2042160" y="1554480"/>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Amount</a:t>
            </a:r>
            <a:endParaRPr sz="900"/>
          </a:p>
        </p:txBody>
      </p:sp>
      <p:sp>
        <p:nvSpPr>
          <p:cNvPr id="17" name="Shape 15">
            <a:extLst xmlns:a="http://schemas.openxmlformats.org/drawingml/2006/main">
              <a:ext uri="{FF2B5EF4-FFF2-40B4-BE49-F238E27FC236}">
                <a16:creationId xmlns:a16="http://schemas.microsoft.com/office/drawing/2014/main" id="{7C10E3DA-AAB4-454A-B9B3-DAB949F72FF7}"/>
              </a:ext>
            </a:extLst>
          </p:cNvPr>
          <p:cNvSpPr>
            <a:spLocks xmlns:a="http://schemas.openxmlformats.org/drawingml/2006/main" noGrp="1"/>
          </p:cNvSpPr>
          <p:nvPr/>
        </p:nvSpPr>
        <p:spPr>
          <a:xfrm xmlns:a="http://schemas.openxmlformats.org/drawingml/2006/main">
            <a:off x="2042160" y="1901952"/>
            <a:ext cx="75590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18" name="Text 16">
            <a:extLst xmlns:a="http://schemas.openxmlformats.org/drawingml/2006/main">
              <a:ext uri="{FF2B5EF4-FFF2-40B4-BE49-F238E27FC236}">
                <a16:creationId xmlns:a16="http://schemas.microsoft.com/office/drawing/2014/main" id="{E52CE8BD-BCF2-42CD-98BE-0B41846C9CA3}"/>
              </a:ext>
            </a:extLst>
          </p:cNvPr>
          <p:cNvSpPr>
            <a:spLocks xmlns:a="http://schemas.openxmlformats.org/drawingml/2006/main" noGrp="1"/>
          </p:cNvSpPr>
          <p:nvPr/>
        </p:nvSpPr>
        <p:spPr>
          <a:xfrm xmlns:a="http://schemas.openxmlformats.org/drawingml/2006/main">
            <a:off x="2042160" y="1901952"/>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19" name="Shape 17">
            <a:extLst xmlns:a="http://schemas.openxmlformats.org/drawingml/2006/main">
              <a:ext uri="{FF2B5EF4-FFF2-40B4-BE49-F238E27FC236}">
                <a16:creationId xmlns:a16="http://schemas.microsoft.com/office/drawing/2014/main" id="{4B663801-D2F2-40D1-B482-841702BB5D47}"/>
              </a:ext>
            </a:extLst>
          </p:cNvPr>
          <p:cNvSpPr>
            <a:spLocks xmlns:a="http://schemas.openxmlformats.org/drawingml/2006/main" noGrp="1"/>
          </p:cNvSpPr>
          <p:nvPr/>
        </p:nvSpPr>
        <p:spPr>
          <a:xfrm xmlns:a="http://schemas.openxmlformats.org/drawingml/2006/main">
            <a:off x="3200400" y="1234440"/>
            <a:ext cx="2560320" cy="1014984"/>
          </a:xfrm>
          <a:prstGeom xmlns:a="http://schemas.openxmlformats.org/drawingml/2006/main" prst="rect">
            <a:avLst/>
          </a:prstGeom>
          <a:solidFill xmlns:a="http://schemas.openxmlformats.org/drawingml/2006/main">
            <a:srgbClr val="1E2A3B"/>
          </a:solidFill>
          <a:ln xmlns:a="http://schemas.openxmlformats.org/drawingml/2006/main" w="19050">
            <a:solidFill>
              <a:srgbClr val="F59E0B"/>
            </a:solidFill>
            <a:prstDash val="solid"/>
          </a:ln>
          <a:effectLst xmlns:a="http://schemas.openxmlformats.org/drawingml/2006/main">
            <a:outerShdw blurRad="76200" dist="38100" dir="8100000" algn="bl" rotWithShape="0">
              <a:srgbClr val="000000">
                <a:alpha val="20000"/>
              </a:srgbClr>
            </a:outerShdw>
          </a:effectLst>
        </p:spPr>
      </p:sp>
      <p:sp>
        <p:nvSpPr>
          <p:cNvPr id="20" name="Shape 18">
            <a:extLst xmlns:a="http://schemas.openxmlformats.org/drawingml/2006/main">
              <a:ext uri="{FF2B5EF4-FFF2-40B4-BE49-F238E27FC236}">
                <a16:creationId xmlns:a16="http://schemas.microsoft.com/office/drawing/2014/main" id="{7D81DE40-D695-40C4-9F4F-C754D188AD9D}"/>
              </a:ext>
            </a:extLst>
          </p:cNvPr>
          <p:cNvSpPr>
            <a:spLocks xmlns:a="http://schemas.openxmlformats.org/drawingml/2006/main" noGrp="1"/>
          </p:cNvSpPr>
          <p:nvPr/>
        </p:nvSpPr>
        <p:spPr>
          <a:xfrm xmlns:a="http://schemas.openxmlformats.org/drawingml/2006/main">
            <a:off x="3200400" y="1234440"/>
            <a:ext cx="2560320" cy="320040"/>
          </a:xfrm>
          <a:prstGeom xmlns:a="http://schemas.openxmlformats.org/drawingml/2006/main" prst="rect">
            <a:avLst/>
          </a:prstGeom>
          <a:solidFill xmlns:a="http://schemas.openxmlformats.org/drawingml/2006/main">
            <a:srgbClr val="162032"/>
          </a:solidFill>
          <a:ln xmlns:a="http://schemas.openxmlformats.org/drawingml/2006/main" w="12700">
            <a:solidFill>
              <a:srgbClr val="F59E0B"/>
            </a:solidFill>
            <a:prstDash val="solid"/>
          </a:ln>
        </p:spPr>
      </p:sp>
      <p:sp>
        <p:nvSpPr>
          <p:cNvPr id="21" name="Text 19">
            <a:extLst xmlns:a="http://schemas.openxmlformats.org/drawingml/2006/main">
              <a:ext uri="{FF2B5EF4-FFF2-40B4-BE49-F238E27FC236}">
                <a16:creationId xmlns:a16="http://schemas.microsoft.com/office/drawing/2014/main" id="{CC5EC5A2-C1FD-4170-B94A-1AF3B3F42B47}"/>
              </a:ext>
            </a:extLst>
          </p:cNvPr>
          <p:cNvSpPr>
            <a:spLocks xmlns:a="http://schemas.openxmlformats.org/drawingml/2006/main" noGrp="1"/>
          </p:cNvSpPr>
          <p:nvPr/>
        </p:nvSpPr>
        <p:spPr>
          <a:xfrm xmlns:a="http://schemas.openxmlformats.org/drawingml/2006/main">
            <a:off x="3291840" y="1234440"/>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F59E0B"/>
                </a:solidFill>
                <a:latin typeface="Trebuchet MS"/>
                <a:ea typeface="Trebuchet MS"/>
                <a:cs typeface="Trebuchet MS"/>
              </a:rPr>
              <a:t>File B  (shuffled!)</a:t>
            </a:r>
            <a:endParaRPr sz="950"/>
          </a:p>
        </p:txBody>
      </p:sp>
      <p:sp>
        <p:nvSpPr>
          <p:cNvPr id="22" name="Shape 20">
            <a:extLst xmlns:a="http://schemas.openxmlformats.org/drawingml/2006/main">
              <a:ext uri="{FF2B5EF4-FFF2-40B4-BE49-F238E27FC236}">
                <a16:creationId xmlns:a16="http://schemas.microsoft.com/office/drawing/2014/main" id="{BCFE65CE-68CA-447A-9A15-A874C5133091}"/>
              </a:ext>
            </a:extLst>
          </p:cNvPr>
          <p:cNvSpPr>
            <a:spLocks xmlns:a="http://schemas.openxmlformats.org/drawingml/2006/main" noGrp="1"/>
          </p:cNvSpPr>
          <p:nvPr/>
        </p:nvSpPr>
        <p:spPr>
          <a:xfrm xmlns:a="http://schemas.openxmlformats.org/drawingml/2006/main">
            <a:off x="3291840" y="1554480"/>
            <a:ext cx="75590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23" name="Text 21">
            <a:extLst xmlns:a="http://schemas.openxmlformats.org/drawingml/2006/main">
              <a:ext uri="{FF2B5EF4-FFF2-40B4-BE49-F238E27FC236}">
                <a16:creationId xmlns:a16="http://schemas.microsoft.com/office/drawing/2014/main" id="{F1ECC992-F67F-45CA-828E-E707BACC3EC9}"/>
              </a:ext>
            </a:extLst>
          </p:cNvPr>
          <p:cNvSpPr>
            <a:spLocks xmlns:a="http://schemas.openxmlformats.org/drawingml/2006/main" noGrp="1"/>
          </p:cNvSpPr>
          <p:nvPr/>
        </p:nvSpPr>
        <p:spPr>
          <a:xfrm xmlns:a="http://schemas.openxmlformats.org/drawingml/2006/main">
            <a:off x="3291840" y="1554480"/>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Amount</a:t>
            </a:r>
            <a:endParaRPr sz="900"/>
          </a:p>
        </p:txBody>
      </p:sp>
      <p:sp>
        <p:nvSpPr>
          <p:cNvPr id="24" name="Shape 22">
            <a:extLst xmlns:a="http://schemas.openxmlformats.org/drawingml/2006/main">
              <a:ext uri="{FF2B5EF4-FFF2-40B4-BE49-F238E27FC236}">
                <a16:creationId xmlns:a16="http://schemas.microsoft.com/office/drawing/2014/main" id="{B77EC77B-DAD9-49A3-AC7B-0D02BABC5972}"/>
              </a:ext>
            </a:extLst>
          </p:cNvPr>
          <p:cNvSpPr>
            <a:spLocks xmlns:a="http://schemas.openxmlformats.org/drawingml/2006/main" noGrp="1"/>
          </p:cNvSpPr>
          <p:nvPr/>
        </p:nvSpPr>
        <p:spPr>
          <a:xfrm xmlns:a="http://schemas.openxmlformats.org/drawingml/2006/main">
            <a:off x="3291840" y="1901952"/>
            <a:ext cx="75590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25" name="Text 23">
            <a:extLst xmlns:a="http://schemas.openxmlformats.org/drawingml/2006/main">
              <a:ext uri="{FF2B5EF4-FFF2-40B4-BE49-F238E27FC236}">
                <a16:creationId xmlns:a16="http://schemas.microsoft.com/office/drawing/2014/main" id="{3E900694-6829-41E6-9351-DD781AE98412}"/>
              </a:ext>
            </a:extLst>
          </p:cNvPr>
          <p:cNvSpPr>
            <a:spLocks xmlns:a="http://schemas.openxmlformats.org/drawingml/2006/main" noGrp="1"/>
          </p:cNvSpPr>
          <p:nvPr/>
        </p:nvSpPr>
        <p:spPr>
          <a:xfrm xmlns:a="http://schemas.openxmlformats.org/drawingml/2006/main">
            <a:off x="3291840" y="1901952"/>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26" name="Shape 24">
            <a:extLst xmlns:a="http://schemas.openxmlformats.org/drawingml/2006/main">
              <a:ext uri="{FF2B5EF4-FFF2-40B4-BE49-F238E27FC236}">
                <a16:creationId xmlns:a16="http://schemas.microsoft.com/office/drawing/2014/main" id="{EE4454ED-A651-47A1-B583-DA487E9E2220}"/>
              </a:ext>
            </a:extLst>
          </p:cNvPr>
          <p:cNvSpPr>
            <a:spLocks xmlns:a="http://schemas.openxmlformats.org/drawingml/2006/main" noGrp="1"/>
          </p:cNvSpPr>
          <p:nvPr/>
        </p:nvSpPr>
        <p:spPr>
          <a:xfrm xmlns:a="http://schemas.openxmlformats.org/drawingml/2006/main">
            <a:off x="4084320" y="1554480"/>
            <a:ext cx="75590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27" name="Text 25">
            <a:extLst xmlns:a="http://schemas.openxmlformats.org/drawingml/2006/main">
              <a:ext uri="{FF2B5EF4-FFF2-40B4-BE49-F238E27FC236}">
                <a16:creationId xmlns:a16="http://schemas.microsoft.com/office/drawing/2014/main" id="{869BCD68-F733-4A10-95B4-C1B2740727B5}"/>
              </a:ext>
            </a:extLst>
          </p:cNvPr>
          <p:cNvSpPr>
            <a:spLocks xmlns:a="http://schemas.openxmlformats.org/drawingml/2006/main" noGrp="1"/>
          </p:cNvSpPr>
          <p:nvPr/>
        </p:nvSpPr>
        <p:spPr>
          <a:xfrm xmlns:a="http://schemas.openxmlformats.org/drawingml/2006/main">
            <a:off x="4084320" y="1554480"/>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ID</a:t>
            </a:r>
            <a:endParaRPr sz="900"/>
          </a:p>
        </p:txBody>
      </p:sp>
      <p:sp>
        <p:nvSpPr>
          <p:cNvPr id="28" name="Shape 26">
            <a:extLst xmlns:a="http://schemas.openxmlformats.org/drawingml/2006/main">
              <a:ext uri="{FF2B5EF4-FFF2-40B4-BE49-F238E27FC236}">
                <a16:creationId xmlns:a16="http://schemas.microsoft.com/office/drawing/2014/main" id="{96FBA153-5113-4D97-9797-B2FB9AF55466}"/>
              </a:ext>
            </a:extLst>
          </p:cNvPr>
          <p:cNvSpPr>
            <a:spLocks xmlns:a="http://schemas.openxmlformats.org/drawingml/2006/main" noGrp="1"/>
          </p:cNvSpPr>
          <p:nvPr/>
        </p:nvSpPr>
        <p:spPr>
          <a:xfrm xmlns:a="http://schemas.openxmlformats.org/drawingml/2006/main">
            <a:off x="4084320" y="1901952"/>
            <a:ext cx="75590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29" name="Text 27">
            <a:extLst xmlns:a="http://schemas.openxmlformats.org/drawingml/2006/main">
              <a:ext uri="{FF2B5EF4-FFF2-40B4-BE49-F238E27FC236}">
                <a16:creationId xmlns:a16="http://schemas.microsoft.com/office/drawing/2014/main" id="{EAA368C5-C02E-406D-A316-163F9DC18EFF}"/>
              </a:ext>
            </a:extLst>
          </p:cNvPr>
          <p:cNvSpPr>
            <a:spLocks xmlns:a="http://schemas.openxmlformats.org/drawingml/2006/main" noGrp="1"/>
          </p:cNvSpPr>
          <p:nvPr/>
        </p:nvSpPr>
        <p:spPr>
          <a:xfrm xmlns:a="http://schemas.openxmlformats.org/drawingml/2006/main">
            <a:off x="4084320" y="1901952"/>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30" name="Shape 28">
            <a:extLst xmlns:a="http://schemas.openxmlformats.org/drawingml/2006/main">
              <a:ext uri="{FF2B5EF4-FFF2-40B4-BE49-F238E27FC236}">
                <a16:creationId xmlns:a16="http://schemas.microsoft.com/office/drawing/2014/main" id="{C21A7E13-8860-4AA5-8EC6-DBD14E2E2575}"/>
              </a:ext>
            </a:extLst>
          </p:cNvPr>
          <p:cNvSpPr>
            <a:spLocks xmlns:a="http://schemas.openxmlformats.org/drawingml/2006/main" noGrp="1"/>
          </p:cNvSpPr>
          <p:nvPr/>
        </p:nvSpPr>
        <p:spPr>
          <a:xfrm xmlns:a="http://schemas.openxmlformats.org/drawingml/2006/main">
            <a:off x="4876800" y="1554480"/>
            <a:ext cx="75590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31" name="Text 29">
            <a:extLst xmlns:a="http://schemas.openxmlformats.org/drawingml/2006/main">
              <a:ext uri="{FF2B5EF4-FFF2-40B4-BE49-F238E27FC236}">
                <a16:creationId xmlns:a16="http://schemas.microsoft.com/office/drawing/2014/main" id="{31099DBA-19A0-4D95-9ECC-904145786953}"/>
              </a:ext>
            </a:extLst>
          </p:cNvPr>
          <p:cNvSpPr>
            <a:spLocks xmlns:a="http://schemas.openxmlformats.org/drawingml/2006/main" noGrp="1"/>
          </p:cNvSpPr>
          <p:nvPr/>
        </p:nvSpPr>
        <p:spPr>
          <a:xfrm xmlns:a="http://schemas.openxmlformats.org/drawingml/2006/main">
            <a:off x="4876800" y="1554480"/>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Name</a:t>
            </a:r>
            <a:endParaRPr sz="900"/>
          </a:p>
        </p:txBody>
      </p:sp>
      <p:sp>
        <p:nvSpPr>
          <p:cNvPr id="32" name="Shape 30">
            <a:extLst xmlns:a="http://schemas.openxmlformats.org/drawingml/2006/main">
              <a:ext uri="{FF2B5EF4-FFF2-40B4-BE49-F238E27FC236}">
                <a16:creationId xmlns:a16="http://schemas.microsoft.com/office/drawing/2014/main" id="{115683DA-19E4-411E-A720-59D2BD21CB3A}"/>
              </a:ext>
            </a:extLst>
          </p:cNvPr>
          <p:cNvSpPr>
            <a:spLocks xmlns:a="http://schemas.openxmlformats.org/drawingml/2006/main" noGrp="1"/>
          </p:cNvSpPr>
          <p:nvPr/>
        </p:nvSpPr>
        <p:spPr>
          <a:xfrm xmlns:a="http://schemas.openxmlformats.org/drawingml/2006/main">
            <a:off x="4876800" y="1901952"/>
            <a:ext cx="75590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33" name="Text 31">
            <a:extLst xmlns:a="http://schemas.openxmlformats.org/drawingml/2006/main">
              <a:ext uri="{FF2B5EF4-FFF2-40B4-BE49-F238E27FC236}">
                <a16:creationId xmlns:a16="http://schemas.microsoft.com/office/drawing/2014/main" id="{D6F52FE5-159F-4A03-AB9E-85D910B29520}"/>
              </a:ext>
            </a:extLst>
          </p:cNvPr>
          <p:cNvSpPr>
            <a:spLocks xmlns:a="http://schemas.openxmlformats.org/drawingml/2006/main" noGrp="1"/>
          </p:cNvSpPr>
          <p:nvPr/>
        </p:nvSpPr>
        <p:spPr>
          <a:xfrm xmlns:a="http://schemas.openxmlformats.org/drawingml/2006/main">
            <a:off x="4876800" y="1901952"/>
            <a:ext cx="755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34" name="Text 32">
            <a:extLst xmlns:a="http://schemas.openxmlformats.org/drawingml/2006/main">
              <a:ext uri="{FF2B5EF4-FFF2-40B4-BE49-F238E27FC236}">
                <a16:creationId xmlns:a16="http://schemas.microsoft.com/office/drawing/2014/main" id="{F1320F42-46DF-4CDC-856D-173AF3AFA43E}"/>
              </a:ext>
            </a:extLst>
          </p:cNvPr>
          <p:cNvSpPr>
            <a:spLocks xmlns:a="http://schemas.openxmlformats.org/drawingml/2006/main" noGrp="1"/>
          </p:cNvSpPr>
          <p:nvPr/>
        </p:nvSpPr>
        <p:spPr>
          <a:xfrm xmlns:a="http://schemas.openxmlformats.org/drawingml/2006/main">
            <a:off x="4069080" y="2240280"/>
            <a:ext cx="1005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a:solidFill>
                  <a:srgbClr val="2563EB"/>
                </a:solidFill>
                <a:latin typeface="Arial Black"/>
                <a:ea typeface="Arial Black"/>
                <a:cs typeface="Arial Black"/>
              </a:rPr>
              <a:t>↓</a:t>
            </a:r>
            <a:endParaRPr sz="3200"/>
          </a:p>
        </p:txBody>
      </p:sp>
      <p:sp>
        <p:nvSpPr>
          <p:cNvPr id="35" name="Shape 33">
            <a:extLst xmlns:a="http://schemas.openxmlformats.org/drawingml/2006/main">
              <a:ext uri="{FF2B5EF4-FFF2-40B4-BE49-F238E27FC236}">
                <a16:creationId xmlns:a16="http://schemas.microsoft.com/office/drawing/2014/main" id="{9728D365-9AC7-439F-BE23-752272739021}"/>
              </a:ext>
            </a:extLst>
          </p:cNvPr>
          <p:cNvSpPr>
            <a:spLocks xmlns:a="http://schemas.openxmlformats.org/drawingml/2006/main" noGrp="1"/>
          </p:cNvSpPr>
          <p:nvPr/>
        </p:nvSpPr>
        <p:spPr>
          <a:xfrm xmlns:a="http://schemas.openxmlformats.org/drawingml/2006/main">
            <a:off x="3200400" y="2816352"/>
            <a:ext cx="2743200" cy="502920"/>
          </a:xfrm>
          <a:prstGeom xmlns:a="http://schemas.openxmlformats.org/drawingml/2006/main" prst="rect">
            <a:avLst/>
          </a:prstGeom>
          <a:solidFill xmlns:a="http://schemas.openxmlformats.org/drawingml/2006/main">
            <a:srgbClr val="2563EB"/>
          </a:solidFill>
          <a:ln xmlns:a="http://schemas.openxmlformats.org/drawingml/2006/main" w="19050">
            <a:solidFill>
              <a:srgbClr val="3B82F6"/>
            </a:solidFill>
            <a:prstDash val="solid"/>
          </a:ln>
          <a:effectLst xmlns:a="http://schemas.openxmlformats.org/drawingml/2006/main">
            <a:outerShdw blurRad="127000" dist="38100" dir="8100000" algn="bl" rotWithShape="0">
              <a:srgbClr val="000000">
                <a:alpha val="30000"/>
              </a:srgbClr>
            </a:outerShdw>
          </a:effectLst>
        </p:spPr>
      </p:sp>
      <p:pic>
        <p:nvPicPr>
          <p:cNvPr id="104" name="Image 0"/>
          <p:cNvPicPr>
            <a:picLocks xmlns:a="http://schemas.openxmlformats.org/drawingml/2006/main" noChangeAspect="1"/>
          </p:cNvPicPr>
          <p:nvPr/>
        </p:nvPicPr>
        <p:blipFill>
          <a:blip xmlns:r="http://schemas.openxmlformats.org/officeDocument/2006/relationships" xmlns:a="http://schemas.openxmlformats.org/drawingml/2006/main" r:embed="Rcce6115ef0dc4518"/>
          <a:stretch xmlns:a="http://schemas.openxmlformats.org/drawingml/2006/main">
            <a:fillRect l="0" t="0" r="0" b="0"/>
          </a:stretch>
        </p:blipFill>
        <p:spPr>
          <a:xfrm xmlns:a="http://schemas.openxmlformats.org/drawingml/2006/main">
            <a:off x="3364992" y="2880360"/>
            <a:ext cx="365760" cy="36576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F4A5B79A-2C3C-4DBB-A1C2-45422F133DB8}"/>
              </a:ext>
            </a:extLst>
          </p:cNvPr>
          <p:cNvSpPr>
            <a:spLocks xmlns:a="http://schemas.openxmlformats.org/drawingml/2006/main" noGrp="1"/>
          </p:cNvSpPr>
          <p:nvPr/>
        </p:nvSpPr>
        <p:spPr>
          <a:xfrm xmlns:a="http://schemas.openxmlformats.org/drawingml/2006/main">
            <a:off x="3803904" y="2816352"/>
            <a:ext cx="2011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Arial Black"/>
                <a:ea typeface="Arial Black"/>
                <a:cs typeface="Arial Black"/>
              </a:rPr>
              <a:t>MergeGuru — Schema Alignment</a:t>
            </a:r>
            <a:endParaRPr sz="1100"/>
          </a:p>
        </p:txBody>
      </p:sp>
      <p:sp>
        <p:nvSpPr>
          <p:cNvPr id="38" name="Text 35">
            <a:extLst xmlns:a="http://schemas.openxmlformats.org/drawingml/2006/main">
              <a:ext uri="{FF2B5EF4-FFF2-40B4-BE49-F238E27FC236}">
                <a16:creationId xmlns:a16="http://schemas.microsoft.com/office/drawing/2014/main" id="{CEB1431E-99DD-4705-97E0-DAA85D267BED}"/>
              </a:ext>
            </a:extLst>
          </p:cNvPr>
          <p:cNvSpPr>
            <a:spLocks xmlns:a="http://schemas.openxmlformats.org/drawingml/2006/main" noGrp="1"/>
          </p:cNvSpPr>
          <p:nvPr/>
        </p:nvSpPr>
        <p:spPr>
          <a:xfrm xmlns:a="http://schemas.openxmlformats.org/drawingml/2006/main">
            <a:off x="4069080" y="3337560"/>
            <a:ext cx="1005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a:solidFill>
                  <a:srgbClr val="10B981"/>
                </a:solidFill>
                <a:latin typeface="Arial Black"/>
                <a:ea typeface="Arial Black"/>
                <a:cs typeface="Arial Black"/>
              </a:rPr>
              <a:t>↓</a:t>
            </a:r>
            <a:endParaRPr sz="3200"/>
          </a:p>
        </p:txBody>
      </p:sp>
      <p:sp>
        <p:nvSpPr>
          <p:cNvPr id="39" name="Shape 36">
            <a:extLst xmlns:a="http://schemas.openxmlformats.org/drawingml/2006/main">
              <a:ext uri="{FF2B5EF4-FFF2-40B4-BE49-F238E27FC236}">
                <a16:creationId xmlns:a16="http://schemas.microsoft.com/office/drawing/2014/main" id="{71F8F726-2EDE-4EAA-B433-FBEC06DDA5DB}"/>
              </a:ext>
            </a:extLst>
          </p:cNvPr>
          <p:cNvSpPr>
            <a:spLocks xmlns:a="http://schemas.openxmlformats.org/drawingml/2006/main" noGrp="1"/>
          </p:cNvSpPr>
          <p:nvPr/>
        </p:nvSpPr>
        <p:spPr>
          <a:xfrm xmlns:a="http://schemas.openxmlformats.org/drawingml/2006/main">
            <a:off x="3200400" y="3858768"/>
            <a:ext cx="2743200" cy="1014984"/>
          </a:xfrm>
          <a:prstGeom xmlns:a="http://schemas.openxmlformats.org/drawingml/2006/main" prst="rect">
            <a:avLst/>
          </a:prstGeom>
          <a:solidFill xmlns:a="http://schemas.openxmlformats.org/drawingml/2006/main">
            <a:srgbClr val="1E2A3B"/>
          </a:solidFill>
          <a:ln xmlns:a="http://schemas.openxmlformats.org/drawingml/2006/main" w="19050">
            <a:solidFill>
              <a:srgbClr val="10B981"/>
            </a:solidFill>
            <a:prstDash val="solid"/>
          </a:ln>
          <a:effectLst xmlns:a="http://schemas.openxmlformats.org/drawingml/2006/main">
            <a:outerShdw blurRad="76200" dist="38100" dir="8100000" algn="bl" rotWithShape="0">
              <a:srgbClr val="000000">
                <a:alpha val="20000"/>
              </a:srgbClr>
            </a:outerShdw>
          </a:effectLst>
        </p:spPr>
      </p:sp>
      <p:sp>
        <p:nvSpPr>
          <p:cNvPr id="40" name="Shape 37">
            <a:extLst xmlns:a="http://schemas.openxmlformats.org/drawingml/2006/main">
              <a:ext uri="{FF2B5EF4-FFF2-40B4-BE49-F238E27FC236}">
                <a16:creationId xmlns:a16="http://schemas.microsoft.com/office/drawing/2014/main" id="{D40F6573-1B7B-4159-BBC6-C9A9E851CC60}"/>
              </a:ext>
            </a:extLst>
          </p:cNvPr>
          <p:cNvSpPr>
            <a:spLocks xmlns:a="http://schemas.openxmlformats.org/drawingml/2006/main" noGrp="1"/>
          </p:cNvSpPr>
          <p:nvPr/>
        </p:nvSpPr>
        <p:spPr>
          <a:xfrm xmlns:a="http://schemas.openxmlformats.org/drawingml/2006/main">
            <a:off x="3200400" y="3858768"/>
            <a:ext cx="2743200" cy="320040"/>
          </a:xfrm>
          <a:prstGeom xmlns:a="http://schemas.openxmlformats.org/drawingml/2006/main" prst="rect">
            <a:avLst/>
          </a:prstGeom>
          <a:solidFill xmlns:a="http://schemas.openxmlformats.org/drawingml/2006/main">
            <a:srgbClr val="162032"/>
          </a:solidFill>
          <a:ln xmlns:a="http://schemas.openxmlformats.org/drawingml/2006/main" w="12700">
            <a:solidFill>
              <a:srgbClr val="10B981"/>
            </a:solidFill>
            <a:prstDash val="solid"/>
          </a:ln>
        </p:spPr>
      </p:sp>
      <p:sp>
        <p:nvSpPr>
          <p:cNvPr id="41" name="Text 38">
            <a:extLst xmlns:a="http://schemas.openxmlformats.org/drawingml/2006/main">
              <a:ext uri="{FF2B5EF4-FFF2-40B4-BE49-F238E27FC236}">
                <a16:creationId xmlns:a16="http://schemas.microsoft.com/office/drawing/2014/main" id="{BA3495CC-43D6-4B5C-B116-F521CF55FF15}"/>
              </a:ext>
            </a:extLst>
          </p:cNvPr>
          <p:cNvSpPr>
            <a:spLocks xmlns:a="http://schemas.openxmlformats.org/drawingml/2006/main" noGrp="1"/>
          </p:cNvSpPr>
          <p:nvPr/>
        </p:nvSpPr>
        <p:spPr>
          <a:xfrm xmlns:a="http://schemas.openxmlformats.org/drawingml/2006/main">
            <a:off x="3291840" y="3858768"/>
            <a:ext cx="2651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0B981"/>
                </a:solidFill>
                <a:latin typeface="Trebuchet MS"/>
                <a:ea typeface="Trebuchet MS"/>
                <a:cs typeface="Trebuchet MS"/>
              </a:rPr>
              <a:t>✅  Aligned output</a:t>
            </a:r>
            <a:endParaRPr sz="950"/>
          </a:p>
        </p:txBody>
      </p:sp>
      <p:sp>
        <p:nvSpPr>
          <p:cNvPr id="42" name="Shape 39">
            <a:extLst xmlns:a="http://schemas.openxmlformats.org/drawingml/2006/main">
              <a:ext uri="{FF2B5EF4-FFF2-40B4-BE49-F238E27FC236}">
                <a16:creationId xmlns:a16="http://schemas.microsoft.com/office/drawing/2014/main" id="{E80ABE4A-BAE5-4D9B-B32E-CCD7F88DA00E}"/>
              </a:ext>
            </a:extLst>
          </p:cNvPr>
          <p:cNvSpPr>
            <a:spLocks xmlns:a="http://schemas.openxmlformats.org/drawingml/2006/main" noGrp="1"/>
          </p:cNvSpPr>
          <p:nvPr/>
        </p:nvSpPr>
        <p:spPr>
          <a:xfrm xmlns:a="http://schemas.openxmlformats.org/drawingml/2006/main">
            <a:off x="3291840" y="4178808"/>
            <a:ext cx="81686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43" name="Text 40">
            <a:extLst xmlns:a="http://schemas.openxmlformats.org/drawingml/2006/main">
              <a:ext uri="{FF2B5EF4-FFF2-40B4-BE49-F238E27FC236}">
                <a16:creationId xmlns:a16="http://schemas.microsoft.com/office/drawing/2014/main" id="{0E8F6A2A-A267-4080-B00E-17656F51BF0A}"/>
              </a:ext>
            </a:extLst>
          </p:cNvPr>
          <p:cNvSpPr>
            <a:spLocks xmlns:a="http://schemas.openxmlformats.org/drawingml/2006/main" noGrp="1"/>
          </p:cNvSpPr>
          <p:nvPr/>
        </p:nvSpPr>
        <p:spPr>
          <a:xfrm xmlns:a="http://schemas.openxmlformats.org/drawingml/2006/main">
            <a:off x="3291840" y="4178808"/>
            <a:ext cx="81686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ID</a:t>
            </a:r>
            <a:endParaRPr sz="900"/>
          </a:p>
        </p:txBody>
      </p:sp>
      <p:sp>
        <p:nvSpPr>
          <p:cNvPr id="44" name="Shape 41">
            <a:extLst xmlns:a="http://schemas.openxmlformats.org/drawingml/2006/main">
              <a:ext uri="{FF2B5EF4-FFF2-40B4-BE49-F238E27FC236}">
                <a16:creationId xmlns:a16="http://schemas.microsoft.com/office/drawing/2014/main" id="{A7C9D5AC-27A5-4CE9-8844-F5EDB54EC5F0}"/>
              </a:ext>
            </a:extLst>
          </p:cNvPr>
          <p:cNvSpPr>
            <a:spLocks xmlns:a="http://schemas.openxmlformats.org/drawingml/2006/main" noGrp="1"/>
          </p:cNvSpPr>
          <p:nvPr/>
        </p:nvSpPr>
        <p:spPr>
          <a:xfrm xmlns:a="http://schemas.openxmlformats.org/drawingml/2006/main">
            <a:off x="3291840" y="4526280"/>
            <a:ext cx="81686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45" name="Text 42">
            <a:extLst xmlns:a="http://schemas.openxmlformats.org/drawingml/2006/main">
              <a:ext uri="{FF2B5EF4-FFF2-40B4-BE49-F238E27FC236}">
                <a16:creationId xmlns:a16="http://schemas.microsoft.com/office/drawing/2014/main" id="{DADAB17B-599B-4FE6-A99C-7246334A232E}"/>
              </a:ext>
            </a:extLst>
          </p:cNvPr>
          <p:cNvSpPr>
            <a:spLocks xmlns:a="http://schemas.openxmlformats.org/drawingml/2006/main" noGrp="1"/>
          </p:cNvSpPr>
          <p:nvPr/>
        </p:nvSpPr>
        <p:spPr>
          <a:xfrm xmlns:a="http://schemas.openxmlformats.org/drawingml/2006/main">
            <a:off x="3291840" y="4526280"/>
            <a:ext cx="81686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46" name="Shape 43">
            <a:extLst xmlns:a="http://schemas.openxmlformats.org/drawingml/2006/main">
              <a:ext uri="{FF2B5EF4-FFF2-40B4-BE49-F238E27FC236}">
                <a16:creationId xmlns:a16="http://schemas.microsoft.com/office/drawing/2014/main" id="{FF8551EC-F0F6-4703-8636-DC1526F0BCA9}"/>
              </a:ext>
            </a:extLst>
          </p:cNvPr>
          <p:cNvSpPr>
            <a:spLocks xmlns:a="http://schemas.openxmlformats.org/drawingml/2006/main" noGrp="1"/>
          </p:cNvSpPr>
          <p:nvPr/>
        </p:nvSpPr>
        <p:spPr>
          <a:xfrm xmlns:a="http://schemas.openxmlformats.org/drawingml/2006/main">
            <a:off x="4145280" y="4178808"/>
            <a:ext cx="81686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47" name="Text 44">
            <a:extLst xmlns:a="http://schemas.openxmlformats.org/drawingml/2006/main">
              <a:ext uri="{FF2B5EF4-FFF2-40B4-BE49-F238E27FC236}">
                <a16:creationId xmlns:a16="http://schemas.microsoft.com/office/drawing/2014/main" id="{D8E557E9-239A-49C0-B7D5-C16A570A29BB}"/>
              </a:ext>
            </a:extLst>
          </p:cNvPr>
          <p:cNvSpPr>
            <a:spLocks xmlns:a="http://schemas.openxmlformats.org/drawingml/2006/main" noGrp="1"/>
          </p:cNvSpPr>
          <p:nvPr/>
        </p:nvSpPr>
        <p:spPr>
          <a:xfrm xmlns:a="http://schemas.openxmlformats.org/drawingml/2006/main">
            <a:off x="4145280" y="4178808"/>
            <a:ext cx="81686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Name</a:t>
            </a:r>
            <a:endParaRPr sz="900"/>
          </a:p>
        </p:txBody>
      </p:sp>
      <p:sp>
        <p:nvSpPr>
          <p:cNvPr id="48" name="Shape 45">
            <a:extLst xmlns:a="http://schemas.openxmlformats.org/drawingml/2006/main">
              <a:ext uri="{FF2B5EF4-FFF2-40B4-BE49-F238E27FC236}">
                <a16:creationId xmlns:a16="http://schemas.microsoft.com/office/drawing/2014/main" id="{101A0536-CA2E-4F7B-8F66-6221FEF0505D}"/>
              </a:ext>
            </a:extLst>
          </p:cNvPr>
          <p:cNvSpPr>
            <a:spLocks xmlns:a="http://schemas.openxmlformats.org/drawingml/2006/main" noGrp="1"/>
          </p:cNvSpPr>
          <p:nvPr/>
        </p:nvSpPr>
        <p:spPr>
          <a:xfrm xmlns:a="http://schemas.openxmlformats.org/drawingml/2006/main">
            <a:off x="4145280" y="4526280"/>
            <a:ext cx="81686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49" name="Text 46">
            <a:extLst xmlns:a="http://schemas.openxmlformats.org/drawingml/2006/main">
              <a:ext uri="{FF2B5EF4-FFF2-40B4-BE49-F238E27FC236}">
                <a16:creationId xmlns:a16="http://schemas.microsoft.com/office/drawing/2014/main" id="{6BBA0AED-E853-477D-9D30-8698C3915381}"/>
              </a:ext>
            </a:extLst>
          </p:cNvPr>
          <p:cNvSpPr>
            <a:spLocks xmlns:a="http://schemas.openxmlformats.org/drawingml/2006/main" noGrp="1"/>
          </p:cNvSpPr>
          <p:nvPr/>
        </p:nvSpPr>
        <p:spPr>
          <a:xfrm xmlns:a="http://schemas.openxmlformats.org/drawingml/2006/main">
            <a:off x="4145280" y="4526280"/>
            <a:ext cx="81686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50" name="Shape 47">
            <a:extLst xmlns:a="http://schemas.openxmlformats.org/drawingml/2006/main">
              <a:ext uri="{FF2B5EF4-FFF2-40B4-BE49-F238E27FC236}">
                <a16:creationId xmlns:a16="http://schemas.microsoft.com/office/drawing/2014/main" id="{06033507-0EB0-4AD9-A74D-07A56943B90F}"/>
              </a:ext>
            </a:extLst>
          </p:cNvPr>
          <p:cNvSpPr>
            <a:spLocks xmlns:a="http://schemas.openxmlformats.org/drawingml/2006/main" noGrp="1"/>
          </p:cNvSpPr>
          <p:nvPr/>
        </p:nvSpPr>
        <p:spPr>
          <a:xfrm xmlns:a="http://schemas.openxmlformats.org/drawingml/2006/main">
            <a:off x="4998720" y="4178808"/>
            <a:ext cx="816864" cy="310896"/>
          </a:xfrm>
          <a:prstGeom xmlns:a="http://schemas.openxmlformats.org/drawingml/2006/main" prst="rect">
            <a:avLst/>
          </a:prstGeom>
          <a:solidFill xmlns:a="http://schemas.openxmlformats.org/drawingml/2006/main">
            <a:srgbClr val="243348"/>
          </a:solidFill>
          <a:ln xmlns:a="http://schemas.openxmlformats.org/drawingml/2006/main" w="3810">
            <a:solidFill>
              <a:srgbClr val="475569"/>
            </a:solidFill>
            <a:prstDash val="solid"/>
          </a:ln>
        </p:spPr>
      </p:sp>
      <p:sp>
        <p:nvSpPr>
          <p:cNvPr id="51" name="Text 48">
            <a:extLst xmlns:a="http://schemas.openxmlformats.org/drawingml/2006/main">
              <a:ext uri="{FF2B5EF4-FFF2-40B4-BE49-F238E27FC236}">
                <a16:creationId xmlns:a16="http://schemas.microsoft.com/office/drawing/2014/main" id="{77DD9643-C6CB-4354-AE20-682F298F681E}"/>
              </a:ext>
            </a:extLst>
          </p:cNvPr>
          <p:cNvSpPr>
            <a:spLocks xmlns:a="http://schemas.openxmlformats.org/drawingml/2006/main" noGrp="1"/>
          </p:cNvSpPr>
          <p:nvPr/>
        </p:nvSpPr>
        <p:spPr>
          <a:xfrm xmlns:a="http://schemas.openxmlformats.org/drawingml/2006/main">
            <a:off x="4998720" y="4178808"/>
            <a:ext cx="81686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1F5F9"/>
                </a:solidFill>
                <a:latin typeface="Consolas"/>
                <a:ea typeface="Consolas"/>
                <a:cs typeface="Consolas"/>
              </a:rPr>
              <a:t>Amount</a:t>
            </a:r>
            <a:endParaRPr sz="900"/>
          </a:p>
        </p:txBody>
      </p:sp>
      <p:sp>
        <p:nvSpPr>
          <p:cNvPr id="52" name="Shape 49">
            <a:extLst xmlns:a="http://schemas.openxmlformats.org/drawingml/2006/main">
              <a:ext uri="{FF2B5EF4-FFF2-40B4-BE49-F238E27FC236}">
                <a16:creationId xmlns:a16="http://schemas.microsoft.com/office/drawing/2014/main" id="{0C043A2E-F01D-494F-B42E-966202BBBB1E}"/>
              </a:ext>
            </a:extLst>
          </p:cNvPr>
          <p:cNvSpPr>
            <a:spLocks xmlns:a="http://schemas.openxmlformats.org/drawingml/2006/main" noGrp="1"/>
          </p:cNvSpPr>
          <p:nvPr/>
        </p:nvSpPr>
        <p:spPr>
          <a:xfrm xmlns:a="http://schemas.openxmlformats.org/drawingml/2006/main">
            <a:off x="4998720" y="4526280"/>
            <a:ext cx="816864" cy="310896"/>
          </a:xfrm>
          <a:prstGeom xmlns:a="http://schemas.openxmlformats.org/drawingml/2006/main" prst="rect">
            <a:avLst/>
          </a:prstGeom>
          <a:solidFill xmlns:a="http://schemas.openxmlformats.org/drawingml/2006/main">
            <a:srgbClr val="162032"/>
          </a:solidFill>
          <a:ln xmlns:a="http://schemas.openxmlformats.org/drawingml/2006/main" w="3810">
            <a:solidFill>
              <a:srgbClr val="475569"/>
            </a:solidFill>
            <a:prstDash val="solid"/>
          </a:ln>
        </p:spPr>
      </p:sp>
      <p:sp>
        <p:nvSpPr>
          <p:cNvPr id="53" name="Text 50">
            <a:extLst xmlns:a="http://schemas.openxmlformats.org/drawingml/2006/main">
              <a:ext uri="{FF2B5EF4-FFF2-40B4-BE49-F238E27FC236}">
                <a16:creationId xmlns:a16="http://schemas.microsoft.com/office/drawing/2014/main" id="{4D59C305-FBEA-415B-BFF2-80C8F187675C}"/>
              </a:ext>
            </a:extLst>
          </p:cNvPr>
          <p:cNvSpPr>
            <a:spLocks xmlns:a="http://schemas.openxmlformats.org/drawingml/2006/main" noGrp="1"/>
          </p:cNvSpPr>
          <p:nvPr/>
        </p:nvSpPr>
        <p:spPr>
          <a:xfrm xmlns:a="http://schemas.openxmlformats.org/drawingml/2006/main">
            <a:off x="4998720" y="4526280"/>
            <a:ext cx="81686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475569"/>
                </a:solidFill>
                <a:latin typeface="Consolas"/>
                <a:ea typeface="Consolas"/>
                <a:cs typeface="Consolas"/>
              </a:rPr>
              <a:t>—</a:t>
            </a:r>
            <a:endParaRPr sz="800"/>
          </a:p>
        </p:txBody>
      </p:sp>
      <p:sp>
        <p:nvSpPr>
          <p:cNvPr id="54" name="Text 51">
            <a:extLst xmlns:a="http://schemas.openxmlformats.org/drawingml/2006/main">
              <a:ext uri="{FF2B5EF4-FFF2-40B4-BE49-F238E27FC236}">
                <a16:creationId xmlns:a16="http://schemas.microsoft.com/office/drawing/2014/main" id="{73AF6562-E900-4457-B568-9E22AB225ECB}"/>
              </a:ext>
            </a:extLst>
          </p:cNvPr>
          <p:cNvSpPr>
            <a:spLocks xmlns:a="http://schemas.openxmlformats.org/drawingml/2006/main" noGrp="1"/>
          </p:cNvSpPr>
          <p:nvPr/>
        </p:nvSpPr>
        <p:spPr>
          <a:xfrm xmlns:a="http://schemas.openxmlformats.org/drawingml/2006/main">
            <a:off x="6126480" y="1234440"/>
            <a:ext cx="27432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94A3B8"/>
                </a:solidFill>
                <a:latin typeface="Trebuchet MS"/>
                <a:ea typeface="Trebuchet MS"/>
                <a:cs typeface="Trebuchet MS"/>
              </a:rPr>
              <a:t>What the engine catches</a:t>
            </a:r>
            <a:endParaRPr sz="1100"/>
          </a:p>
        </p:txBody>
      </p:sp>
      <p:sp>
        <p:nvSpPr>
          <p:cNvPr id="55" name="Shape 52">
            <a:extLst xmlns:a="http://schemas.openxmlformats.org/drawingml/2006/main">
              <a:ext uri="{FF2B5EF4-FFF2-40B4-BE49-F238E27FC236}">
                <a16:creationId xmlns:a16="http://schemas.microsoft.com/office/drawing/2014/main" id="{FE00B6A7-0E9A-4BE0-8F2E-7CCC9A5CAE1A}"/>
              </a:ext>
            </a:extLst>
          </p:cNvPr>
          <p:cNvSpPr>
            <a:spLocks xmlns:a="http://schemas.openxmlformats.org/drawingml/2006/main" noGrp="1"/>
          </p:cNvSpPr>
          <p:nvPr/>
        </p:nvSpPr>
        <p:spPr>
          <a:xfrm xmlns:a="http://schemas.openxmlformats.org/drawingml/2006/main">
            <a:off x="6181344" y="1691640"/>
            <a:ext cx="182880" cy="18288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56" name="Text 53">
            <a:extLst xmlns:a="http://schemas.openxmlformats.org/drawingml/2006/main">
              <a:ext uri="{FF2B5EF4-FFF2-40B4-BE49-F238E27FC236}">
                <a16:creationId xmlns:a16="http://schemas.microsoft.com/office/drawing/2014/main" id="{880D5BBA-E83C-4137-B107-996943BAED2D}"/>
              </a:ext>
            </a:extLst>
          </p:cNvPr>
          <p:cNvSpPr>
            <a:spLocks xmlns:a="http://schemas.openxmlformats.org/drawingml/2006/main" noGrp="1"/>
          </p:cNvSpPr>
          <p:nvPr/>
        </p:nvSpPr>
        <p:spPr>
          <a:xfrm xmlns:a="http://schemas.openxmlformats.org/drawingml/2006/main">
            <a:off x="6455664" y="1664208"/>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Shuffled column order</a:t>
            </a:r>
            <a:endParaRPr sz="1050"/>
          </a:p>
        </p:txBody>
      </p:sp>
      <p:sp>
        <p:nvSpPr>
          <p:cNvPr id="57" name="Shape 54">
            <a:extLst xmlns:a="http://schemas.openxmlformats.org/drawingml/2006/main">
              <a:ext uri="{FF2B5EF4-FFF2-40B4-BE49-F238E27FC236}">
                <a16:creationId xmlns:a16="http://schemas.microsoft.com/office/drawing/2014/main" id="{6D96B50D-C5B9-434A-BD8D-54156D551910}"/>
              </a:ext>
            </a:extLst>
          </p:cNvPr>
          <p:cNvSpPr>
            <a:spLocks xmlns:a="http://schemas.openxmlformats.org/drawingml/2006/main" noGrp="1"/>
          </p:cNvSpPr>
          <p:nvPr/>
        </p:nvSpPr>
        <p:spPr>
          <a:xfrm xmlns:a="http://schemas.openxmlformats.org/drawingml/2006/main">
            <a:off x="6181344" y="2167128"/>
            <a:ext cx="182880" cy="18288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58" name="Text 55">
            <a:extLst xmlns:a="http://schemas.openxmlformats.org/drawingml/2006/main">
              <a:ext uri="{FF2B5EF4-FFF2-40B4-BE49-F238E27FC236}">
                <a16:creationId xmlns:a16="http://schemas.microsoft.com/office/drawing/2014/main" id="{63665B03-16F5-4F9E-8A2D-326313205731}"/>
              </a:ext>
            </a:extLst>
          </p:cNvPr>
          <p:cNvSpPr>
            <a:spLocks xmlns:a="http://schemas.openxmlformats.org/drawingml/2006/main" noGrp="1"/>
          </p:cNvSpPr>
          <p:nvPr/>
        </p:nvSpPr>
        <p:spPr>
          <a:xfrm xmlns:a="http://schemas.openxmlformats.org/drawingml/2006/main">
            <a:off x="6455664" y="213969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Duplicate column names</a:t>
            </a:r>
            <a:endParaRPr sz="1050"/>
          </a:p>
        </p:txBody>
      </p:sp>
      <p:sp>
        <p:nvSpPr>
          <p:cNvPr id="59" name="Shape 56">
            <a:extLst xmlns:a="http://schemas.openxmlformats.org/drawingml/2006/main">
              <a:ext uri="{FF2B5EF4-FFF2-40B4-BE49-F238E27FC236}">
                <a16:creationId xmlns:a16="http://schemas.microsoft.com/office/drawing/2014/main" id="{F3A24AF8-895E-4C8F-80C9-0F66885664C6}"/>
              </a:ext>
            </a:extLst>
          </p:cNvPr>
          <p:cNvSpPr>
            <a:spLocks xmlns:a="http://schemas.openxmlformats.org/drawingml/2006/main" noGrp="1"/>
          </p:cNvSpPr>
          <p:nvPr/>
        </p:nvSpPr>
        <p:spPr>
          <a:xfrm xmlns:a="http://schemas.openxmlformats.org/drawingml/2006/main">
            <a:off x="6181344" y="2642616"/>
            <a:ext cx="182880" cy="18288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60" name="Text 57">
            <a:extLst xmlns:a="http://schemas.openxmlformats.org/drawingml/2006/main">
              <a:ext uri="{FF2B5EF4-FFF2-40B4-BE49-F238E27FC236}">
                <a16:creationId xmlns:a16="http://schemas.microsoft.com/office/drawing/2014/main" id="{C1A150E1-0F75-4BC2-B13F-732645ECCBFE}"/>
              </a:ext>
            </a:extLst>
          </p:cNvPr>
          <p:cNvSpPr>
            <a:spLocks xmlns:a="http://schemas.openxmlformats.org/drawingml/2006/main" noGrp="1"/>
          </p:cNvSpPr>
          <p:nvPr/>
        </p:nvSpPr>
        <p:spPr>
          <a:xfrm xmlns:a="http://schemas.openxmlformats.org/drawingml/2006/main">
            <a:off x="6455664" y="2615184"/>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Missing required columns</a:t>
            </a:r>
            <a:endParaRPr sz="1050"/>
          </a:p>
        </p:txBody>
      </p:sp>
      <p:sp>
        <p:nvSpPr>
          <p:cNvPr id="61" name="Shape 58">
            <a:extLst xmlns:a="http://schemas.openxmlformats.org/drawingml/2006/main">
              <a:ext uri="{FF2B5EF4-FFF2-40B4-BE49-F238E27FC236}">
                <a16:creationId xmlns:a16="http://schemas.microsoft.com/office/drawing/2014/main" id="{2AFF4337-2FF2-4418-8BD7-C3ED5EC02000}"/>
              </a:ext>
            </a:extLst>
          </p:cNvPr>
          <p:cNvSpPr>
            <a:spLocks xmlns:a="http://schemas.openxmlformats.org/drawingml/2006/main" noGrp="1"/>
          </p:cNvSpPr>
          <p:nvPr/>
        </p:nvSpPr>
        <p:spPr>
          <a:xfrm xmlns:a="http://schemas.openxmlformats.org/drawingml/2006/main">
            <a:off x="6181344" y="3118104"/>
            <a:ext cx="182880" cy="18288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62" name="Text 59">
            <a:extLst xmlns:a="http://schemas.openxmlformats.org/drawingml/2006/main">
              <a:ext uri="{FF2B5EF4-FFF2-40B4-BE49-F238E27FC236}">
                <a16:creationId xmlns:a16="http://schemas.microsoft.com/office/drawing/2014/main" id="{76583C35-4473-45EF-9D8D-1AB2E33BF302}"/>
              </a:ext>
            </a:extLst>
          </p:cNvPr>
          <p:cNvSpPr>
            <a:spLocks xmlns:a="http://schemas.openxmlformats.org/drawingml/2006/main" noGrp="1"/>
          </p:cNvSpPr>
          <p:nvPr/>
        </p:nvSpPr>
        <p:spPr>
          <a:xfrm xmlns:a="http://schemas.openxmlformats.org/drawingml/2006/main">
            <a:off x="6455664" y="3090672"/>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Optional extra columns</a:t>
            </a:r>
            <a:endParaRPr sz="1050"/>
          </a:p>
        </p:txBody>
      </p:sp>
      <p:sp>
        <p:nvSpPr>
          <p:cNvPr id="63" name="Shape 60">
            <a:extLst xmlns:a="http://schemas.openxmlformats.org/drawingml/2006/main">
              <a:ext uri="{FF2B5EF4-FFF2-40B4-BE49-F238E27FC236}">
                <a16:creationId xmlns:a16="http://schemas.microsoft.com/office/drawing/2014/main" id="{EDF911B5-0ACE-4913-979F-D16C93D170FA}"/>
              </a:ext>
            </a:extLst>
          </p:cNvPr>
          <p:cNvSpPr>
            <a:spLocks xmlns:a="http://schemas.openxmlformats.org/drawingml/2006/main" noGrp="1"/>
          </p:cNvSpPr>
          <p:nvPr/>
        </p:nvSpPr>
        <p:spPr>
          <a:xfrm xmlns:a="http://schemas.openxmlformats.org/drawingml/2006/main">
            <a:off x="6181344" y="3593592"/>
            <a:ext cx="182880" cy="18288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64" name="Text 61">
            <a:extLst xmlns:a="http://schemas.openxmlformats.org/drawingml/2006/main">
              <a:ext uri="{FF2B5EF4-FFF2-40B4-BE49-F238E27FC236}">
                <a16:creationId xmlns:a16="http://schemas.microsoft.com/office/drawing/2014/main" id="{46F42CA3-D325-4AB6-8CA9-2A939354AF61}"/>
              </a:ext>
            </a:extLst>
          </p:cNvPr>
          <p:cNvSpPr>
            <a:spLocks xmlns:a="http://schemas.openxmlformats.org/drawingml/2006/main" noGrp="1"/>
          </p:cNvSpPr>
          <p:nvPr/>
        </p:nvSpPr>
        <p:spPr>
          <a:xfrm xmlns:a="http://schemas.openxmlformats.org/drawingml/2006/main">
            <a:off x="6455664" y="356616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Whitespace in headers</a:t>
            </a:r>
            <a:endParaRPr sz="1050"/>
          </a:p>
        </p:txBody>
      </p:sp>
      <p:sp>
        <p:nvSpPr>
          <p:cNvPr id="65" name="Shape 62">
            <a:extLst xmlns:a="http://schemas.openxmlformats.org/drawingml/2006/main">
              <a:ext uri="{FF2B5EF4-FFF2-40B4-BE49-F238E27FC236}">
                <a16:creationId xmlns:a16="http://schemas.microsoft.com/office/drawing/2014/main" id="{295AF502-777B-463D-9B58-B0CE050FA05B}"/>
              </a:ext>
            </a:extLst>
          </p:cNvPr>
          <p:cNvSpPr>
            <a:spLocks xmlns:a="http://schemas.openxmlformats.org/drawingml/2006/main" noGrp="1"/>
          </p:cNvSpPr>
          <p:nvPr/>
        </p:nvSpPr>
        <p:spPr>
          <a:xfrm xmlns:a="http://schemas.openxmlformats.org/drawingml/2006/main">
            <a:off x="6181344" y="4069080"/>
            <a:ext cx="182880" cy="18288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66" name="Text 63">
            <a:extLst xmlns:a="http://schemas.openxmlformats.org/drawingml/2006/main">
              <a:ext uri="{FF2B5EF4-FFF2-40B4-BE49-F238E27FC236}">
                <a16:creationId xmlns:a16="http://schemas.microsoft.com/office/drawing/2014/main" id="{B8D5F8C8-EEA8-4A11-8E4C-896BC1C95238}"/>
              </a:ext>
            </a:extLst>
          </p:cNvPr>
          <p:cNvSpPr>
            <a:spLocks xmlns:a="http://schemas.openxmlformats.org/drawingml/2006/main" noGrp="1"/>
          </p:cNvSpPr>
          <p:nvPr/>
        </p:nvSpPr>
        <p:spPr>
          <a:xfrm xmlns:a="http://schemas.openxmlformats.org/drawingml/2006/main">
            <a:off x="6455664" y="4041648"/>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Case differences</a:t>
            </a:r>
            <a:endParaRPr sz="1050"/>
          </a:p>
        </p:txBody>
      </p:sp>
      <p:sp>
        <p:nvSpPr>
          <p:cNvPr id="67" name="Text 23">
            <a:extLst xmlns:a="http://schemas.openxmlformats.org/drawingml/2006/main">
              <a:ext uri="{FF2B5EF4-FFF2-40B4-BE49-F238E27FC236}">
                <a16:creationId xmlns:a16="http://schemas.microsoft.com/office/drawing/2014/main" id="{9BE43388-5BEF-285F-F114-BE6B08655EA1}"/>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pic>
        <p:nvPicPr>
          <p:cNvPr id="136" name="Picture 135"/>
          <p:cNvPicPr>
            <a:picLocks xmlns:a="http://schemas.openxmlformats.org/drawingml/2006/main" noChangeAspect="1"/>
          </p:cNvPicPr>
          <p:nvPr/>
        </p:nvPicPr>
        <p:blipFill>
          <a:blip xmlns:r="http://schemas.openxmlformats.org/officeDocument/2006/relationships" xmlns:a="http://schemas.openxmlformats.org/drawingml/2006/main" r:embed="R361c690326e6404b"/>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976218393"/>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57" name="Text 0">
            <a:extLst xmlns:a="http://schemas.openxmlformats.org/drawingml/2006/main">
              <a:ext uri="{FF2B5EF4-FFF2-40B4-BE49-F238E27FC236}">
                <a16:creationId xmlns:a16="http://schemas.microsoft.com/office/drawing/2014/main" id="{DB0A8B88-2805-55FC-51F7-328EDBB8CE3D}"/>
              </a:ext>
            </a:extLst>
          </p:cNvPr>
          <p:cNvSpPr>
            <a:spLocks xmlns:a="http://schemas.openxmlformats.org/drawingml/2006/main" noGrp="1"/>
          </p:cNvSpPr>
          <p:nvPr/>
        </p:nvSpPr>
        <p:spPr>
          <a:xfrm xmlns:a="http://schemas.openxmlformats.org/drawingml/2006/main">
            <a:off x="457200" y="822449"/>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600" b="1">
                <a:solidFill>
                  <a:srgbClr val="FFFFFF"/>
                </a:solidFill>
                <a:latin typeface="Arial Black"/>
                <a:ea typeface="Arial Black"/>
                <a:cs typeface="Arial Black"/>
              </a:rPr>
              <a:t>Large-File Safeguards</a:t>
            </a:r>
          </a:p>
        </p:txBody>
      </p:sp>
      <p:sp>
        <p:nvSpPr>
          <p:cNvPr id="58" name="Text 1">
            <a:extLst xmlns:a="http://schemas.openxmlformats.org/drawingml/2006/main">
              <a:ext uri="{FF2B5EF4-FFF2-40B4-BE49-F238E27FC236}">
                <a16:creationId xmlns:a16="http://schemas.microsoft.com/office/drawing/2014/main" id="{84732EEB-5330-A51A-D8A9-7843C412597B}"/>
              </a:ext>
            </a:extLst>
          </p:cNvPr>
          <p:cNvSpPr>
            <a:spLocks xmlns:a="http://schemas.openxmlformats.org/drawingml/2006/main" noGrp="1"/>
          </p:cNvSpPr>
          <p:nvPr/>
        </p:nvSpPr>
        <p:spPr>
          <a:xfrm xmlns:a="http://schemas.openxmlformats.org/drawingml/2006/main">
            <a:off x="457200" y="129728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Montserrat"/>
                <a:ea typeface="Montserrat"/>
                <a:cs typeface="Montserrat"/>
              </a:rPr>
              <a:t>Controls for memory, progress and output format.</a:t>
            </a:r>
          </a:p>
        </p:txBody>
      </p:sp>
      <p:sp>
        <p:nvSpPr>
          <p:cNvPr id="60" name="Shape 21">
            <a:extLst xmlns:a="http://schemas.openxmlformats.org/drawingml/2006/main">
              <a:ext uri="{FF2B5EF4-FFF2-40B4-BE49-F238E27FC236}">
                <a16:creationId xmlns:a16="http://schemas.microsoft.com/office/drawing/2014/main" id="{C3A1E049-A5B8-DA2D-606F-4BF43492D3EB}"/>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2563EB"/>
            </a:solidFill>
            <a:prstDash val="dash"/>
          </a:ln>
        </p:spPr>
      </p:sp>
      <p:sp>
        <p:nvSpPr>
          <p:cNvPr id="61" name="Text 22">
            <a:extLst xmlns:a="http://schemas.openxmlformats.org/drawingml/2006/main">
              <a:ext uri="{FF2B5EF4-FFF2-40B4-BE49-F238E27FC236}">
                <a16:creationId xmlns:a16="http://schemas.microsoft.com/office/drawing/2014/main" id="{2D33C466-0C48-EC4D-4AAB-A0534E99EBA7}"/>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50">
                <a:solidFill>
                  <a:srgbClr val="3B82F6"/>
                </a:solidFill>
                <a:latin typeface="Trebuchet MS"/>
                <a:ea typeface="Trebuchet MS"/>
                <a:cs typeface="Trebuchet MS"/>
              </a:rPr>
              <a:t>PERFORMANCE</a:t>
            </a:r>
            <a:endParaRPr sz="850"/>
          </a:p>
        </p:txBody>
      </p:sp>
      <p:sp>
        <p:nvSpPr>
          <p:cNvPr id="62" name="Text 23">
            <a:extLst xmlns:a="http://schemas.openxmlformats.org/drawingml/2006/main">
              <a:ext uri="{FF2B5EF4-FFF2-40B4-BE49-F238E27FC236}">
                <a16:creationId xmlns:a16="http://schemas.microsoft.com/office/drawing/2014/main" id="{19B66725-4A4E-4FE2-7149-36E85BA68816}"/>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81" name="Shape 2">
            <a:extLst xmlns:a="http://schemas.openxmlformats.org/drawingml/2006/main">
              <a:ext uri="{FF2B5EF4-FFF2-40B4-BE49-F238E27FC236}">
                <a16:creationId xmlns:a16="http://schemas.microsoft.com/office/drawing/2014/main" id="{D3C00549-0D3F-2A7E-5C90-FE3FF7152872}"/>
              </a:ext>
            </a:extLst>
          </p:cNvPr>
          <p:cNvSpPr>
            <a:spLocks xmlns:a="http://schemas.openxmlformats.org/drawingml/2006/main" noGrp="1"/>
          </p:cNvSpPr>
          <p:nvPr/>
        </p:nvSpPr>
        <p:spPr>
          <a:xfrm xmlns:a="http://schemas.openxmlformats.org/drawingml/2006/main">
            <a:off x="522805" y="1684357"/>
            <a:ext cx="1808035" cy="1033985"/>
          </a:xfrm>
          <a:prstGeom xmlns:a="http://schemas.openxmlformats.org/drawingml/2006/main" prst="roundRect">
            <a:avLst>
              <a:gd name="adj" fmla="val 6632"/>
            </a:avLst>
          </a:prstGeom>
          <a:solidFill xmlns:a="http://schemas.openxmlformats.org/drawingml/2006/main">
            <a:srgbClr val="1E2A3B"/>
          </a:solidFill>
          <a:ln xmlns:a="http://schemas.openxmlformats.org/drawingml/2006/main" w="6350">
            <a:solidFill>
              <a:srgbClr val="10B981"/>
            </a:solidFill>
            <a:prstDash val="solid"/>
          </a:ln>
          <a:effectLst xmlns:a="http://schemas.openxmlformats.org/drawingml/2006/main">
            <a:outerShdw blurRad="76200" dist="38100" dir="8100000" algn="bl" rotWithShape="0">
              <a:srgbClr val="000000">
                <a:alpha val="30000"/>
              </a:srgbClr>
            </a:outerShdw>
          </a:effectLst>
        </p:spPr>
      </p:sp>
      <p:sp>
        <p:nvSpPr>
          <p:cNvPr id="85" name="Rectangle: Rounded Corners 84">
            <a:extLst xmlns:a="http://schemas.openxmlformats.org/drawingml/2006/main">
              <a:ext uri="{FF2B5EF4-FFF2-40B4-BE49-F238E27FC236}">
                <a16:creationId xmlns:a16="http://schemas.microsoft.com/office/drawing/2014/main" id="{C92457A4-D056-7413-B778-9260F3C84F78}"/>
              </a:ext>
            </a:extLst>
          </p:cNvPr>
          <p:cNvSpPr>
            <a:spLocks xmlns:a="http://schemas.openxmlformats.org/drawingml/2006/main" noGrp="1"/>
          </p:cNvSpPr>
          <p:nvPr/>
        </p:nvSpPr>
        <p:spPr>
          <a:xfrm xmlns:a="http://schemas.openxmlformats.org/drawingml/2006/main">
            <a:off x="594976" y="1752919"/>
            <a:ext cx="281716" cy="281716"/>
          </a:xfrm>
          <a:prstGeom xmlns:a="http://schemas.openxmlformats.org/drawingml/2006/main" prst="roundRect">
            <a:avLst/>
          </a:prstGeom>
          <a:solidFill xmlns:a="http://schemas.openxmlformats.org/drawingml/2006/main">
            <a:srgbClr val="10B98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63" name="Picture 86"/>
          <p:cNvPicPr>
            <a:picLocks xmlns:a="http://schemas.openxmlformats.org/drawingml/2006/main" noChangeAspect="1"/>
          </p:cNvPicPr>
          <p:nvPr/>
        </p:nvPicPr>
        <p:blipFill>
          <a:blip xmlns:r="http://schemas.openxmlformats.org/officeDocument/2006/relationships" xmlns:a="http://schemas.openxmlformats.org/drawingml/2006/main" r:embed="R963b3c138c6844a8"/>
          <a:stretch xmlns:a="http://schemas.openxmlformats.org/drawingml/2006/main">
            <a:fillRect l="0" t="0" r="0" b="0"/>
          </a:stretch>
        </p:blipFill>
        <p:spPr>
          <a:xfrm xmlns:a="http://schemas.openxmlformats.org/drawingml/2006/main">
            <a:off x="635070" y="1791153"/>
            <a:ext cx="201528" cy="201528"/>
          </a:xfrm>
          <a:prstGeom xmlns:a="http://schemas.openxmlformats.org/drawingml/2006/main" prst="rect">
            <a:avLst/>
          </a:prstGeom>
        </p:spPr>
      </p:pic>
      <p:sp>
        <p:nvSpPr>
          <p:cNvPr id="88" name="Text 22">
            <a:extLst xmlns:a="http://schemas.openxmlformats.org/drawingml/2006/main">
              <a:ext uri="{FF2B5EF4-FFF2-40B4-BE49-F238E27FC236}">
                <a16:creationId xmlns:a16="http://schemas.microsoft.com/office/drawing/2014/main" id="{145D9686-519B-C4AC-66D3-72E7F62EBDB6}"/>
              </a:ext>
            </a:extLst>
          </p:cNvPr>
          <p:cNvSpPr>
            <a:spLocks xmlns:a="http://schemas.openxmlformats.org/drawingml/2006/main" noGrp="1"/>
          </p:cNvSpPr>
          <p:nvPr/>
        </p:nvSpPr>
        <p:spPr>
          <a:xfrm xmlns:a="http://schemas.openxmlformats.org/drawingml/2006/main">
            <a:off x="496745" y="2052049"/>
            <a:ext cx="1447078" cy="2280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chemeClr val="bg1"/>
                </a:solidFill>
                <a:latin typeface="Montserrat"/>
                <a:ea typeface="Montserrat"/>
                <a:cs typeface="Montserrat"/>
              </a:rPr>
              <a:t>Memory Safety</a:t>
            </a:r>
          </a:p>
        </p:txBody>
      </p:sp>
      <p:sp>
        <p:nvSpPr>
          <p:cNvPr id="89" name="Text 22">
            <a:extLst xmlns:a="http://schemas.openxmlformats.org/drawingml/2006/main">
              <a:ext uri="{FF2B5EF4-FFF2-40B4-BE49-F238E27FC236}">
                <a16:creationId xmlns:a16="http://schemas.microsoft.com/office/drawing/2014/main" id="{D9A0C2FF-70EE-EDA6-67BF-344D4506CC88}"/>
              </a:ext>
            </a:extLst>
          </p:cNvPr>
          <p:cNvSpPr>
            <a:spLocks xmlns:a="http://schemas.openxmlformats.org/drawingml/2006/main" noGrp="1"/>
          </p:cNvSpPr>
          <p:nvPr/>
        </p:nvSpPr>
        <p:spPr>
          <a:xfrm xmlns:a="http://schemas.openxmlformats.org/drawingml/2006/main">
            <a:off x="613556" y="2262664"/>
            <a:ext cx="1447078" cy="7087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a:solidFill>
                  <a:srgbClr val="10B981"/>
                </a:solidFill>
                <a:latin typeface="Montserrat"/>
                <a:ea typeface="Montserrat"/>
                <a:cs typeface="Montserrat"/>
              </a:rPr>
              <a:t>RAM pre-flight</a:t>
            </a:r>
          </a:p>
        </p:txBody>
      </p:sp>
      <p:sp>
        <p:nvSpPr>
          <p:cNvPr id="90" name="Text 22">
            <a:extLst xmlns:a="http://schemas.openxmlformats.org/drawingml/2006/main">
              <a:ext uri="{FF2B5EF4-FFF2-40B4-BE49-F238E27FC236}">
                <a16:creationId xmlns:a16="http://schemas.microsoft.com/office/drawing/2014/main" id="{9A020FF1-E327-EB5F-ED94-90A24811241C}"/>
              </a:ext>
            </a:extLst>
          </p:cNvPr>
          <p:cNvSpPr>
            <a:spLocks xmlns:a="http://schemas.openxmlformats.org/drawingml/2006/main" noGrp="1"/>
          </p:cNvSpPr>
          <p:nvPr/>
        </p:nvSpPr>
        <p:spPr>
          <a:xfrm xmlns:a="http://schemas.openxmlformats.org/drawingml/2006/main">
            <a:off x="613556" y="2425315"/>
            <a:ext cx="1656931" cy="18021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a:solidFill>
                  <a:schemeClr val="tx1">
                    <a:lumMod val="50000"/>
                    <a:lumOff val="50000"/>
                  </a:schemeClr>
                </a:solidFill>
                <a:latin typeface="Montserrat"/>
                <a:ea typeface="Montserrat"/>
                <a:cs typeface="Montserrat"/>
              </a:rPr>
              <a:t>Warns when estimated memory may exceed available RAM.</a:t>
            </a:r>
          </a:p>
        </p:txBody>
      </p:sp>
      <p:sp>
        <p:nvSpPr>
          <p:cNvPr id="118" name="Shape 2">
            <a:extLst xmlns:a="http://schemas.openxmlformats.org/drawingml/2006/main">
              <a:ext uri="{FF2B5EF4-FFF2-40B4-BE49-F238E27FC236}">
                <a16:creationId xmlns:a16="http://schemas.microsoft.com/office/drawing/2014/main" id="{CA84F188-7A30-8DEA-E3A9-202F9E0940A6}"/>
              </a:ext>
            </a:extLst>
          </p:cNvPr>
          <p:cNvSpPr>
            <a:spLocks xmlns:a="http://schemas.openxmlformats.org/drawingml/2006/main" noGrp="1"/>
          </p:cNvSpPr>
          <p:nvPr/>
        </p:nvSpPr>
        <p:spPr>
          <a:xfrm xmlns:a="http://schemas.openxmlformats.org/drawingml/2006/main">
            <a:off x="2628277" y="1684357"/>
            <a:ext cx="1808035" cy="1033985"/>
          </a:xfrm>
          <a:prstGeom xmlns:a="http://schemas.openxmlformats.org/drawingml/2006/main" prst="roundRect">
            <a:avLst>
              <a:gd name="adj" fmla="val 6632"/>
            </a:avLst>
          </a:prstGeom>
          <a:solidFill xmlns:a="http://schemas.openxmlformats.org/drawingml/2006/main">
            <a:srgbClr val="1E2A3B"/>
          </a:solidFill>
          <a:ln xmlns:a="http://schemas.openxmlformats.org/drawingml/2006/main" w="6350">
            <a:solidFill>
              <a:srgbClr val="6082ED"/>
            </a:solidFill>
            <a:prstDash val="solid"/>
          </a:ln>
          <a:effectLst xmlns:a="http://schemas.openxmlformats.org/drawingml/2006/main">
            <a:outerShdw blurRad="76200" dist="38100" dir="8100000" algn="bl" rotWithShape="0">
              <a:srgbClr val="000000">
                <a:alpha val="30000"/>
              </a:srgbClr>
            </a:outerShdw>
          </a:effectLst>
        </p:spPr>
      </p:sp>
      <p:sp>
        <p:nvSpPr>
          <p:cNvPr id="119" name="Rectangle: Rounded Corners 118">
            <a:extLst xmlns:a="http://schemas.openxmlformats.org/drawingml/2006/main">
              <a:ext uri="{FF2B5EF4-FFF2-40B4-BE49-F238E27FC236}">
                <a16:creationId xmlns:a16="http://schemas.microsoft.com/office/drawing/2014/main" id="{4923EC38-F5EE-90EF-6156-96A70F48BE15}"/>
              </a:ext>
            </a:extLst>
          </p:cNvPr>
          <p:cNvSpPr>
            <a:spLocks xmlns:a="http://schemas.openxmlformats.org/drawingml/2006/main" noGrp="1"/>
          </p:cNvSpPr>
          <p:nvPr/>
        </p:nvSpPr>
        <p:spPr>
          <a:xfrm xmlns:a="http://schemas.openxmlformats.org/drawingml/2006/main">
            <a:off x="2700448" y="1752919"/>
            <a:ext cx="281716" cy="281716"/>
          </a:xfrm>
          <a:prstGeom xmlns:a="http://schemas.openxmlformats.org/drawingml/2006/main" prst="roundRect">
            <a:avLst/>
          </a:prstGeom>
          <a:solidFill xmlns:a="http://schemas.openxmlformats.org/drawingml/2006/main">
            <a:srgbClr val="6082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69" name="Picture 119"/>
          <p:cNvPicPr>
            <a:picLocks xmlns:a="http://schemas.openxmlformats.org/drawingml/2006/main" noChangeAspect="1"/>
          </p:cNvPicPr>
          <p:nvPr/>
        </p:nvPicPr>
        <p:blipFill>
          <a:blip xmlns:r="http://schemas.openxmlformats.org/officeDocument/2006/relationships" xmlns:a="http://schemas.openxmlformats.org/drawingml/2006/main" r:embed="R3e9ad50cbbc94dbd"/>
          <a:srcRect xmlns:a="http://schemas.openxmlformats.org/drawingml/2006/main" l="0" t="0" r="0" b="0"/>
          <a:stretch xmlns:a="http://schemas.openxmlformats.org/drawingml/2006/main"/>
        </p:blipFill>
        <p:spPr>
          <a:xfrm xmlns:a="http://schemas.openxmlformats.org/drawingml/2006/main">
            <a:off x="2740542" y="1791153"/>
            <a:ext cx="201528" cy="201528"/>
          </a:xfrm>
          <a:prstGeom xmlns:a="http://schemas.openxmlformats.org/drawingml/2006/main" prst="rect">
            <a:avLst/>
          </a:prstGeom>
        </p:spPr>
      </p:pic>
      <p:sp>
        <p:nvSpPr>
          <p:cNvPr id="121" name="Text 22">
            <a:extLst xmlns:a="http://schemas.openxmlformats.org/drawingml/2006/main">
              <a:ext uri="{FF2B5EF4-FFF2-40B4-BE49-F238E27FC236}">
                <a16:creationId xmlns:a16="http://schemas.microsoft.com/office/drawing/2014/main" id="{54225841-32FC-5C78-6BFE-5ACBC25A1FCE}"/>
              </a:ext>
            </a:extLst>
          </p:cNvPr>
          <p:cNvSpPr>
            <a:spLocks xmlns:a="http://schemas.openxmlformats.org/drawingml/2006/main" noGrp="1"/>
          </p:cNvSpPr>
          <p:nvPr/>
        </p:nvSpPr>
        <p:spPr>
          <a:xfrm xmlns:a="http://schemas.openxmlformats.org/drawingml/2006/main">
            <a:off x="2602217" y="2052049"/>
            <a:ext cx="1447078" cy="2280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chemeClr val="bg1"/>
                </a:solidFill>
                <a:latin typeface="Montserrat"/>
                <a:ea typeface="Montserrat"/>
                <a:cs typeface="Montserrat"/>
              </a:rPr>
              <a:t>Rolling Concat</a:t>
            </a:r>
          </a:p>
        </p:txBody>
      </p:sp>
      <p:sp>
        <p:nvSpPr>
          <p:cNvPr id="122" name="Text 22">
            <a:extLst xmlns:a="http://schemas.openxmlformats.org/drawingml/2006/main">
              <a:ext uri="{FF2B5EF4-FFF2-40B4-BE49-F238E27FC236}">
                <a16:creationId xmlns:a16="http://schemas.microsoft.com/office/drawing/2014/main" id="{E37D4425-B7FD-B68E-42DE-F5C2833A3B99}"/>
              </a:ext>
            </a:extLst>
          </p:cNvPr>
          <p:cNvSpPr>
            <a:spLocks xmlns:a="http://schemas.openxmlformats.org/drawingml/2006/main" noGrp="1"/>
          </p:cNvSpPr>
          <p:nvPr/>
        </p:nvSpPr>
        <p:spPr>
          <a:xfrm xmlns:a="http://schemas.openxmlformats.org/drawingml/2006/main">
            <a:off x="2719028" y="2262664"/>
            <a:ext cx="1447078" cy="7087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a:solidFill>
                  <a:srgbClr val="6082ED"/>
                </a:solidFill>
                <a:latin typeface="Montserrat"/>
                <a:ea typeface="Montserrat"/>
                <a:cs typeface="Montserrat"/>
              </a:rPr>
              <a:t>10-frame batching</a:t>
            </a:r>
          </a:p>
        </p:txBody>
      </p:sp>
      <p:sp>
        <p:nvSpPr>
          <p:cNvPr id="123" name="Text 22">
            <a:extLst xmlns:a="http://schemas.openxmlformats.org/drawingml/2006/main">
              <a:ext uri="{FF2B5EF4-FFF2-40B4-BE49-F238E27FC236}">
                <a16:creationId xmlns:a16="http://schemas.microsoft.com/office/drawing/2014/main" id="{DCDA7D72-2C94-DF93-F6CD-84A2D23983BB}"/>
              </a:ext>
            </a:extLst>
          </p:cNvPr>
          <p:cNvSpPr>
            <a:spLocks xmlns:a="http://schemas.openxmlformats.org/drawingml/2006/main" noGrp="1"/>
          </p:cNvSpPr>
          <p:nvPr/>
        </p:nvSpPr>
        <p:spPr>
          <a:xfrm xmlns:a="http://schemas.openxmlformats.org/drawingml/2006/main">
            <a:off x="2719028" y="2425315"/>
            <a:ext cx="1656931" cy="18021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a:solidFill>
                  <a:schemeClr val="tx1">
                    <a:lumMod val="50000"/>
                    <a:lumOff val="50000"/>
                  </a:schemeClr>
                </a:solidFill>
                <a:latin typeface="Montserrat"/>
                <a:ea typeface="Montserrat"/>
                <a:cs typeface="Montserrat"/>
              </a:rPr>
              <a:t>Reduces peak RAM during final concatenation.</a:t>
            </a:r>
          </a:p>
        </p:txBody>
      </p:sp>
      <p:sp>
        <p:nvSpPr>
          <p:cNvPr id="125" name="Shape 2">
            <a:extLst xmlns:a="http://schemas.openxmlformats.org/drawingml/2006/main">
              <a:ext uri="{FF2B5EF4-FFF2-40B4-BE49-F238E27FC236}">
                <a16:creationId xmlns:a16="http://schemas.microsoft.com/office/drawing/2014/main" id="{0F4C6B60-6469-1190-104F-DAD02E4C71AE}"/>
              </a:ext>
            </a:extLst>
          </p:cNvPr>
          <p:cNvSpPr>
            <a:spLocks xmlns:a="http://schemas.openxmlformats.org/drawingml/2006/main" noGrp="1"/>
          </p:cNvSpPr>
          <p:nvPr/>
        </p:nvSpPr>
        <p:spPr>
          <a:xfrm xmlns:a="http://schemas.openxmlformats.org/drawingml/2006/main">
            <a:off x="4733749" y="1684357"/>
            <a:ext cx="1808035" cy="1033985"/>
          </a:xfrm>
          <a:prstGeom xmlns:a="http://schemas.openxmlformats.org/drawingml/2006/main" prst="roundRect">
            <a:avLst>
              <a:gd name="adj" fmla="val 6632"/>
            </a:avLst>
          </a:prstGeom>
          <a:solidFill xmlns:a="http://schemas.openxmlformats.org/drawingml/2006/main">
            <a:srgbClr val="1E2A3B"/>
          </a:solidFill>
          <a:ln xmlns:a="http://schemas.openxmlformats.org/drawingml/2006/main" w="6350">
            <a:solidFill>
              <a:srgbClr val="8760ED"/>
            </a:solidFill>
            <a:prstDash val="solid"/>
          </a:ln>
          <a:effectLst xmlns:a="http://schemas.openxmlformats.org/drawingml/2006/main">
            <a:outerShdw blurRad="76200" dist="38100" dir="8100000" algn="bl" rotWithShape="0">
              <a:srgbClr val="000000">
                <a:alpha val="30000"/>
              </a:srgbClr>
            </a:outerShdw>
          </a:effectLst>
        </p:spPr>
        <p:txBody>
          <a:bodyPr xmlns:a="http://schemas.openxmlformats.org/drawingml/2006/main"/>
          <a:lstStyle xmlns:a="http://schemas.openxmlformats.org/drawingml/2006/main"/>
          <a:p xmlns:a="http://schemas.openxmlformats.org/drawingml/2006/main">
            <a:endParaRPr/>
          </a:p>
        </p:txBody>
      </p:sp>
      <p:sp>
        <p:nvSpPr>
          <p:cNvPr id="126" name="Rectangle: Rounded Corners 125">
            <a:extLst xmlns:a="http://schemas.openxmlformats.org/drawingml/2006/main">
              <a:ext uri="{FF2B5EF4-FFF2-40B4-BE49-F238E27FC236}">
                <a16:creationId xmlns:a16="http://schemas.microsoft.com/office/drawing/2014/main" id="{4D7DFE32-33C8-3233-3FFC-821B452C72D9}"/>
              </a:ext>
            </a:extLst>
          </p:cNvPr>
          <p:cNvSpPr>
            <a:spLocks xmlns:a="http://schemas.openxmlformats.org/drawingml/2006/main" noGrp="1"/>
          </p:cNvSpPr>
          <p:nvPr/>
        </p:nvSpPr>
        <p:spPr>
          <a:xfrm xmlns:a="http://schemas.openxmlformats.org/drawingml/2006/main">
            <a:off x="4805920" y="1752919"/>
            <a:ext cx="281716" cy="281716"/>
          </a:xfrm>
          <a:prstGeom xmlns:a="http://schemas.openxmlformats.org/drawingml/2006/main" prst="roundRect">
            <a:avLst/>
          </a:prstGeom>
          <a:solidFill xmlns:a="http://schemas.openxmlformats.org/drawingml/2006/main">
            <a:srgbClr val="8760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75" name="Picture 126"/>
          <p:cNvPicPr>
            <a:picLocks xmlns:a="http://schemas.openxmlformats.org/drawingml/2006/main" noChangeAspect="1"/>
          </p:cNvPicPr>
          <p:nvPr/>
        </p:nvPicPr>
        <p:blipFill>
          <a:blip xmlns:r="http://schemas.openxmlformats.org/officeDocument/2006/relationships" xmlns:a="http://schemas.openxmlformats.org/drawingml/2006/main" r:embed="R949260839955498b"/>
          <a:srcRect xmlns:a="http://schemas.openxmlformats.org/drawingml/2006/main" l="0" t="0" r="0" b="0"/>
          <a:stretch xmlns:a="http://schemas.openxmlformats.org/drawingml/2006/main"/>
        </p:blipFill>
        <p:spPr>
          <a:xfrm xmlns:a="http://schemas.openxmlformats.org/drawingml/2006/main">
            <a:off x="4846014" y="1791153"/>
            <a:ext cx="201528" cy="201528"/>
          </a:xfrm>
          <a:prstGeom xmlns:a="http://schemas.openxmlformats.org/drawingml/2006/main" prst="rect">
            <a:avLst/>
          </a:prstGeom>
        </p:spPr>
      </p:pic>
      <p:sp>
        <p:nvSpPr>
          <p:cNvPr id="128" name="Text 22">
            <a:extLst xmlns:a="http://schemas.openxmlformats.org/drawingml/2006/main">
              <a:ext uri="{FF2B5EF4-FFF2-40B4-BE49-F238E27FC236}">
                <a16:creationId xmlns:a16="http://schemas.microsoft.com/office/drawing/2014/main" id="{2D3B078D-EAC6-215D-1CB3-C7530296A0FE}"/>
              </a:ext>
            </a:extLst>
          </p:cNvPr>
          <p:cNvSpPr>
            <a:spLocks xmlns:a="http://schemas.openxmlformats.org/drawingml/2006/main" noGrp="1"/>
          </p:cNvSpPr>
          <p:nvPr/>
        </p:nvSpPr>
        <p:spPr>
          <a:xfrm xmlns:a="http://schemas.openxmlformats.org/drawingml/2006/main">
            <a:off x="4813609" y="2052049"/>
            <a:ext cx="1447078" cy="2280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bg1"/>
                </a:solidFill>
                <a:latin typeface="Montserrat"/>
                <a:ea typeface="Montserrat"/>
                <a:cs typeface="Montserrat"/>
              </a:rPr>
              <a:t>Chunked Export</a:t>
            </a:r>
          </a:p>
        </p:txBody>
      </p:sp>
      <p:sp>
        <p:nvSpPr>
          <p:cNvPr id="129" name="Text 22">
            <a:extLst xmlns:a="http://schemas.openxmlformats.org/drawingml/2006/main">
              <a:ext uri="{FF2B5EF4-FFF2-40B4-BE49-F238E27FC236}">
                <a16:creationId xmlns:a16="http://schemas.microsoft.com/office/drawing/2014/main" id="{3A36D586-6678-AE6F-F985-AF7178D3C3E6}"/>
              </a:ext>
            </a:extLst>
          </p:cNvPr>
          <p:cNvSpPr>
            <a:spLocks xmlns:a="http://schemas.openxmlformats.org/drawingml/2006/main" noGrp="1"/>
          </p:cNvSpPr>
          <p:nvPr/>
        </p:nvSpPr>
        <p:spPr>
          <a:xfrm xmlns:a="http://schemas.openxmlformats.org/drawingml/2006/main">
            <a:off x="4824500" y="2262664"/>
            <a:ext cx="1447078" cy="7087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a:solidFill>
                  <a:srgbClr val="8760ED"/>
                </a:solidFill>
                <a:latin typeface="Montserrat"/>
                <a:ea typeface="Montserrat"/>
                <a:cs typeface="Montserrat"/>
              </a:rPr>
              <a:t>CSV and Excel chunks</a:t>
            </a:r>
          </a:p>
        </p:txBody>
      </p:sp>
      <p:sp>
        <p:nvSpPr>
          <p:cNvPr id="130" name="Text 22">
            <a:extLst xmlns:a="http://schemas.openxmlformats.org/drawingml/2006/main">
              <a:ext uri="{FF2B5EF4-FFF2-40B4-BE49-F238E27FC236}">
                <a16:creationId xmlns:a16="http://schemas.microsoft.com/office/drawing/2014/main" id="{A82C9F38-28E1-A634-DC90-A8878774CCBE}"/>
              </a:ext>
            </a:extLst>
          </p:cNvPr>
          <p:cNvSpPr>
            <a:spLocks xmlns:a="http://schemas.openxmlformats.org/drawingml/2006/main" noGrp="1"/>
          </p:cNvSpPr>
          <p:nvPr/>
        </p:nvSpPr>
        <p:spPr>
          <a:xfrm xmlns:a="http://schemas.openxmlformats.org/drawingml/2006/main">
            <a:off x="4824500" y="2425315"/>
            <a:ext cx="1656931" cy="18021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a:solidFill>
                  <a:schemeClr val="tx1">
                    <a:lumMod val="50000"/>
                    <a:lumOff val="50000"/>
                  </a:schemeClr>
                </a:solidFill>
                <a:latin typeface="Montserrat"/>
                <a:ea typeface="Montserrat"/>
                <a:cs typeface="Montserrat"/>
              </a:rPr>
              <a:t>Limits write-time memory spikes and reports progress.</a:t>
            </a:r>
          </a:p>
        </p:txBody>
      </p:sp>
      <p:sp>
        <p:nvSpPr>
          <p:cNvPr id="132" name="Shape 2">
            <a:extLst xmlns:a="http://schemas.openxmlformats.org/drawingml/2006/main">
              <a:ext uri="{FF2B5EF4-FFF2-40B4-BE49-F238E27FC236}">
                <a16:creationId xmlns:a16="http://schemas.microsoft.com/office/drawing/2014/main" id="{9F9BD0DD-FC69-79CD-5E21-83BE385DD260}"/>
              </a:ext>
            </a:extLst>
          </p:cNvPr>
          <p:cNvSpPr>
            <a:spLocks xmlns:a="http://schemas.openxmlformats.org/drawingml/2006/main" noGrp="1"/>
          </p:cNvSpPr>
          <p:nvPr/>
        </p:nvSpPr>
        <p:spPr>
          <a:xfrm xmlns:a="http://schemas.openxmlformats.org/drawingml/2006/main">
            <a:off x="6839221" y="1684357"/>
            <a:ext cx="1808035" cy="1033985"/>
          </a:xfrm>
          <a:prstGeom xmlns:a="http://schemas.openxmlformats.org/drawingml/2006/main" prst="roundRect">
            <a:avLst>
              <a:gd name="adj" fmla="val 6632"/>
            </a:avLst>
          </a:prstGeom>
          <a:solidFill xmlns:a="http://schemas.openxmlformats.org/drawingml/2006/main">
            <a:srgbClr val="1E2A3B"/>
          </a:solidFill>
          <a:ln xmlns:a="http://schemas.openxmlformats.org/drawingml/2006/main" w="6350">
            <a:solidFill>
              <a:srgbClr val="E0A03C"/>
            </a:solidFill>
            <a:prstDash val="solid"/>
          </a:ln>
          <a:effectLst xmlns:a="http://schemas.openxmlformats.org/drawingml/2006/main">
            <a:outerShdw blurRad="76200" dist="38100" dir="8100000" algn="bl" rotWithShape="0">
              <a:srgbClr val="000000">
                <a:alpha val="30000"/>
              </a:srgbClr>
            </a:outerShdw>
          </a:effectLst>
        </p:spPr>
      </p:sp>
      <p:sp>
        <p:nvSpPr>
          <p:cNvPr id="133" name="Rectangle: Rounded Corners 132">
            <a:extLst xmlns:a="http://schemas.openxmlformats.org/drawingml/2006/main">
              <a:ext uri="{FF2B5EF4-FFF2-40B4-BE49-F238E27FC236}">
                <a16:creationId xmlns:a16="http://schemas.microsoft.com/office/drawing/2014/main" id="{B8092831-A0E1-07D5-5BFE-C4745A061800}"/>
              </a:ext>
            </a:extLst>
          </p:cNvPr>
          <p:cNvSpPr>
            <a:spLocks xmlns:a="http://schemas.openxmlformats.org/drawingml/2006/main" noGrp="1"/>
          </p:cNvSpPr>
          <p:nvPr/>
        </p:nvSpPr>
        <p:spPr>
          <a:xfrm xmlns:a="http://schemas.openxmlformats.org/drawingml/2006/main">
            <a:off x="6911392" y="1752919"/>
            <a:ext cx="281716" cy="281716"/>
          </a:xfrm>
          <a:prstGeom xmlns:a="http://schemas.openxmlformats.org/drawingml/2006/main" prst="roundRect">
            <a:avLst/>
          </a:prstGeom>
          <a:solidFill xmlns:a="http://schemas.openxmlformats.org/drawingml/2006/main">
            <a:srgbClr val="E0A03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1" name="Picture 133"/>
          <p:cNvPicPr>
            <a:picLocks xmlns:a="http://schemas.openxmlformats.org/drawingml/2006/main" noChangeAspect="1"/>
          </p:cNvPicPr>
          <p:nvPr/>
        </p:nvPicPr>
        <p:blipFill>
          <a:blip xmlns:r="http://schemas.openxmlformats.org/officeDocument/2006/relationships" xmlns:a="http://schemas.openxmlformats.org/drawingml/2006/main" r:embed="Ra1917e3f0d964e0e"/>
          <a:srcRect xmlns:a="http://schemas.openxmlformats.org/drawingml/2006/main" l="0" t="0" r="0" b="0"/>
          <a:stretch xmlns:a="http://schemas.openxmlformats.org/drawingml/2006/main"/>
        </p:blipFill>
        <p:spPr>
          <a:xfrm xmlns:a="http://schemas.openxmlformats.org/drawingml/2006/main">
            <a:off x="6951486" y="1791153"/>
            <a:ext cx="201528" cy="201528"/>
          </a:xfrm>
          <a:prstGeom xmlns:a="http://schemas.openxmlformats.org/drawingml/2006/main" prst="rect">
            <a:avLst/>
          </a:prstGeom>
        </p:spPr>
      </p:pic>
      <p:sp>
        <p:nvSpPr>
          <p:cNvPr id="135" name="Text 22">
            <a:extLst xmlns:a="http://schemas.openxmlformats.org/drawingml/2006/main">
              <a:ext uri="{FF2B5EF4-FFF2-40B4-BE49-F238E27FC236}">
                <a16:creationId xmlns:a16="http://schemas.microsoft.com/office/drawing/2014/main" id="{2C71A3E4-B22D-F4CE-FCC4-4A8927FC2823}"/>
              </a:ext>
            </a:extLst>
          </p:cNvPr>
          <p:cNvSpPr>
            <a:spLocks xmlns:a="http://schemas.openxmlformats.org/drawingml/2006/main" noGrp="1"/>
          </p:cNvSpPr>
          <p:nvPr/>
        </p:nvSpPr>
        <p:spPr>
          <a:xfrm xmlns:a="http://schemas.openxmlformats.org/drawingml/2006/main">
            <a:off x="6919077" y="2052049"/>
            <a:ext cx="1447078" cy="22801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chemeClr val="bg1"/>
                </a:solidFill>
                <a:latin typeface="Montserrat"/>
                <a:ea typeface="Montserrat"/>
                <a:cs typeface="Montserrat"/>
              </a:rPr>
              <a:t>Parquet Support</a:t>
            </a:r>
          </a:p>
        </p:txBody>
      </p:sp>
      <p:sp>
        <p:nvSpPr>
          <p:cNvPr id="136" name="Text 22">
            <a:extLst xmlns:a="http://schemas.openxmlformats.org/drawingml/2006/main">
              <a:ext uri="{FF2B5EF4-FFF2-40B4-BE49-F238E27FC236}">
                <a16:creationId xmlns:a16="http://schemas.microsoft.com/office/drawing/2014/main" id="{DDF3BA63-2975-EE85-0E8C-7BB402FF24F2}"/>
              </a:ext>
            </a:extLst>
          </p:cNvPr>
          <p:cNvSpPr>
            <a:spLocks xmlns:a="http://schemas.openxmlformats.org/drawingml/2006/main" noGrp="1"/>
          </p:cNvSpPr>
          <p:nvPr/>
        </p:nvSpPr>
        <p:spPr>
          <a:xfrm xmlns:a="http://schemas.openxmlformats.org/drawingml/2006/main">
            <a:off x="6929972" y="2262664"/>
            <a:ext cx="1447078" cy="7087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a:solidFill>
                  <a:srgbClr val="E0A03C"/>
                </a:solidFill>
                <a:latin typeface="Montserrat"/>
                <a:ea typeface="Montserrat"/>
                <a:cs typeface="Montserrat"/>
              </a:rPr>
              <a:t>Analytics-ready output</a:t>
            </a:r>
          </a:p>
        </p:txBody>
      </p:sp>
      <p:sp>
        <p:nvSpPr>
          <p:cNvPr id="137" name="Text 22">
            <a:extLst xmlns:a="http://schemas.openxmlformats.org/drawingml/2006/main">
              <a:ext uri="{FF2B5EF4-FFF2-40B4-BE49-F238E27FC236}">
                <a16:creationId xmlns:a16="http://schemas.microsoft.com/office/drawing/2014/main" id="{09C794CF-5B0E-A256-147E-289BBF20D969}"/>
              </a:ext>
            </a:extLst>
          </p:cNvPr>
          <p:cNvSpPr>
            <a:spLocks xmlns:a="http://schemas.openxmlformats.org/drawingml/2006/main" noGrp="1"/>
          </p:cNvSpPr>
          <p:nvPr/>
        </p:nvSpPr>
        <p:spPr>
          <a:xfrm xmlns:a="http://schemas.openxmlformats.org/drawingml/2006/main">
            <a:off x="6929972" y="2425315"/>
            <a:ext cx="1656931" cy="18021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
                <a:solidFill>
                  <a:schemeClr val="tx1">
                    <a:lumMod val="50000"/>
                    <a:lumOff val="50000"/>
                  </a:schemeClr>
                </a:solidFill>
                <a:latin typeface="Montserrat"/>
                <a:ea typeface="Montserrat"/>
                <a:cs typeface="Montserrat"/>
              </a:rPr>
              <a:t>Compact columnar format for downstream analytics.</a:t>
            </a:r>
          </a:p>
        </p:txBody>
      </p:sp>
      <p:sp>
        <p:nvSpPr>
          <p:cNvPr id="142" name="Rectangle: Rounded Corners 141">
            <a:extLst xmlns:a="http://schemas.openxmlformats.org/drawingml/2006/main">
              <a:ext uri="{FF2B5EF4-FFF2-40B4-BE49-F238E27FC236}">
                <a16:creationId xmlns:a16="http://schemas.microsoft.com/office/drawing/2014/main" id="{C22E98AE-96C8-48B5-9509-5102D4259040}"/>
              </a:ext>
            </a:extLst>
          </p:cNvPr>
          <p:cNvSpPr>
            <a:spLocks xmlns:a="http://schemas.openxmlformats.org/drawingml/2006/main" noGrp="1"/>
          </p:cNvSpPr>
          <p:nvPr/>
        </p:nvSpPr>
        <p:spPr>
          <a:xfrm xmlns:a="http://schemas.openxmlformats.org/drawingml/2006/main">
            <a:off x="523875" y="3200400"/>
            <a:ext cx="8096250" cy="1304925"/>
          </a:xfrm>
          <a:prstGeom xmlns:a="http://schemas.openxmlformats.org/drawingml/2006/main" prst="roundRect">
            <a:avLst>
              <a:gd name="adj" fmla="val 8759"/>
            </a:avLst>
          </a:prstGeom>
          <a:solidFill xmlns:a="http://schemas.openxmlformats.org/drawingml/2006/main">
            <a:srgbClr val="1E2A3B"/>
          </a:solidFill>
          <a:ln xmlns:a="http://schemas.openxmlformats.org/drawingml/2006/main" w="9525">
            <a:solidFill>
              <a:srgbClr val="243348"/>
            </a:solidFill>
          </a:ln>
        </p:spPr>
      </p:sp>
      <p:sp>
        <p:nvSpPr>
          <p:cNvPr id="143" name="Rectangle 142">
            <a:extLst xmlns:a="http://schemas.openxmlformats.org/drawingml/2006/main">
              <a:ext uri="{FF2B5EF4-FFF2-40B4-BE49-F238E27FC236}">
                <a16:creationId xmlns:a16="http://schemas.microsoft.com/office/drawing/2014/main" id="{B3E42E4C-C00E-4E7D-968C-E4B0BE4F554F}"/>
              </a:ext>
            </a:extLst>
          </p:cNvPr>
          <p:cNvSpPr>
            <a:spLocks xmlns:a="http://schemas.openxmlformats.org/drawingml/2006/main" noGrp="1"/>
          </p:cNvSpPr>
          <p:nvPr/>
        </p:nvSpPr>
        <p:spPr>
          <a:xfrm xmlns:a="http://schemas.openxmlformats.org/drawingml/2006/main">
            <a:off x="523875" y="2886075"/>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1">
                <a:solidFill>
                  <a:srgbClr val="94A3B8"/>
                </a:solidFill>
                <a:latin typeface="Montserrat"/>
                <a:ea typeface="Montserrat"/>
                <a:cs typeface="Montserrat"/>
              </a:defRPr>
            </a:pPr>
            <a:r>
              <a:rPr sz="1050" b="1">
                <a:solidFill>
                  <a:srgbClr val="94A3B8"/>
                </a:solidFill>
                <a:latin typeface="Montserrat"/>
                <a:ea typeface="Montserrat"/>
                <a:cs typeface="Montserrat"/>
              </a:rPr>
              <a:t>OPERATING CONTROLS</a:t>
            </a:r>
          </a:p>
        </p:txBody>
      </p:sp>
      <p:sp>
        <p:nvSpPr>
          <p:cNvPr id="144" name="Rectangle 143">
            <a:extLst xmlns:a="http://schemas.openxmlformats.org/drawingml/2006/main">
              <a:ext uri="{FF2B5EF4-FFF2-40B4-BE49-F238E27FC236}">
                <a16:creationId xmlns:a16="http://schemas.microsoft.com/office/drawing/2014/main" id="{A54B6188-97B5-4BCC-B4C9-B6182C5DC793}"/>
              </a:ext>
            </a:extLst>
          </p:cNvPr>
          <p:cNvSpPr>
            <a:spLocks xmlns:a="http://schemas.openxmlformats.org/drawingml/2006/main" noGrp="1"/>
          </p:cNvSpPr>
          <p:nvPr/>
        </p:nvSpPr>
        <p:spPr>
          <a:xfrm xmlns:a="http://schemas.openxmlformats.org/drawingml/2006/main">
            <a:off x="742950" y="34004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10B981"/>
                </a:solidFill>
                <a:latin typeface="Montserrat"/>
                <a:ea typeface="Montserrat"/>
                <a:cs typeface="Montserrat"/>
              </a:defRPr>
            </a:pPr>
            <a:r>
              <a:rPr sz="1125" b="1">
                <a:solidFill>
                  <a:srgbClr val="10B981"/>
                </a:solidFill>
                <a:latin typeface="Montserrat"/>
                <a:ea typeface="Montserrat"/>
                <a:cs typeface="Montserrat"/>
              </a:rPr>
              <a:t>BEFORE RUN</a:t>
            </a:r>
          </a:p>
        </p:txBody>
      </p:sp>
      <p:sp>
        <p:nvSpPr>
          <p:cNvPr id="145" name="Rectangle 144">
            <a:extLst xmlns:a="http://schemas.openxmlformats.org/drawingml/2006/main">
              <a:ext uri="{FF2B5EF4-FFF2-40B4-BE49-F238E27FC236}">
                <a16:creationId xmlns:a16="http://schemas.microsoft.com/office/drawing/2014/main" id="{A1707F7F-0D29-47E3-8F53-ADB06751AED7}"/>
              </a:ext>
            </a:extLst>
          </p:cNvPr>
          <p:cNvSpPr>
            <a:spLocks xmlns:a="http://schemas.openxmlformats.org/drawingml/2006/main" noGrp="1"/>
          </p:cNvSpPr>
          <p:nvPr/>
        </p:nvSpPr>
        <p:spPr>
          <a:xfrm xmlns:a="http://schemas.openxmlformats.org/drawingml/2006/main">
            <a:off x="742950" y="3762375"/>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F1F5F9"/>
                </a:solidFill>
                <a:latin typeface="Trebuchet MS"/>
                <a:ea typeface="Trebuchet MS"/>
                <a:cs typeface="Trebuchet MS"/>
              </a:defRPr>
            </a:pPr>
            <a:r>
              <a:rPr sz="1125">
                <a:solidFill>
                  <a:srgbClr val="F1F5F9"/>
                </a:solidFill>
                <a:latin typeface="Trebuchet MS"/>
                <a:ea typeface="Trebuchet MS"/>
                <a:cs typeface="Trebuchet MS"/>
              </a:rPr>
              <a:t>RAM estimate and recommended mode</a:t>
            </a:r>
          </a:p>
        </p:txBody>
      </p:sp>
      <p:sp>
        <p:nvSpPr>
          <p:cNvPr id="146" name="Rectangle 145">
            <a:extLst xmlns:a="http://schemas.openxmlformats.org/drawingml/2006/main">
              <a:ext uri="{FF2B5EF4-FFF2-40B4-BE49-F238E27FC236}">
                <a16:creationId xmlns:a16="http://schemas.microsoft.com/office/drawing/2014/main" id="{D7347773-CA37-4040-9793-096DCD31D432}"/>
              </a:ext>
            </a:extLst>
          </p:cNvPr>
          <p:cNvSpPr>
            <a:spLocks xmlns:a="http://schemas.openxmlformats.org/drawingml/2006/main" noGrp="1"/>
          </p:cNvSpPr>
          <p:nvPr/>
        </p:nvSpPr>
        <p:spPr>
          <a:xfrm xmlns:a="http://schemas.openxmlformats.org/drawingml/2006/main">
            <a:off x="3390900" y="34004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3B82F6"/>
                </a:solidFill>
                <a:latin typeface="Montserrat"/>
                <a:ea typeface="Montserrat"/>
                <a:cs typeface="Montserrat"/>
              </a:defRPr>
            </a:pPr>
            <a:r>
              <a:rPr sz="1125" b="1">
                <a:solidFill>
                  <a:srgbClr val="3B82F6"/>
                </a:solidFill>
                <a:latin typeface="Montserrat"/>
                <a:ea typeface="Montserrat"/>
                <a:cs typeface="Montserrat"/>
              </a:rPr>
              <a:t>DURING RUN</a:t>
            </a:r>
          </a:p>
        </p:txBody>
      </p:sp>
      <p:sp>
        <p:nvSpPr>
          <p:cNvPr id="147" name="Rectangle 146">
            <a:extLst xmlns:a="http://schemas.openxmlformats.org/drawingml/2006/main">
              <a:ext uri="{FF2B5EF4-FFF2-40B4-BE49-F238E27FC236}">
                <a16:creationId xmlns:a16="http://schemas.microsoft.com/office/drawing/2014/main" id="{BF72E604-C974-43C8-BBD0-06A54AEC255D}"/>
              </a:ext>
            </a:extLst>
          </p:cNvPr>
          <p:cNvSpPr>
            <a:spLocks xmlns:a="http://schemas.openxmlformats.org/drawingml/2006/main" noGrp="1"/>
          </p:cNvSpPr>
          <p:nvPr/>
        </p:nvSpPr>
        <p:spPr>
          <a:xfrm xmlns:a="http://schemas.openxmlformats.org/drawingml/2006/main">
            <a:off x="3390900" y="3762375"/>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F1F5F9"/>
                </a:solidFill>
                <a:latin typeface="Trebuchet MS"/>
                <a:ea typeface="Trebuchet MS"/>
                <a:cs typeface="Trebuchet MS"/>
              </a:defRPr>
            </a:pPr>
            <a:r>
              <a:rPr sz="1125">
                <a:solidFill>
                  <a:srgbClr val="F1F5F9"/>
                </a:solidFill>
                <a:latin typeface="Trebuchet MS"/>
                <a:ea typeface="Trebuchet MS"/>
                <a:cs typeface="Trebuchet MS"/>
              </a:rPr>
              <a:t>Progress, elapsed time, ETA and cancel</a:t>
            </a:r>
          </a:p>
        </p:txBody>
      </p:sp>
      <p:sp>
        <p:nvSpPr>
          <p:cNvPr id="148" name="Rectangle 147">
            <a:extLst xmlns:a="http://schemas.openxmlformats.org/drawingml/2006/main">
              <a:ext uri="{FF2B5EF4-FFF2-40B4-BE49-F238E27FC236}">
                <a16:creationId xmlns:a16="http://schemas.microsoft.com/office/drawing/2014/main" id="{2D895DC4-F0F1-41D2-B91E-5DAD3D8467F2}"/>
              </a:ext>
            </a:extLst>
          </p:cNvPr>
          <p:cNvSpPr>
            <a:spLocks xmlns:a="http://schemas.openxmlformats.org/drawingml/2006/main" noGrp="1"/>
          </p:cNvSpPr>
          <p:nvPr/>
        </p:nvSpPr>
        <p:spPr>
          <a:xfrm xmlns:a="http://schemas.openxmlformats.org/drawingml/2006/main">
            <a:off x="6038850" y="34004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b="1">
                <a:solidFill>
                  <a:srgbClr val="8B5CF6"/>
                </a:solidFill>
                <a:latin typeface="Montserrat"/>
                <a:ea typeface="Montserrat"/>
                <a:cs typeface="Montserrat"/>
              </a:defRPr>
            </a:pPr>
            <a:r>
              <a:rPr sz="1125" b="1">
                <a:solidFill>
                  <a:srgbClr val="8B5CF6"/>
                </a:solidFill>
                <a:latin typeface="Montserrat"/>
                <a:ea typeface="Montserrat"/>
                <a:cs typeface="Montserrat"/>
              </a:rPr>
              <a:t>AT EXPORT</a:t>
            </a:r>
          </a:p>
        </p:txBody>
      </p:sp>
      <p:sp>
        <p:nvSpPr>
          <p:cNvPr id="149" name="Rectangle 148">
            <a:extLst xmlns:a="http://schemas.openxmlformats.org/drawingml/2006/main">
              <a:ext uri="{FF2B5EF4-FFF2-40B4-BE49-F238E27FC236}">
                <a16:creationId xmlns:a16="http://schemas.microsoft.com/office/drawing/2014/main" id="{05D23461-361D-488B-A612-58AB9144EE8D}"/>
              </a:ext>
            </a:extLst>
          </p:cNvPr>
          <p:cNvSpPr>
            <a:spLocks xmlns:a="http://schemas.openxmlformats.org/drawingml/2006/main" noGrp="1"/>
          </p:cNvSpPr>
          <p:nvPr/>
        </p:nvSpPr>
        <p:spPr>
          <a:xfrm xmlns:a="http://schemas.openxmlformats.org/drawingml/2006/main">
            <a:off x="6038850" y="3762375"/>
            <a:ext cx="228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125">
                <a:solidFill>
                  <a:srgbClr val="F1F5F9"/>
                </a:solidFill>
                <a:latin typeface="Trebuchet MS"/>
                <a:ea typeface="Trebuchet MS"/>
                <a:cs typeface="Trebuchet MS"/>
              </a:defRPr>
            </a:pPr>
            <a:r>
              <a:rPr sz="1125">
                <a:solidFill>
                  <a:srgbClr val="F1F5F9"/>
                </a:solidFill>
                <a:latin typeface="Trebuchet MS"/>
                <a:ea typeface="Trebuchet MS"/>
                <a:cs typeface="Trebuchet MS"/>
              </a:rPr>
              <a:t>Format limits, chunked writes and atomic save</a:t>
            </a:r>
          </a:p>
        </p:txBody>
      </p:sp>
      <p:sp>
        <p:nvSpPr>
          <p:cNvPr id="150" name="Rectangle 149">
            <a:extLst xmlns:a="http://schemas.openxmlformats.org/drawingml/2006/main">
              <a:ext uri="{FF2B5EF4-FFF2-40B4-BE49-F238E27FC236}">
                <a16:creationId xmlns:a16="http://schemas.microsoft.com/office/drawing/2014/main" id="{1358E966-C2FD-4E67-B823-2349F39AFF56}"/>
              </a:ext>
            </a:extLst>
          </p:cNvPr>
          <p:cNvSpPr>
            <a:spLocks xmlns:a="http://schemas.openxmlformats.org/drawingml/2006/main" noGrp="1"/>
          </p:cNvSpPr>
          <p:nvPr/>
        </p:nvSpPr>
        <p:spPr>
          <a:xfrm xmlns:a="http://schemas.openxmlformats.org/drawingml/2006/main">
            <a:off x="552450" y="4562475"/>
            <a:ext cx="804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a:solidFill>
                  <a:srgbClr val="94A3B8"/>
                </a:solidFill>
                <a:latin typeface="Trebuchet MS"/>
                <a:ea typeface="Trebuchet MS"/>
                <a:cs typeface="Trebuchet MS"/>
              </a:defRPr>
            </a:pPr>
            <a:r>
              <a:rPr sz="825">
                <a:solidFill>
                  <a:srgbClr val="94A3B8"/>
                </a:solidFill>
                <a:latin typeface="Trebuchet MS"/>
                <a:ea typeface="Trebuchet MS"/>
                <a:cs typeface="Trebuchet MS"/>
              </a:rPr>
              <a:t>Benchmark on target hardware before using external speed or reliability claims.</a:t>
            </a:r>
          </a:p>
        </p:txBody>
      </p:sp>
      <p:pic>
        <p:nvPicPr>
          <p:cNvPr id="194" name="Picture 189"/>
          <p:cNvPicPr>
            <a:picLocks xmlns:a="http://schemas.openxmlformats.org/drawingml/2006/main" noChangeAspect="1"/>
          </p:cNvPicPr>
          <p:nvPr/>
        </p:nvPicPr>
        <p:blipFill>
          <a:blip xmlns:r="http://schemas.openxmlformats.org/officeDocument/2006/relationships" xmlns:a="http://schemas.openxmlformats.org/drawingml/2006/main" r:embed="Rf4dcb31637ec4f55"/>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439835078"/>
      </p:ext>
    </p:extLst>
  </p:cSld>
</p:sld>
</file>

<file path=ppt/slides/slide8.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4" name="Shape 2">
            <a:extLst xmlns:a="http://schemas.openxmlformats.org/drawingml/2006/main">
              <a:ext uri="{FF2B5EF4-FFF2-40B4-BE49-F238E27FC236}">
                <a16:creationId xmlns:a16="http://schemas.microsoft.com/office/drawing/2014/main" id="{B718F819-88F9-4E41-89AB-0FAEC57BEB56}"/>
              </a:ext>
            </a:extLst>
          </p:cNvPr>
          <p:cNvSpPr>
            <a:spLocks xmlns:a="http://schemas.openxmlformats.org/drawingml/2006/main" noGrp="1"/>
          </p:cNvSpPr>
          <p:nvPr/>
        </p:nvSpPr>
        <p:spPr>
          <a:xfrm xmlns:a="http://schemas.openxmlformats.org/drawingml/2006/main">
            <a:off x="457200" y="1709271"/>
            <a:ext cx="2480475" cy="401286"/>
          </a:xfrm>
          <a:prstGeom xmlns:a="http://schemas.openxmlformats.org/drawingml/2006/main" prst="rect">
            <a:avLst/>
          </a:prstGeom>
          <a:solidFill xmlns:a="http://schemas.openxmlformats.org/drawingml/2006/main">
            <a:srgbClr val="162032"/>
          </a:solidFill>
          <a:ln xmlns:a="http://schemas.openxmlformats.org/drawingml/2006/main" w="10160">
            <a:solidFill>
              <a:srgbClr val="243348"/>
            </a:solidFill>
            <a:prstDash val="solid"/>
          </a:ln>
        </p:spPr>
      </p:sp>
      <p:sp>
        <p:nvSpPr>
          <p:cNvPr id="5" name="Text 3">
            <a:extLst xmlns:a="http://schemas.openxmlformats.org/drawingml/2006/main">
              <a:ext uri="{FF2B5EF4-FFF2-40B4-BE49-F238E27FC236}">
                <a16:creationId xmlns:a16="http://schemas.microsoft.com/office/drawing/2014/main" id="{E24B16CD-3513-485C-BB04-07C0B5173699}"/>
              </a:ext>
            </a:extLst>
          </p:cNvPr>
          <p:cNvSpPr>
            <a:spLocks xmlns:a="http://schemas.openxmlformats.org/drawingml/2006/main" noGrp="1"/>
          </p:cNvSpPr>
          <p:nvPr/>
        </p:nvSpPr>
        <p:spPr>
          <a:xfrm xmlns:a="http://schemas.openxmlformats.org/drawingml/2006/main">
            <a:off x="457200" y="1709271"/>
            <a:ext cx="2480475" cy="40128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0000"/>
              </a:lnSpc>
              <a:buNone/>
            </a:pPr>
            <a:r>
              <a:rPr sz="1000" b="1">
                <a:solidFill>
                  <a:srgbClr val="FFFFFF"/>
                </a:solidFill>
                <a:latin typeface="Trebuchet MS"/>
                <a:ea typeface="Trebuchet MS"/>
                <a:cs typeface="Trebuchet MS"/>
              </a:rPr>
              <a:t>Capability</a:t>
            </a:r>
            <a:endParaRPr sz="1000"/>
          </a:p>
        </p:txBody>
      </p:sp>
      <p:sp>
        <p:nvSpPr>
          <p:cNvPr id="6" name="Shape 4">
            <a:extLst xmlns:a="http://schemas.openxmlformats.org/drawingml/2006/main">
              <a:ext uri="{FF2B5EF4-FFF2-40B4-BE49-F238E27FC236}">
                <a16:creationId xmlns:a16="http://schemas.microsoft.com/office/drawing/2014/main" id="{E1FE290B-6876-4688-A7D3-017FDE8E9E2E}"/>
              </a:ext>
            </a:extLst>
          </p:cNvPr>
          <p:cNvSpPr>
            <a:spLocks xmlns:a="http://schemas.openxmlformats.org/drawingml/2006/main" noGrp="1"/>
          </p:cNvSpPr>
          <p:nvPr/>
        </p:nvSpPr>
        <p:spPr>
          <a:xfrm xmlns:a="http://schemas.openxmlformats.org/drawingml/2006/main">
            <a:off x="2937676" y="1709271"/>
            <a:ext cx="1230770" cy="401286"/>
          </a:xfrm>
          <a:prstGeom xmlns:a="http://schemas.openxmlformats.org/drawingml/2006/main" prst="rect">
            <a:avLst/>
          </a:prstGeom>
          <a:solidFill xmlns:a="http://schemas.openxmlformats.org/drawingml/2006/main">
            <a:srgbClr val="162032"/>
          </a:solidFill>
          <a:ln xmlns:a="http://schemas.openxmlformats.org/drawingml/2006/main" w="10160">
            <a:solidFill>
              <a:srgbClr val="243348"/>
            </a:solidFill>
            <a:prstDash val="solid"/>
          </a:ln>
        </p:spPr>
      </p:sp>
      <p:sp>
        <p:nvSpPr>
          <p:cNvPr id="7" name="Text 5">
            <a:extLst xmlns:a="http://schemas.openxmlformats.org/drawingml/2006/main">
              <a:ext uri="{FF2B5EF4-FFF2-40B4-BE49-F238E27FC236}">
                <a16:creationId xmlns:a16="http://schemas.microsoft.com/office/drawing/2014/main" id="{505A84DE-F068-4ADC-A913-6B0DE5A97BBD}"/>
              </a:ext>
            </a:extLst>
          </p:cNvPr>
          <p:cNvSpPr>
            <a:spLocks xmlns:a="http://schemas.openxmlformats.org/drawingml/2006/main" noGrp="1"/>
          </p:cNvSpPr>
          <p:nvPr/>
        </p:nvSpPr>
        <p:spPr>
          <a:xfrm xmlns:a="http://schemas.openxmlformats.org/drawingml/2006/main">
            <a:off x="2937676" y="1709271"/>
            <a:ext cx="1230770" cy="40128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lnSpc>
                <a:spcPct val="110000"/>
              </a:lnSpc>
              <a:buNone/>
              <a:defRPr sz="975" b="1">
                <a:solidFill>
                  <a:srgbClr val="F8FAFC"/>
                </a:solidFill>
                <a:latin typeface="Trebuchet MS"/>
                <a:ea typeface="Trebuchet MS"/>
                <a:cs typeface="Trebuchet MS"/>
              </a:defRPr>
            </a:pPr>
            <a:r>
              <a:rPr sz="975" b="1">
                <a:solidFill>
                  <a:srgbClr val="F8FAFC"/>
                </a:solidFill>
                <a:latin typeface="Trebuchet MS"/>
                <a:ea typeface="Trebuchet MS"/>
                <a:cs typeface="Trebuchet MS"/>
              </a:rPr>
              <a:t>Excel Manual</a:t>
            </a:r>
            <a:endParaRPr sz="1000"/>
          </a:p>
          <a:p xmlns:a="http://schemas.openxmlformats.org/drawingml/2006/main">
            <a:pPr marL="0" indent="0" algn="ctr">
              <a:lnSpc>
                <a:spcPct val="110000"/>
              </a:lnSpc>
              <a:buNone/>
              <a:defRPr sz="975" b="1">
                <a:solidFill>
                  <a:srgbClr val="F8FAFC"/>
                </a:solidFill>
                <a:latin typeface="Trebuchet MS"/>
                <a:ea typeface="Trebuchet MS"/>
                <a:cs typeface="Trebuchet MS"/>
              </a:defRPr>
            </a:pPr>
            <a:r>
              <a:rPr sz="975" b="1">
                <a:solidFill>
                  <a:srgbClr val="F8FAFC"/>
                </a:solidFill>
                <a:latin typeface="Trebuchet MS"/>
                <a:ea typeface="Trebuchet MS"/>
                <a:cs typeface="Trebuchet MS"/>
              </a:rPr>
              <a:t>2 of 8 built in</a:t>
            </a:r>
            <a:endParaRPr sz="1000"/>
          </a:p>
        </p:txBody>
      </p:sp>
      <p:sp>
        <p:nvSpPr>
          <p:cNvPr id="8" name="Shape 6">
            <a:extLst xmlns:a="http://schemas.openxmlformats.org/drawingml/2006/main">
              <a:ext uri="{FF2B5EF4-FFF2-40B4-BE49-F238E27FC236}">
                <a16:creationId xmlns:a16="http://schemas.microsoft.com/office/drawing/2014/main" id="{24BDDB65-C958-43AE-B732-8F50B5C42B82}"/>
              </a:ext>
            </a:extLst>
          </p:cNvPr>
          <p:cNvSpPr>
            <a:spLocks xmlns:a="http://schemas.openxmlformats.org/drawingml/2006/main" noGrp="1"/>
          </p:cNvSpPr>
          <p:nvPr/>
        </p:nvSpPr>
        <p:spPr>
          <a:xfrm xmlns:a="http://schemas.openxmlformats.org/drawingml/2006/main">
            <a:off x="4168447" y="1709271"/>
            <a:ext cx="1230770" cy="401286"/>
          </a:xfrm>
          <a:prstGeom xmlns:a="http://schemas.openxmlformats.org/drawingml/2006/main" prst="rect">
            <a:avLst/>
          </a:prstGeom>
          <a:solidFill xmlns:a="http://schemas.openxmlformats.org/drawingml/2006/main">
            <a:srgbClr val="162032"/>
          </a:solidFill>
          <a:ln xmlns:a="http://schemas.openxmlformats.org/drawingml/2006/main" w="10160">
            <a:solidFill>
              <a:srgbClr val="243348"/>
            </a:solidFill>
            <a:prstDash val="solid"/>
          </a:ln>
        </p:spPr>
      </p:sp>
      <p:sp>
        <p:nvSpPr>
          <p:cNvPr id="9" name="Text 7">
            <a:extLst xmlns:a="http://schemas.openxmlformats.org/drawingml/2006/main">
              <a:ext uri="{FF2B5EF4-FFF2-40B4-BE49-F238E27FC236}">
                <a16:creationId xmlns:a16="http://schemas.microsoft.com/office/drawing/2014/main" id="{0073C723-AB34-4182-981A-4143C226C1B5}"/>
              </a:ext>
            </a:extLst>
          </p:cNvPr>
          <p:cNvSpPr>
            <a:spLocks xmlns:a="http://schemas.openxmlformats.org/drawingml/2006/main" noGrp="1"/>
          </p:cNvSpPr>
          <p:nvPr/>
        </p:nvSpPr>
        <p:spPr>
          <a:xfrm xmlns:a="http://schemas.openxmlformats.org/drawingml/2006/main">
            <a:off x="4168447" y="1709271"/>
            <a:ext cx="1230770" cy="40128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lnSpc>
                <a:spcPct val="110000"/>
              </a:lnSpc>
              <a:buNone/>
              <a:defRPr sz="975" b="1">
                <a:solidFill>
                  <a:srgbClr val="F8FAFC"/>
                </a:solidFill>
                <a:latin typeface="Trebuchet MS"/>
                <a:ea typeface="Trebuchet MS"/>
                <a:cs typeface="Trebuchet MS"/>
              </a:defRPr>
            </a:pPr>
            <a:r>
              <a:rPr sz="975" b="1">
                <a:solidFill>
                  <a:srgbClr val="F8FAFC"/>
                </a:solidFill>
                <a:latin typeface="Trebuchet MS"/>
                <a:ea typeface="Trebuchet MS"/>
                <a:cs typeface="Trebuchet MS"/>
              </a:rPr>
              <a:t>Power Query</a:t>
            </a:r>
            <a:endParaRPr sz="1000"/>
          </a:p>
          <a:p xmlns:a="http://schemas.openxmlformats.org/drawingml/2006/main">
            <a:pPr marL="0" indent="0" algn="ctr">
              <a:lnSpc>
                <a:spcPct val="110000"/>
              </a:lnSpc>
              <a:buNone/>
              <a:defRPr sz="975" b="1">
                <a:solidFill>
                  <a:srgbClr val="F8FAFC"/>
                </a:solidFill>
                <a:latin typeface="Trebuchet MS"/>
                <a:ea typeface="Trebuchet MS"/>
                <a:cs typeface="Trebuchet MS"/>
              </a:defRPr>
            </a:pPr>
            <a:r>
              <a:rPr sz="975" b="1">
                <a:solidFill>
                  <a:srgbClr val="F8FAFC"/>
                </a:solidFill>
                <a:latin typeface="Trebuchet MS"/>
                <a:ea typeface="Trebuchet MS"/>
                <a:cs typeface="Trebuchet MS"/>
              </a:rPr>
              <a:t>2 of 8 built in</a:t>
            </a:r>
            <a:endParaRPr sz="1000"/>
          </a:p>
        </p:txBody>
      </p:sp>
      <p:sp>
        <p:nvSpPr>
          <p:cNvPr id="10" name="Shape 8">
            <a:extLst xmlns:a="http://schemas.openxmlformats.org/drawingml/2006/main">
              <a:ext uri="{FF2B5EF4-FFF2-40B4-BE49-F238E27FC236}">
                <a16:creationId xmlns:a16="http://schemas.microsoft.com/office/drawing/2014/main" id="{39D5ABA5-F3E7-439F-BAF7-6E59E8969454}"/>
              </a:ext>
            </a:extLst>
          </p:cNvPr>
          <p:cNvSpPr>
            <a:spLocks xmlns:a="http://schemas.openxmlformats.org/drawingml/2006/main" noGrp="1"/>
          </p:cNvSpPr>
          <p:nvPr/>
        </p:nvSpPr>
        <p:spPr>
          <a:xfrm xmlns:a="http://schemas.openxmlformats.org/drawingml/2006/main">
            <a:off x="5399218" y="1709271"/>
            <a:ext cx="1230770" cy="401286"/>
          </a:xfrm>
          <a:prstGeom xmlns:a="http://schemas.openxmlformats.org/drawingml/2006/main" prst="rect">
            <a:avLst/>
          </a:prstGeom>
          <a:solidFill xmlns:a="http://schemas.openxmlformats.org/drawingml/2006/main">
            <a:srgbClr val="162032"/>
          </a:solidFill>
          <a:ln xmlns:a="http://schemas.openxmlformats.org/drawingml/2006/main" w="10160">
            <a:solidFill>
              <a:srgbClr val="243348"/>
            </a:solidFill>
            <a:prstDash val="solid"/>
          </a:ln>
        </p:spPr>
      </p:sp>
      <p:sp>
        <p:nvSpPr>
          <p:cNvPr id="11" name="Text 9">
            <a:extLst xmlns:a="http://schemas.openxmlformats.org/drawingml/2006/main">
              <a:ext uri="{FF2B5EF4-FFF2-40B4-BE49-F238E27FC236}">
                <a16:creationId xmlns:a16="http://schemas.microsoft.com/office/drawing/2014/main" id="{3BD577B8-CE9F-4193-B22E-3D6046E50A47}"/>
              </a:ext>
            </a:extLst>
          </p:cNvPr>
          <p:cNvSpPr>
            <a:spLocks xmlns:a="http://schemas.openxmlformats.org/drawingml/2006/main" noGrp="1"/>
          </p:cNvSpPr>
          <p:nvPr/>
        </p:nvSpPr>
        <p:spPr>
          <a:xfrm xmlns:a="http://schemas.openxmlformats.org/drawingml/2006/main">
            <a:off x="5399218" y="1709271"/>
            <a:ext cx="1230770" cy="40128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lnSpc>
                <a:spcPct val="110000"/>
              </a:lnSpc>
              <a:buNone/>
              <a:defRPr sz="975" b="1">
                <a:solidFill>
                  <a:srgbClr val="F8FAFC"/>
                </a:solidFill>
                <a:latin typeface="Trebuchet MS"/>
                <a:ea typeface="Trebuchet MS"/>
                <a:cs typeface="Trebuchet MS"/>
              </a:defRPr>
            </a:pPr>
            <a:r>
              <a:rPr sz="975" b="1">
                <a:solidFill>
                  <a:srgbClr val="F8FAFC"/>
                </a:solidFill>
                <a:latin typeface="Trebuchet MS"/>
                <a:ea typeface="Trebuchet MS"/>
                <a:cs typeface="Trebuchet MS"/>
              </a:rPr>
              <a:t>VBA / Macros</a:t>
            </a:r>
            <a:endParaRPr sz="1000"/>
          </a:p>
          <a:p xmlns:a="http://schemas.openxmlformats.org/drawingml/2006/main">
            <a:pPr marL="0" indent="0" algn="ctr">
              <a:lnSpc>
                <a:spcPct val="110000"/>
              </a:lnSpc>
              <a:buNone/>
              <a:defRPr sz="975" b="1">
                <a:solidFill>
                  <a:srgbClr val="F8FAFC"/>
                </a:solidFill>
                <a:latin typeface="Trebuchet MS"/>
                <a:ea typeface="Trebuchet MS"/>
                <a:cs typeface="Trebuchet MS"/>
              </a:defRPr>
            </a:pPr>
            <a:r>
              <a:rPr sz="975" b="1">
                <a:solidFill>
                  <a:srgbClr val="F8FAFC"/>
                </a:solidFill>
                <a:latin typeface="Trebuchet MS"/>
                <a:ea typeface="Trebuchet MS"/>
                <a:cs typeface="Trebuchet MS"/>
              </a:rPr>
              <a:t>1 of 8 built in</a:t>
            </a:r>
            <a:endParaRPr sz="1000"/>
          </a:p>
        </p:txBody>
      </p:sp>
      <p:sp>
        <p:nvSpPr>
          <p:cNvPr id="12" name="Shape 10">
            <a:extLst xmlns:a="http://schemas.openxmlformats.org/drawingml/2006/main">
              <a:ext uri="{FF2B5EF4-FFF2-40B4-BE49-F238E27FC236}">
                <a16:creationId xmlns:a16="http://schemas.microsoft.com/office/drawing/2014/main" id="{FF8A2062-41CD-4E3F-A827-8C6A7E2FC838}"/>
              </a:ext>
            </a:extLst>
          </p:cNvPr>
          <p:cNvSpPr>
            <a:spLocks xmlns:a="http://schemas.openxmlformats.org/drawingml/2006/main" noGrp="1"/>
          </p:cNvSpPr>
          <p:nvPr/>
        </p:nvSpPr>
        <p:spPr>
          <a:xfrm xmlns:a="http://schemas.openxmlformats.org/drawingml/2006/main">
            <a:off x="6629988" y="1709271"/>
            <a:ext cx="1817753" cy="401286"/>
          </a:xfrm>
          <a:prstGeom xmlns:a="http://schemas.openxmlformats.org/drawingml/2006/main" prst="rect">
            <a:avLst/>
          </a:prstGeom>
          <a:solidFill xmlns:a="http://schemas.openxmlformats.org/drawingml/2006/main">
            <a:srgbClr val="2563EB"/>
          </a:solidFill>
          <a:ln xmlns:a="http://schemas.openxmlformats.org/drawingml/2006/main" w="10160">
            <a:solidFill>
              <a:srgbClr val="2563EB"/>
            </a:solidFill>
            <a:prstDash val="solid"/>
          </a:ln>
        </p:spPr>
      </p:sp>
      <p:sp>
        <p:nvSpPr>
          <p:cNvPr id="13" name="Text 11">
            <a:extLst xmlns:a="http://schemas.openxmlformats.org/drawingml/2006/main">
              <a:ext uri="{FF2B5EF4-FFF2-40B4-BE49-F238E27FC236}">
                <a16:creationId xmlns:a16="http://schemas.microsoft.com/office/drawing/2014/main" id="{1C7C45F8-9A13-4116-8208-86672E6B2929}"/>
              </a:ext>
            </a:extLst>
          </p:cNvPr>
          <p:cNvSpPr>
            <a:spLocks xmlns:a="http://schemas.openxmlformats.org/drawingml/2006/main" noGrp="1"/>
          </p:cNvSpPr>
          <p:nvPr/>
        </p:nvSpPr>
        <p:spPr>
          <a:xfrm xmlns:a="http://schemas.openxmlformats.org/drawingml/2006/main">
            <a:off x="6629988" y="1709271"/>
            <a:ext cx="1817753" cy="40128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lnSpc>
                <a:spcPct val="110000"/>
              </a:lnSpc>
              <a:buNone/>
              <a:defRPr sz="975" b="1">
                <a:solidFill>
                  <a:srgbClr val="F8FAFC"/>
                </a:solidFill>
                <a:latin typeface="Trebuchet MS"/>
                <a:ea typeface="Trebuchet MS"/>
                <a:cs typeface="Trebuchet MS"/>
              </a:defRPr>
            </a:pPr>
            <a:r>
              <a:rPr sz="975" b="1">
                <a:solidFill>
                  <a:srgbClr val="F8FAFC"/>
                </a:solidFill>
                <a:latin typeface="Trebuchet MS"/>
                <a:ea typeface="Trebuchet MS"/>
                <a:cs typeface="Trebuchet MS"/>
              </a:rPr>
              <a:t>MergeGuru</a:t>
            </a:r>
            <a:endParaRPr sz="1000"/>
          </a:p>
          <a:p xmlns:a="http://schemas.openxmlformats.org/drawingml/2006/main">
            <a:pPr marL="0" indent="0" algn="ctr">
              <a:lnSpc>
                <a:spcPct val="110000"/>
              </a:lnSpc>
              <a:buNone/>
              <a:defRPr sz="975" b="1">
                <a:solidFill>
                  <a:srgbClr val="F8FAFC"/>
                </a:solidFill>
                <a:latin typeface="Trebuchet MS"/>
                <a:ea typeface="Trebuchet MS"/>
                <a:cs typeface="Trebuchet MS"/>
              </a:defRPr>
            </a:pPr>
            <a:r>
              <a:rPr sz="975" b="1">
                <a:solidFill>
                  <a:srgbClr val="F8FAFC"/>
                </a:solidFill>
                <a:latin typeface="Trebuchet MS"/>
                <a:ea typeface="Trebuchet MS"/>
                <a:cs typeface="Trebuchet MS"/>
              </a:rPr>
              <a:t>8 of 8 built in</a:t>
            </a:r>
            <a:endParaRPr sz="1000"/>
          </a:p>
        </p:txBody>
      </p:sp>
      <p:sp>
        <p:nvSpPr>
          <p:cNvPr id="14" name="Shape 12">
            <a:extLst xmlns:a="http://schemas.openxmlformats.org/drawingml/2006/main">
              <a:ext uri="{FF2B5EF4-FFF2-40B4-BE49-F238E27FC236}">
                <a16:creationId xmlns:a16="http://schemas.microsoft.com/office/drawing/2014/main" id="{6D462BC5-59FE-4585-A16B-C8C13840903D}"/>
              </a:ext>
            </a:extLst>
          </p:cNvPr>
          <p:cNvSpPr>
            <a:spLocks xmlns:a="http://schemas.openxmlformats.org/drawingml/2006/main" noGrp="1"/>
          </p:cNvSpPr>
          <p:nvPr/>
        </p:nvSpPr>
        <p:spPr>
          <a:xfrm xmlns:a="http://schemas.openxmlformats.org/drawingml/2006/main">
            <a:off x="457200" y="2125991"/>
            <a:ext cx="2480475"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15" name="Text 13">
            <a:extLst xmlns:a="http://schemas.openxmlformats.org/drawingml/2006/main">
              <a:ext uri="{FF2B5EF4-FFF2-40B4-BE49-F238E27FC236}">
                <a16:creationId xmlns:a16="http://schemas.microsoft.com/office/drawing/2014/main" id="{A4379D8E-4253-4A80-82F6-A82D83905BF0}"/>
              </a:ext>
            </a:extLst>
          </p:cNvPr>
          <p:cNvSpPr>
            <a:spLocks xmlns:a="http://schemas.openxmlformats.org/drawingml/2006/main" noGrp="1"/>
          </p:cNvSpPr>
          <p:nvPr/>
        </p:nvSpPr>
        <p:spPr>
          <a:xfrm xmlns:a="http://schemas.openxmlformats.org/drawingml/2006/main">
            <a:off x="457200" y="2125991"/>
            <a:ext cx="2480475"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chemeClr val="bg1"/>
                </a:solidFill>
                <a:latin typeface="Trebuchet MS"/>
                <a:ea typeface="Trebuchet MS"/>
                <a:cs typeface="Trebuchet MS"/>
              </a:rPr>
              <a:t>Guided schema validation</a:t>
            </a:r>
            <a:endParaRPr sz="1050">
              <a:solidFill>
                <a:schemeClr val="bg1"/>
              </a:solidFill>
            </a:endParaRPr>
          </a:p>
        </p:txBody>
      </p:sp>
      <p:sp>
        <p:nvSpPr>
          <p:cNvPr id="16" name="Shape 14">
            <a:extLst xmlns:a="http://schemas.openxmlformats.org/drawingml/2006/main">
              <a:ext uri="{FF2B5EF4-FFF2-40B4-BE49-F238E27FC236}">
                <a16:creationId xmlns:a16="http://schemas.microsoft.com/office/drawing/2014/main" id="{D022D358-448A-4007-8228-700DB07CF166}"/>
              </a:ext>
            </a:extLst>
          </p:cNvPr>
          <p:cNvSpPr>
            <a:spLocks xmlns:a="http://schemas.openxmlformats.org/drawingml/2006/main" noGrp="1"/>
          </p:cNvSpPr>
          <p:nvPr/>
        </p:nvSpPr>
        <p:spPr>
          <a:xfrm xmlns:a="http://schemas.openxmlformats.org/drawingml/2006/main">
            <a:off x="2937676" y="2125991"/>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17" name="Text 15">
            <a:extLst xmlns:a="http://schemas.openxmlformats.org/drawingml/2006/main">
              <a:ext uri="{FF2B5EF4-FFF2-40B4-BE49-F238E27FC236}">
                <a16:creationId xmlns:a16="http://schemas.microsoft.com/office/drawing/2014/main" id="{6CDAB0FB-6CDA-4CB2-9985-09754CE8AD6D}"/>
              </a:ext>
            </a:extLst>
          </p:cNvPr>
          <p:cNvSpPr>
            <a:spLocks xmlns:a="http://schemas.openxmlformats.org/drawingml/2006/main" noGrp="1"/>
          </p:cNvSpPr>
          <p:nvPr/>
        </p:nvSpPr>
        <p:spPr>
          <a:xfrm xmlns:a="http://schemas.openxmlformats.org/drawingml/2006/main">
            <a:off x="2937676" y="2125991"/>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18" name="Shape 16">
            <a:extLst xmlns:a="http://schemas.openxmlformats.org/drawingml/2006/main">
              <a:ext uri="{FF2B5EF4-FFF2-40B4-BE49-F238E27FC236}">
                <a16:creationId xmlns:a16="http://schemas.microsoft.com/office/drawing/2014/main" id="{D9E3B311-B808-4FFC-809A-04ACE772BA5B}"/>
              </a:ext>
            </a:extLst>
          </p:cNvPr>
          <p:cNvSpPr>
            <a:spLocks xmlns:a="http://schemas.openxmlformats.org/drawingml/2006/main" noGrp="1"/>
          </p:cNvSpPr>
          <p:nvPr/>
        </p:nvSpPr>
        <p:spPr>
          <a:xfrm xmlns:a="http://schemas.openxmlformats.org/drawingml/2006/main">
            <a:off x="4168447" y="2125991"/>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19" name="Text 17">
            <a:extLst xmlns:a="http://schemas.openxmlformats.org/drawingml/2006/main">
              <a:ext uri="{FF2B5EF4-FFF2-40B4-BE49-F238E27FC236}">
                <a16:creationId xmlns:a16="http://schemas.microsoft.com/office/drawing/2014/main" id="{D6CEB693-5DDE-46FD-80B7-C8E43C91EB0F}"/>
              </a:ext>
            </a:extLst>
          </p:cNvPr>
          <p:cNvSpPr>
            <a:spLocks xmlns:a="http://schemas.openxmlformats.org/drawingml/2006/main" noGrp="1"/>
          </p:cNvSpPr>
          <p:nvPr/>
        </p:nvSpPr>
        <p:spPr>
          <a:xfrm xmlns:a="http://schemas.openxmlformats.org/drawingml/2006/main">
            <a:off x="4168447" y="2125991"/>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F59E0B"/>
                </a:solidFill>
                <a:latin typeface="Segoe UI Symbol"/>
                <a:ea typeface="Segoe UI Symbol"/>
                <a:cs typeface="Segoe UI Symbol"/>
              </a:rPr>
              <a:t>⚠️</a:t>
            </a:r>
            <a:endParaRPr sz="1400"/>
          </a:p>
        </p:txBody>
      </p:sp>
      <p:sp>
        <p:nvSpPr>
          <p:cNvPr id="20" name="Shape 18">
            <a:extLst xmlns:a="http://schemas.openxmlformats.org/drawingml/2006/main">
              <a:ext uri="{FF2B5EF4-FFF2-40B4-BE49-F238E27FC236}">
                <a16:creationId xmlns:a16="http://schemas.microsoft.com/office/drawing/2014/main" id="{297C8D1A-D00A-435A-B9D7-61CEAB13D33C}"/>
              </a:ext>
            </a:extLst>
          </p:cNvPr>
          <p:cNvSpPr>
            <a:spLocks xmlns:a="http://schemas.openxmlformats.org/drawingml/2006/main" noGrp="1"/>
          </p:cNvSpPr>
          <p:nvPr/>
        </p:nvSpPr>
        <p:spPr>
          <a:xfrm xmlns:a="http://schemas.openxmlformats.org/drawingml/2006/main">
            <a:off x="5399218" y="2125991"/>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21" name="Text 19">
            <a:extLst xmlns:a="http://schemas.openxmlformats.org/drawingml/2006/main">
              <a:ext uri="{FF2B5EF4-FFF2-40B4-BE49-F238E27FC236}">
                <a16:creationId xmlns:a16="http://schemas.microsoft.com/office/drawing/2014/main" id="{60119E71-A3DE-4D58-84E1-F88440AD4646}"/>
              </a:ext>
            </a:extLst>
          </p:cNvPr>
          <p:cNvSpPr>
            <a:spLocks xmlns:a="http://schemas.openxmlformats.org/drawingml/2006/main" noGrp="1"/>
          </p:cNvSpPr>
          <p:nvPr/>
        </p:nvSpPr>
        <p:spPr>
          <a:xfrm xmlns:a="http://schemas.openxmlformats.org/drawingml/2006/main">
            <a:off x="5399218" y="2125991"/>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F59E0B"/>
                </a:solidFill>
                <a:latin typeface="Segoe UI Symbol"/>
                <a:ea typeface="Segoe UI Symbol"/>
                <a:cs typeface="Segoe UI Symbol"/>
              </a:rPr>
              <a:t>⚠️</a:t>
            </a:r>
            <a:endParaRPr sz="1400"/>
          </a:p>
        </p:txBody>
      </p:sp>
      <p:sp>
        <p:nvSpPr>
          <p:cNvPr id="22" name="Shape 20">
            <a:extLst xmlns:a="http://schemas.openxmlformats.org/drawingml/2006/main">
              <a:ext uri="{FF2B5EF4-FFF2-40B4-BE49-F238E27FC236}">
                <a16:creationId xmlns:a16="http://schemas.microsoft.com/office/drawing/2014/main" id="{BD60C2C1-B3A4-4576-BAB2-BD7D67FBFAC0}"/>
              </a:ext>
            </a:extLst>
          </p:cNvPr>
          <p:cNvSpPr>
            <a:spLocks xmlns:a="http://schemas.openxmlformats.org/drawingml/2006/main" noGrp="1"/>
          </p:cNvSpPr>
          <p:nvPr/>
        </p:nvSpPr>
        <p:spPr>
          <a:xfrm xmlns:a="http://schemas.openxmlformats.org/drawingml/2006/main">
            <a:off x="6629988" y="2125991"/>
            <a:ext cx="1817753" cy="308681"/>
          </a:xfrm>
          <a:prstGeom xmlns:a="http://schemas.openxmlformats.org/drawingml/2006/main" prst="rect">
            <a:avLst/>
          </a:prstGeom>
          <a:solidFill xmlns:a="http://schemas.openxmlformats.org/drawingml/2006/main">
            <a:srgbClr val="102040"/>
          </a:solidFill>
          <a:ln xmlns:a="http://schemas.openxmlformats.org/drawingml/2006/main" w="10160">
            <a:solidFill>
              <a:srgbClr val="2563EB"/>
            </a:solidFill>
            <a:prstDash val="solid"/>
          </a:ln>
        </p:spPr>
      </p:sp>
      <p:sp>
        <p:nvSpPr>
          <p:cNvPr id="23" name="Text 21">
            <a:extLst xmlns:a="http://schemas.openxmlformats.org/drawingml/2006/main">
              <a:ext uri="{FF2B5EF4-FFF2-40B4-BE49-F238E27FC236}">
                <a16:creationId xmlns:a16="http://schemas.microsoft.com/office/drawing/2014/main" id="{D6B187BD-5233-4938-BFED-0FAE8C4C954F}"/>
              </a:ext>
            </a:extLst>
          </p:cNvPr>
          <p:cNvSpPr>
            <a:spLocks xmlns:a="http://schemas.openxmlformats.org/drawingml/2006/main" noGrp="1"/>
          </p:cNvSpPr>
          <p:nvPr/>
        </p:nvSpPr>
        <p:spPr>
          <a:xfrm xmlns:a="http://schemas.openxmlformats.org/drawingml/2006/main">
            <a:off x="6629988" y="2125991"/>
            <a:ext cx="1817753"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Segoe UI Symbol"/>
                <a:ea typeface="Segoe UI Symbol"/>
                <a:cs typeface="Segoe UI Symbol"/>
              </a:rPr>
              <a:t>✅</a:t>
            </a:r>
            <a:endParaRPr sz="1400"/>
          </a:p>
        </p:txBody>
      </p:sp>
      <p:sp>
        <p:nvSpPr>
          <p:cNvPr id="24" name="Shape 22">
            <a:extLst xmlns:a="http://schemas.openxmlformats.org/drawingml/2006/main">
              <a:ext uri="{FF2B5EF4-FFF2-40B4-BE49-F238E27FC236}">
                <a16:creationId xmlns:a16="http://schemas.microsoft.com/office/drawing/2014/main" id="{6F2F7DD6-A427-4120-A2E2-82DCB55977F7}"/>
              </a:ext>
            </a:extLst>
          </p:cNvPr>
          <p:cNvSpPr>
            <a:spLocks xmlns:a="http://schemas.openxmlformats.org/drawingml/2006/main" noGrp="1"/>
          </p:cNvSpPr>
          <p:nvPr/>
        </p:nvSpPr>
        <p:spPr>
          <a:xfrm xmlns:a="http://schemas.openxmlformats.org/drawingml/2006/main">
            <a:off x="457200" y="2450107"/>
            <a:ext cx="2480475"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25" name="Text 23">
            <a:extLst xmlns:a="http://schemas.openxmlformats.org/drawingml/2006/main">
              <a:ext uri="{FF2B5EF4-FFF2-40B4-BE49-F238E27FC236}">
                <a16:creationId xmlns:a16="http://schemas.microsoft.com/office/drawing/2014/main" id="{B5758C9A-A338-4362-ADC5-FD345C862B7A}"/>
              </a:ext>
            </a:extLst>
          </p:cNvPr>
          <p:cNvSpPr>
            <a:spLocks xmlns:a="http://schemas.openxmlformats.org/drawingml/2006/main" noGrp="1"/>
          </p:cNvSpPr>
          <p:nvPr/>
        </p:nvSpPr>
        <p:spPr>
          <a:xfrm xmlns:a="http://schemas.openxmlformats.org/drawingml/2006/main">
            <a:off x="457200" y="2450107"/>
            <a:ext cx="2480475"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chemeClr val="bg1"/>
                </a:solidFill>
                <a:latin typeface="Trebuchet MS"/>
                <a:ea typeface="Trebuchet MS"/>
                <a:cs typeface="Trebuchet MS"/>
              </a:rPr>
              <a:t>Per-file validation report</a:t>
            </a:r>
            <a:endParaRPr sz="1050">
              <a:solidFill>
                <a:schemeClr val="bg1"/>
              </a:solidFill>
            </a:endParaRPr>
          </a:p>
        </p:txBody>
      </p:sp>
      <p:sp>
        <p:nvSpPr>
          <p:cNvPr id="26" name="Shape 24">
            <a:extLst xmlns:a="http://schemas.openxmlformats.org/drawingml/2006/main">
              <a:ext uri="{FF2B5EF4-FFF2-40B4-BE49-F238E27FC236}">
                <a16:creationId xmlns:a16="http://schemas.microsoft.com/office/drawing/2014/main" id="{58936CA1-1F7E-444B-BD27-A7066C5BF78F}"/>
              </a:ext>
            </a:extLst>
          </p:cNvPr>
          <p:cNvSpPr>
            <a:spLocks xmlns:a="http://schemas.openxmlformats.org/drawingml/2006/main" noGrp="1"/>
          </p:cNvSpPr>
          <p:nvPr/>
        </p:nvSpPr>
        <p:spPr>
          <a:xfrm xmlns:a="http://schemas.openxmlformats.org/drawingml/2006/main">
            <a:off x="2937676" y="2450107"/>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27" name="Text 25">
            <a:extLst xmlns:a="http://schemas.openxmlformats.org/drawingml/2006/main">
              <a:ext uri="{FF2B5EF4-FFF2-40B4-BE49-F238E27FC236}">
                <a16:creationId xmlns:a16="http://schemas.microsoft.com/office/drawing/2014/main" id="{E682C2FF-7557-4FC8-B78F-5047CE3D06D7}"/>
              </a:ext>
            </a:extLst>
          </p:cNvPr>
          <p:cNvSpPr>
            <a:spLocks xmlns:a="http://schemas.openxmlformats.org/drawingml/2006/main" noGrp="1"/>
          </p:cNvSpPr>
          <p:nvPr/>
        </p:nvSpPr>
        <p:spPr>
          <a:xfrm xmlns:a="http://schemas.openxmlformats.org/drawingml/2006/main">
            <a:off x="2937676" y="2450107"/>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28" name="Shape 26">
            <a:extLst xmlns:a="http://schemas.openxmlformats.org/drawingml/2006/main">
              <a:ext uri="{FF2B5EF4-FFF2-40B4-BE49-F238E27FC236}">
                <a16:creationId xmlns:a16="http://schemas.microsoft.com/office/drawing/2014/main" id="{CFC6F7F8-CEBB-410F-936C-A89363F38DC1}"/>
              </a:ext>
            </a:extLst>
          </p:cNvPr>
          <p:cNvSpPr>
            <a:spLocks xmlns:a="http://schemas.openxmlformats.org/drawingml/2006/main" noGrp="1"/>
          </p:cNvSpPr>
          <p:nvPr/>
        </p:nvSpPr>
        <p:spPr>
          <a:xfrm xmlns:a="http://schemas.openxmlformats.org/drawingml/2006/main">
            <a:off x="4168447" y="2450107"/>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29" name="Text 27">
            <a:extLst xmlns:a="http://schemas.openxmlformats.org/drawingml/2006/main">
              <a:ext uri="{FF2B5EF4-FFF2-40B4-BE49-F238E27FC236}">
                <a16:creationId xmlns:a16="http://schemas.microsoft.com/office/drawing/2014/main" id="{3EF14A9C-E3A8-4E47-AC0C-19A30A12CE92}"/>
              </a:ext>
            </a:extLst>
          </p:cNvPr>
          <p:cNvSpPr>
            <a:spLocks xmlns:a="http://schemas.openxmlformats.org/drawingml/2006/main" noGrp="1"/>
          </p:cNvSpPr>
          <p:nvPr/>
        </p:nvSpPr>
        <p:spPr>
          <a:xfrm xmlns:a="http://schemas.openxmlformats.org/drawingml/2006/main">
            <a:off x="4168447" y="2450107"/>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30" name="Shape 28">
            <a:extLst xmlns:a="http://schemas.openxmlformats.org/drawingml/2006/main">
              <a:ext uri="{FF2B5EF4-FFF2-40B4-BE49-F238E27FC236}">
                <a16:creationId xmlns:a16="http://schemas.microsoft.com/office/drawing/2014/main" id="{E9DF95DF-8C67-4F4E-98F6-328CD648B093}"/>
              </a:ext>
            </a:extLst>
          </p:cNvPr>
          <p:cNvSpPr>
            <a:spLocks xmlns:a="http://schemas.openxmlformats.org/drawingml/2006/main" noGrp="1"/>
          </p:cNvSpPr>
          <p:nvPr/>
        </p:nvSpPr>
        <p:spPr>
          <a:xfrm xmlns:a="http://schemas.openxmlformats.org/drawingml/2006/main">
            <a:off x="5399218" y="2450107"/>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31" name="Text 29">
            <a:extLst xmlns:a="http://schemas.openxmlformats.org/drawingml/2006/main">
              <a:ext uri="{FF2B5EF4-FFF2-40B4-BE49-F238E27FC236}">
                <a16:creationId xmlns:a16="http://schemas.microsoft.com/office/drawing/2014/main" id="{554E60FB-2217-4E09-9325-82E7C8A2ED85}"/>
              </a:ext>
            </a:extLst>
          </p:cNvPr>
          <p:cNvSpPr>
            <a:spLocks xmlns:a="http://schemas.openxmlformats.org/drawingml/2006/main" noGrp="1"/>
          </p:cNvSpPr>
          <p:nvPr/>
        </p:nvSpPr>
        <p:spPr>
          <a:xfrm xmlns:a="http://schemas.openxmlformats.org/drawingml/2006/main">
            <a:off x="5399218" y="2450107"/>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F59E0B"/>
                </a:solidFill>
                <a:latin typeface="Segoe UI Symbol"/>
                <a:ea typeface="Segoe UI Symbol"/>
                <a:cs typeface="Segoe UI Symbol"/>
              </a:rPr>
              <a:t>⚠️</a:t>
            </a:r>
            <a:endParaRPr sz="1400"/>
          </a:p>
        </p:txBody>
      </p:sp>
      <p:sp>
        <p:nvSpPr>
          <p:cNvPr id="32" name="Shape 30">
            <a:extLst xmlns:a="http://schemas.openxmlformats.org/drawingml/2006/main">
              <a:ext uri="{FF2B5EF4-FFF2-40B4-BE49-F238E27FC236}">
                <a16:creationId xmlns:a16="http://schemas.microsoft.com/office/drawing/2014/main" id="{CB277324-A0D7-4409-BDE9-79A558852280}"/>
              </a:ext>
            </a:extLst>
          </p:cNvPr>
          <p:cNvSpPr>
            <a:spLocks xmlns:a="http://schemas.openxmlformats.org/drawingml/2006/main" noGrp="1"/>
          </p:cNvSpPr>
          <p:nvPr/>
        </p:nvSpPr>
        <p:spPr>
          <a:xfrm xmlns:a="http://schemas.openxmlformats.org/drawingml/2006/main">
            <a:off x="6629988" y="2450107"/>
            <a:ext cx="1817753" cy="308681"/>
          </a:xfrm>
          <a:prstGeom xmlns:a="http://schemas.openxmlformats.org/drawingml/2006/main" prst="rect">
            <a:avLst/>
          </a:prstGeom>
          <a:solidFill xmlns:a="http://schemas.openxmlformats.org/drawingml/2006/main">
            <a:srgbClr val="0C1C38"/>
          </a:solidFill>
          <a:ln xmlns:a="http://schemas.openxmlformats.org/drawingml/2006/main" w="10160">
            <a:solidFill>
              <a:srgbClr val="2563EB"/>
            </a:solidFill>
            <a:prstDash val="solid"/>
          </a:ln>
        </p:spPr>
      </p:sp>
      <p:sp>
        <p:nvSpPr>
          <p:cNvPr id="33" name="Text 31">
            <a:extLst xmlns:a="http://schemas.openxmlformats.org/drawingml/2006/main">
              <a:ext uri="{FF2B5EF4-FFF2-40B4-BE49-F238E27FC236}">
                <a16:creationId xmlns:a16="http://schemas.microsoft.com/office/drawing/2014/main" id="{F11DE13F-1AED-46AF-94F6-16D56E65440D}"/>
              </a:ext>
            </a:extLst>
          </p:cNvPr>
          <p:cNvSpPr>
            <a:spLocks xmlns:a="http://schemas.openxmlformats.org/drawingml/2006/main" noGrp="1"/>
          </p:cNvSpPr>
          <p:nvPr/>
        </p:nvSpPr>
        <p:spPr>
          <a:xfrm xmlns:a="http://schemas.openxmlformats.org/drawingml/2006/main">
            <a:off x="6629988" y="2450107"/>
            <a:ext cx="1817753"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Segoe UI Symbol"/>
                <a:ea typeface="Segoe UI Symbol"/>
                <a:cs typeface="Segoe UI Symbol"/>
              </a:rPr>
              <a:t>✅</a:t>
            </a:r>
            <a:endParaRPr sz="1400"/>
          </a:p>
        </p:txBody>
      </p:sp>
      <p:sp>
        <p:nvSpPr>
          <p:cNvPr id="34" name="Shape 32">
            <a:extLst xmlns:a="http://schemas.openxmlformats.org/drawingml/2006/main">
              <a:ext uri="{FF2B5EF4-FFF2-40B4-BE49-F238E27FC236}">
                <a16:creationId xmlns:a16="http://schemas.microsoft.com/office/drawing/2014/main" id="{39309798-5CA0-4D6C-AC0F-4C2EB41B86A2}"/>
              </a:ext>
            </a:extLst>
          </p:cNvPr>
          <p:cNvSpPr>
            <a:spLocks xmlns:a="http://schemas.openxmlformats.org/drawingml/2006/main" noGrp="1"/>
          </p:cNvSpPr>
          <p:nvPr/>
        </p:nvSpPr>
        <p:spPr>
          <a:xfrm xmlns:a="http://schemas.openxmlformats.org/drawingml/2006/main">
            <a:off x="457200" y="2774222"/>
            <a:ext cx="2480475"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35" name="Text 33">
            <a:extLst xmlns:a="http://schemas.openxmlformats.org/drawingml/2006/main">
              <a:ext uri="{FF2B5EF4-FFF2-40B4-BE49-F238E27FC236}">
                <a16:creationId xmlns:a16="http://schemas.microsoft.com/office/drawing/2014/main" id="{2324B51F-9D15-4BB3-9945-F9728BD880EF}"/>
              </a:ext>
            </a:extLst>
          </p:cNvPr>
          <p:cNvSpPr>
            <a:spLocks xmlns:a="http://schemas.openxmlformats.org/drawingml/2006/main" noGrp="1"/>
          </p:cNvSpPr>
          <p:nvPr/>
        </p:nvSpPr>
        <p:spPr>
          <a:xfrm xmlns:a="http://schemas.openxmlformats.org/drawingml/2006/main">
            <a:off x="457200" y="2774222"/>
            <a:ext cx="2480475"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chemeClr val="bg1"/>
                </a:solidFill>
                <a:latin typeface="Trebuchet MS"/>
                <a:ea typeface="Trebuchet MS"/>
                <a:cs typeface="Trebuchet MS"/>
              </a:rPr>
              <a:t>ZIP source discovery</a:t>
            </a:r>
            <a:endParaRPr sz="1050">
              <a:solidFill>
                <a:schemeClr val="bg1"/>
              </a:solidFill>
            </a:endParaRPr>
          </a:p>
        </p:txBody>
      </p:sp>
      <p:sp>
        <p:nvSpPr>
          <p:cNvPr id="36" name="Shape 34">
            <a:extLst xmlns:a="http://schemas.openxmlformats.org/drawingml/2006/main">
              <a:ext uri="{FF2B5EF4-FFF2-40B4-BE49-F238E27FC236}">
                <a16:creationId xmlns:a16="http://schemas.microsoft.com/office/drawing/2014/main" id="{A7CA149A-FA7E-4E5D-89F4-BF0F3C0834F1}"/>
              </a:ext>
            </a:extLst>
          </p:cNvPr>
          <p:cNvSpPr>
            <a:spLocks xmlns:a="http://schemas.openxmlformats.org/drawingml/2006/main" noGrp="1"/>
          </p:cNvSpPr>
          <p:nvPr/>
        </p:nvSpPr>
        <p:spPr>
          <a:xfrm xmlns:a="http://schemas.openxmlformats.org/drawingml/2006/main">
            <a:off x="2937676" y="2774222"/>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37" name="Text 35">
            <a:extLst xmlns:a="http://schemas.openxmlformats.org/drawingml/2006/main">
              <a:ext uri="{FF2B5EF4-FFF2-40B4-BE49-F238E27FC236}">
                <a16:creationId xmlns:a16="http://schemas.microsoft.com/office/drawing/2014/main" id="{05BDC35A-D670-4CB9-B489-B8579F19EF5F}"/>
              </a:ext>
            </a:extLst>
          </p:cNvPr>
          <p:cNvSpPr>
            <a:spLocks xmlns:a="http://schemas.openxmlformats.org/drawingml/2006/main" noGrp="1"/>
          </p:cNvSpPr>
          <p:nvPr/>
        </p:nvSpPr>
        <p:spPr>
          <a:xfrm xmlns:a="http://schemas.openxmlformats.org/drawingml/2006/main">
            <a:off x="2937676" y="2774222"/>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38" name="Shape 36">
            <a:extLst xmlns:a="http://schemas.openxmlformats.org/drawingml/2006/main">
              <a:ext uri="{FF2B5EF4-FFF2-40B4-BE49-F238E27FC236}">
                <a16:creationId xmlns:a16="http://schemas.microsoft.com/office/drawing/2014/main" id="{13CA7593-512A-4624-A6ED-9A2481DC0E05}"/>
              </a:ext>
            </a:extLst>
          </p:cNvPr>
          <p:cNvSpPr>
            <a:spLocks xmlns:a="http://schemas.openxmlformats.org/drawingml/2006/main" noGrp="1"/>
          </p:cNvSpPr>
          <p:nvPr/>
        </p:nvSpPr>
        <p:spPr>
          <a:xfrm xmlns:a="http://schemas.openxmlformats.org/drawingml/2006/main">
            <a:off x="4168447" y="2774222"/>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39" name="Text 37">
            <a:extLst xmlns:a="http://schemas.openxmlformats.org/drawingml/2006/main">
              <a:ext uri="{FF2B5EF4-FFF2-40B4-BE49-F238E27FC236}">
                <a16:creationId xmlns:a16="http://schemas.microsoft.com/office/drawing/2014/main" id="{1A31CDA3-D16B-44EC-97E5-28D8AC9361EB}"/>
              </a:ext>
            </a:extLst>
          </p:cNvPr>
          <p:cNvSpPr>
            <a:spLocks xmlns:a="http://schemas.openxmlformats.org/drawingml/2006/main" noGrp="1"/>
          </p:cNvSpPr>
          <p:nvPr/>
        </p:nvSpPr>
        <p:spPr>
          <a:xfrm xmlns:a="http://schemas.openxmlformats.org/drawingml/2006/main">
            <a:off x="4168447" y="2774222"/>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40" name="Shape 38">
            <a:extLst xmlns:a="http://schemas.openxmlformats.org/drawingml/2006/main">
              <a:ext uri="{FF2B5EF4-FFF2-40B4-BE49-F238E27FC236}">
                <a16:creationId xmlns:a16="http://schemas.microsoft.com/office/drawing/2014/main" id="{354700B6-115A-49BD-B940-90A028D1B8A4}"/>
              </a:ext>
            </a:extLst>
          </p:cNvPr>
          <p:cNvSpPr>
            <a:spLocks xmlns:a="http://schemas.openxmlformats.org/drawingml/2006/main" noGrp="1"/>
          </p:cNvSpPr>
          <p:nvPr/>
        </p:nvSpPr>
        <p:spPr>
          <a:xfrm xmlns:a="http://schemas.openxmlformats.org/drawingml/2006/main">
            <a:off x="5399218" y="2774222"/>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41" name="Text 39">
            <a:extLst xmlns:a="http://schemas.openxmlformats.org/drawingml/2006/main">
              <a:ext uri="{FF2B5EF4-FFF2-40B4-BE49-F238E27FC236}">
                <a16:creationId xmlns:a16="http://schemas.microsoft.com/office/drawing/2014/main" id="{21494A3D-F8D5-4E95-B928-A2BEA2F7107D}"/>
              </a:ext>
            </a:extLst>
          </p:cNvPr>
          <p:cNvSpPr>
            <a:spLocks xmlns:a="http://schemas.openxmlformats.org/drawingml/2006/main" noGrp="1"/>
          </p:cNvSpPr>
          <p:nvPr/>
        </p:nvSpPr>
        <p:spPr>
          <a:xfrm xmlns:a="http://schemas.openxmlformats.org/drawingml/2006/main">
            <a:off x="5399218" y="2774222"/>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F59E0B"/>
                </a:solidFill>
                <a:latin typeface="Segoe UI Symbol"/>
                <a:ea typeface="Segoe UI Symbol"/>
                <a:cs typeface="Segoe UI Symbol"/>
              </a:rPr>
              <a:t>⚠️</a:t>
            </a:r>
            <a:endParaRPr sz="1400"/>
          </a:p>
        </p:txBody>
      </p:sp>
      <p:sp>
        <p:nvSpPr>
          <p:cNvPr id="42" name="Shape 40">
            <a:extLst xmlns:a="http://schemas.openxmlformats.org/drawingml/2006/main">
              <a:ext uri="{FF2B5EF4-FFF2-40B4-BE49-F238E27FC236}">
                <a16:creationId xmlns:a16="http://schemas.microsoft.com/office/drawing/2014/main" id="{C9B481CC-50E4-4E26-98F1-C6FC3E8D03DF}"/>
              </a:ext>
            </a:extLst>
          </p:cNvPr>
          <p:cNvSpPr>
            <a:spLocks xmlns:a="http://schemas.openxmlformats.org/drawingml/2006/main" noGrp="1"/>
          </p:cNvSpPr>
          <p:nvPr/>
        </p:nvSpPr>
        <p:spPr>
          <a:xfrm xmlns:a="http://schemas.openxmlformats.org/drawingml/2006/main">
            <a:off x="6629988" y="2774222"/>
            <a:ext cx="1817753" cy="308681"/>
          </a:xfrm>
          <a:prstGeom xmlns:a="http://schemas.openxmlformats.org/drawingml/2006/main" prst="rect">
            <a:avLst/>
          </a:prstGeom>
          <a:solidFill xmlns:a="http://schemas.openxmlformats.org/drawingml/2006/main">
            <a:srgbClr val="102040"/>
          </a:solidFill>
          <a:ln xmlns:a="http://schemas.openxmlformats.org/drawingml/2006/main" w="10160">
            <a:solidFill>
              <a:srgbClr val="2563EB"/>
            </a:solidFill>
            <a:prstDash val="solid"/>
          </a:ln>
        </p:spPr>
      </p:sp>
      <p:sp>
        <p:nvSpPr>
          <p:cNvPr id="43" name="Text 41">
            <a:extLst xmlns:a="http://schemas.openxmlformats.org/drawingml/2006/main">
              <a:ext uri="{FF2B5EF4-FFF2-40B4-BE49-F238E27FC236}">
                <a16:creationId xmlns:a16="http://schemas.microsoft.com/office/drawing/2014/main" id="{901C5545-36A7-421C-829C-23A7A5B65663}"/>
              </a:ext>
            </a:extLst>
          </p:cNvPr>
          <p:cNvSpPr>
            <a:spLocks xmlns:a="http://schemas.openxmlformats.org/drawingml/2006/main" noGrp="1"/>
          </p:cNvSpPr>
          <p:nvPr/>
        </p:nvSpPr>
        <p:spPr>
          <a:xfrm xmlns:a="http://schemas.openxmlformats.org/drawingml/2006/main">
            <a:off x="6629988" y="2774222"/>
            <a:ext cx="1817753"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Segoe UI Symbol"/>
                <a:ea typeface="Segoe UI Symbol"/>
                <a:cs typeface="Segoe UI Symbol"/>
              </a:rPr>
              <a:t>✅</a:t>
            </a:r>
            <a:endParaRPr sz="1400"/>
          </a:p>
        </p:txBody>
      </p:sp>
      <p:sp>
        <p:nvSpPr>
          <p:cNvPr id="44" name="Shape 42">
            <a:extLst xmlns:a="http://schemas.openxmlformats.org/drawingml/2006/main">
              <a:ext uri="{FF2B5EF4-FFF2-40B4-BE49-F238E27FC236}">
                <a16:creationId xmlns:a16="http://schemas.microsoft.com/office/drawing/2014/main" id="{5A309263-D9F7-47ED-9DD3-BAC6D98C9C06}"/>
              </a:ext>
            </a:extLst>
          </p:cNvPr>
          <p:cNvSpPr>
            <a:spLocks xmlns:a="http://schemas.openxmlformats.org/drawingml/2006/main" noGrp="1"/>
          </p:cNvSpPr>
          <p:nvPr/>
        </p:nvSpPr>
        <p:spPr>
          <a:xfrm xmlns:a="http://schemas.openxmlformats.org/drawingml/2006/main">
            <a:off x="457200" y="3098338"/>
            <a:ext cx="2480475"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45" name="Text 43">
            <a:extLst xmlns:a="http://schemas.openxmlformats.org/drawingml/2006/main">
              <a:ext uri="{FF2B5EF4-FFF2-40B4-BE49-F238E27FC236}">
                <a16:creationId xmlns:a16="http://schemas.microsoft.com/office/drawing/2014/main" id="{C1849AF7-F204-4311-99F8-A8C7B57D772B}"/>
              </a:ext>
            </a:extLst>
          </p:cNvPr>
          <p:cNvSpPr>
            <a:spLocks xmlns:a="http://schemas.openxmlformats.org/drawingml/2006/main" noGrp="1"/>
          </p:cNvSpPr>
          <p:nvPr/>
        </p:nvSpPr>
        <p:spPr>
          <a:xfrm xmlns:a="http://schemas.openxmlformats.org/drawingml/2006/main">
            <a:off x="457200" y="3098338"/>
            <a:ext cx="2480475"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chemeClr val="bg1"/>
                </a:solidFill>
                <a:latin typeface="Trebuchet MS"/>
                <a:ea typeface="Trebuchet MS"/>
                <a:cs typeface="Trebuchet MS"/>
              </a:rPr>
              <a:t>No-code guided workflow</a:t>
            </a:r>
            <a:endParaRPr sz="1050">
              <a:solidFill>
                <a:schemeClr val="bg1"/>
              </a:solidFill>
            </a:endParaRPr>
          </a:p>
        </p:txBody>
      </p:sp>
      <p:sp>
        <p:nvSpPr>
          <p:cNvPr id="46" name="Shape 44">
            <a:extLst xmlns:a="http://schemas.openxmlformats.org/drawingml/2006/main">
              <a:ext uri="{FF2B5EF4-FFF2-40B4-BE49-F238E27FC236}">
                <a16:creationId xmlns:a16="http://schemas.microsoft.com/office/drawing/2014/main" id="{B4A37EBC-3576-4D6F-B802-4F1BD56996C2}"/>
              </a:ext>
            </a:extLst>
          </p:cNvPr>
          <p:cNvSpPr>
            <a:spLocks xmlns:a="http://schemas.openxmlformats.org/drawingml/2006/main" noGrp="1"/>
          </p:cNvSpPr>
          <p:nvPr/>
        </p:nvSpPr>
        <p:spPr>
          <a:xfrm xmlns:a="http://schemas.openxmlformats.org/drawingml/2006/main">
            <a:off x="2937676" y="3098338"/>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47" name="Text 45">
            <a:extLst xmlns:a="http://schemas.openxmlformats.org/drawingml/2006/main">
              <a:ext uri="{FF2B5EF4-FFF2-40B4-BE49-F238E27FC236}">
                <a16:creationId xmlns:a16="http://schemas.microsoft.com/office/drawing/2014/main" id="{3F5B61DF-8876-4FD5-A4F5-C5DA3059629B}"/>
              </a:ext>
            </a:extLst>
          </p:cNvPr>
          <p:cNvSpPr>
            <a:spLocks xmlns:a="http://schemas.openxmlformats.org/drawingml/2006/main" noGrp="1"/>
          </p:cNvSpPr>
          <p:nvPr/>
        </p:nvSpPr>
        <p:spPr>
          <a:xfrm xmlns:a="http://schemas.openxmlformats.org/drawingml/2006/main">
            <a:off x="2937676" y="3098338"/>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F59E0B"/>
                </a:solidFill>
                <a:latin typeface="Segoe UI Symbol"/>
                <a:ea typeface="Segoe UI Symbol"/>
                <a:cs typeface="Segoe UI Symbol"/>
              </a:rPr>
              <a:t>⚠️</a:t>
            </a:r>
            <a:endParaRPr sz="1400"/>
          </a:p>
        </p:txBody>
      </p:sp>
      <p:sp>
        <p:nvSpPr>
          <p:cNvPr id="48" name="Shape 46">
            <a:extLst xmlns:a="http://schemas.openxmlformats.org/drawingml/2006/main">
              <a:ext uri="{FF2B5EF4-FFF2-40B4-BE49-F238E27FC236}">
                <a16:creationId xmlns:a16="http://schemas.microsoft.com/office/drawing/2014/main" id="{8A234BD7-57EF-4C65-A66C-937268370934}"/>
              </a:ext>
            </a:extLst>
          </p:cNvPr>
          <p:cNvSpPr>
            <a:spLocks xmlns:a="http://schemas.openxmlformats.org/drawingml/2006/main" noGrp="1"/>
          </p:cNvSpPr>
          <p:nvPr/>
        </p:nvSpPr>
        <p:spPr>
          <a:xfrm xmlns:a="http://schemas.openxmlformats.org/drawingml/2006/main">
            <a:off x="4168447" y="3098338"/>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49" name="Text 47">
            <a:extLst xmlns:a="http://schemas.openxmlformats.org/drawingml/2006/main">
              <a:ext uri="{FF2B5EF4-FFF2-40B4-BE49-F238E27FC236}">
                <a16:creationId xmlns:a16="http://schemas.microsoft.com/office/drawing/2014/main" id="{D3EE32BF-038C-4E99-BA2B-AB9AEB2C896D}"/>
              </a:ext>
            </a:extLst>
          </p:cNvPr>
          <p:cNvSpPr>
            <a:spLocks xmlns:a="http://schemas.openxmlformats.org/drawingml/2006/main" noGrp="1"/>
          </p:cNvSpPr>
          <p:nvPr/>
        </p:nvSpPr>
        <p:spPr>
          <a:xfrm xmlns:a="http://schemas.openxmlformats.org/drawingml/2006/main">
            <a:off x="4168447" y="3098338"/>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F59E0B"/>
                </a:solidFill>
                <a:latin typeface="Segoe UI Symbol"/>
                <a:ea typeface="Segoe UI Symbol"/>
                <a:cs typeface="Segoe UI Symbol"/>
              </a:rPr>
              <a:t>⚠️</a:t>
            </a:r>
            <a:endParaRPr sz="1400"/>
          </a:p>
        </p:txBody>
      </p:sp>
      <p:sp>
        <p:nvSpPr>
          <p:cNvPr id="50" name="Shape 48">
            <a:extLst xmlns:a="http://schemas.openxmlformats.org/drawingml/2006/main">
              <a:ext uri="{FF2B5EF4-FFF2-40B4-BE49-F238E27FC236}">
                <a16:creationId xmlns:a16="http://schemas.microsoft.com/office/drawing/2014/main" id="{F73A7D87-6C03-4FE9-A8FD-EC293B113EFA}"/>
              </a:ext>
            </a:extLst>
          </p:cNvPr>
          <p:cNvSpPr>
            <a:spLocks xmlns:a="http://schemas.openxmlformats.org/drawingml/2006/main" noGrp="1"/>
          </p:cNvSpPr>
          <p:nvPr/>
        </p:nvSpPr>
        <p:spPr>
          <a:xfrm xmlns:a="http://schemas.openxmlformats.org/drawingml/2006/main">
            <a:off x="5399218" y="3098338"/>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51" name="Text 49">
            <a:extLst xmlns:a="http://schemas.openxmlformats.org/drawingml/2006/main">
              <a:ext uri="{FF2B5EF4-FFF2-40B4-BE49-F238E27FC236}">
                <a16:creationId xmlns:a16="http://schemas.microsoft.com/office/drawing/2014/main" id="{4CAD47E0-417F-4E35-A9CF-E9D0B58B28FF}"/>
              </a:ext>
            </a:extLst>
          </p:cNvPr>
          <p:cNvSpPr>
            <a:spLocks xmlns:a="http://schemas.openxmlformats.org/drawingml/2006/main" noGrp="1"/>
          </p:cNvSpPr>
          <p:nvPr/>
        </p:nvSpPr>
        <p:spPr>
          <a:xfrm xmlns:a="http://schemas.openxmlformats.org/drawingml/2006/main">
            <a:off x="5399218" y="3098338"/>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52" name="Shape 50">
            <a:extLst xmlns:a="http://schemas.openxmlformats.org/drawingml/2006/main">
              <a:ext uri="{FF2B5EF4-FFF2-40B4-BE49-F238E27FC236}">
                <a16:creationId xmlns:a16="http://schemas.microsoft.com/office/drawing/2014/main" id="{78023181-4914-45A4-BD16-44C17DCDEDE4}"/>
              </a:ext>
            </a:extLst>
          </p:cNvPr>
          <p:cNvSpPr>
            <a:spLocks xmlns:a="http://schemas.openxmlformats.org/drawingml/2006/main" noGrp="1"/>
          </p:cNvSpPr>
          <p:nvPr/>
        </p:nvSpPr>
        <p:spPr>
          <a:xfrm xmlns:a="http://schemas.openxmlformats.org/drawingml/2006/main">
            <a:off x="6629988" y="3098338"/>
            <a:ext cx="1817753" cy="308681"/>
          </a:xfrm>
          <a:prstGeom xmlns:a="http://schemas.openxmlformats.org/drawingml/2006/main" prst="rect">
            <a:avLst/>
          </a:prstGeom>
          <a:solidFill xmlns:a="http://schemas.openxmlformats.org/drawingml/2006/main">
            <a:srgbClr val="0C1C38"/>
          </a:solidFill>
          <a:ln xmlns:a="http://schemas.openxmlformats.org/drawingml/2006/main" w="10160">
            <a:solidFill>
              <a:srgbClr val="2563EB"/>
            </a:solidFill>
            <a:prstDash val="solid"/>
          </a:ln>
        </p:spPr>
      </p:sp>
      <p:sp>
        <p:nvSpPr>
          <p:cNvPr id="53" name="Text 51">
            <a:extLst xmlns:a="http://schemas.openxmlformats.org/drawingml/2006/main">
              <a:ext uri="{FF2B5EF4-FFF2-40B4-BE49-F238E27FC236}">
                <a16:creationId xmlns:a16="http://schemas.microsoft.com/office/drawing/2014/main" id="{2393F7A0-D3B4-459B-BB61-4A6F971642D7}"/>
              </a:ext>
            </a:extLst>
          </p:cNvPr>
          <p:cNvSpPr>
            <a:spLocks xmlns:a="http://schemas.openxmlformats.org/drawingml/2006/main" noGrp="1"/>
          </p:cNvSpPr>
          <p:nvPr/>
        </p:nvSpPr>
        <p:spPr>
          <a:xfrm xmlns:a="http://schemas.openxmlformats.org/drawingml/2006/main">
            <a:off x="6629988" y="3098338"/>
            <a:ext cx="1817753"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Segoe UI Symbol"/>
                <a:ea typeface="Segoe UI Symbol"/>
                <a:cs typeface="Segoe UI Symbol"/>
              </a:rPr>
              <a:t>✅</a:t>
            </a:r>
            <a:endParaRPr sz="1400"/>
          </a:p>
        </p:txBody>
      </p:sp>
      <p:sp>
        <p:nvSpPr>
          <p:cNvPr id="54" name="Shape 52">
            <a:extLst xmlns:a="http://schemas.openxmlformats.org/drawingml/2006/main">
              <a:ext uri="{FF2B5EF4-FFF2-40B4-BE49-F238E27FC236}">
                <a16:creationId xmlns:a16="http://schemas.microsoft.com/office/drawing/2014/main" id="{0A8FA0A9-9A2C-48D6-8591-C256B64ABD8C}"/>
              </a:ext>
            </a:extLst>
          </p:cNvPr>
          <p:cNvSpPr>
            <a:spLocks xmlns:a="http://schemas.openxmlformats.org/drawingml/2006/main" noGrp="1"/>
          </p:cNvSpPr>
          <p:nvPr/>
        </p:nvSpPr>
        <p:spPr>
          <a:xfrm xmlns:a="http://schemas.openxmlformats.org/drawingml/2006/main">
            <a:off x="457200" y="3422454"/>
            <a:ext cx="2480475"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55" name="Text 53">
            <a:extLst xmlns:a="http://schemas.openxmlformats.org/drawingml/2006/main">
              <a:ext uri="{FF2B5EF4-FFF2-40B4-BE49-F238E27FC236}">
                <a16:creationId xmlns:a16="http://schemas.microsoft.com/office/drawing/2014/main" id="{67989D64-951E-4746-B5CA-B6BA9CA0A9C0}"/>
              </a:ext>
            </a:extLst>
          </p:cNvPr>
          <p:cNvSpPr>
            <a:spLocks xmlns:a="http://schemas.openxmlformats.org/drawingml/2006/main" noGrp="1"/>
          </p:cNvSpPr>
          <p:nvPr/>
        </p:nvSpPr>
        <p:spPr>
          <a:xfrm xmlns:a="http://schemas.openxmlformats.org/drawingml/2006/main">
            <a:off x="457200" y="3422454"/>
            <a:ext cx="2480475"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chemeClr val="bg1"/>
                </a:solidFill>
                <a:latin typeface="Trebuchet MS"/>
                <a:ea typeface="Trebuchet MS"/>
                <a:cs typeface="Trebuchet MS"/>
              </a:rPr>
              <a:t>Header-order alignment</a:t>
            </a:r>
            <a:endParaRPr sz="1050">
              <a:solidFill>
                <a:schemeClr val="bg1"/>
              </a:solidFill>
            </a:endParaRPr>
          </a:p>
        </p:txBody>
      </p:sp>
      <p:sp>
        <p:nvSpPr>
          <p:cNvPr id="56" name="Shape 54">
            <a:extLst xmlns:a="http://schemas.openxmlformats.org/drawingml/2006/main">
              <a:ext uri="{FF2B5EF4-FFF2-40B4-BE49-F238E27FC236}">
                <a16:creationId xmlns:a16="http://schemas.microsoft.com/office/drawing/2014/main" id="{2003FECD-EE12-4C9D-BA14-72320F218C53}"/>
              </a:ext>
            </a:extLst>
          </p:cNvPr>
          <p:cNvSpPr>
            <a:spLocks xmlns:a="http://schemas.openxmlformats.org/drawingml/2006/main" noGrp="1"/>
          </p:cNvSpPr>
          <p:nvPr/>
        </p:nvSpPr>
        <p:spPr>
          <a:xfrm xmlns:a="http://schemas.openxmlformats.org/drawingml/2006/main">
            <a:off x="2937676" y="3422454"/>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57" name="Text 55">
            <a:extLst xmlns:a="http://schemas.openxmlformats.org/drawingml/2006/main">
              <a:ext uri="{FF2B5EF4-FFF2-40B4-BE49-F238E27FC236}">
                <a16:creationId xmlns:a16="http://schemas.microsoft.com/office/drawing/2014/main" id="{89010E8C-F538-44F9-8491-0BA7AE7599DD}"/>
              </a:ext>
            </a:extLst>
          </p:cNvPr>
          <p:cNvSpPr>
            <a:spLocks xmlns:a="http://schemas.openxmlformats.org/drawingml/2006/main" noGrp="1"/>
          </p:cNvSpPr>
          <p:nvPr/>
        </p:nvSpPr>
        <p:spPr>
          <a:xfrm xmlns:a="http://schemas.openxmlformats.org/drawingml/2006/main">
            <a:off x="2937676" y="3422454"/>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58" name="Shape 56">
            <a:extLst xmlns:a="http://schemas.openxmlformats.org/drawingml/2006/main">
              <a:ext uri="{FF2B5EF4-FFF2-40B4-BE49-F238E27FC236}">
                <a16:creationId xmlns:a16="http://schemas.microsoft.com/office/drawing/2014/main" id="{577A0763-521C-439A-BEDC-5EBD20B01405}"/>
              </a:ext>
            </a:extLst>
          </p:cNvPr>
          <p:cNvSpPr>
            <a:spLocks xmlns:a="http://schemas.openxmlformats.org/drawingml/2006/main" noGrp="1"/>
          </p:cNvSpPr>
          <p:nvPr/>
        </p:nvSpPr>
        <p:spPr>
          <a:xfrm xmlns:a="http://schemas.openxmlformats.org/drawingml/2006/main">
            <a:off x="4168447" y="3422454"/>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59" name="Text 57">
            <a:extLst xmlns:a="http://schemas.openxmlformats.org/drawingml/2006/main">
              <a:ext uri="{FF2B5EF4-FFF2-40B4-BE49-F238E27FC236}">
                <a16:creationId xmlns:a16="http://schemas.microsoft.com/office/drawing/2014/main" id="{D274EEF1-8423-43C7-9DFB-7469F389EE44}"/>
              </a:ext>
            </a:extLst>
          </p:cNvPr>
          <p:cNvSpPr>
            <a:spLocks xmlns:a="http://schemas.openxmlformats.org/drawingml/2006/main" noGrp="1"/>
          </p:cNvSpPr>
          <p:nvPr/>
        </p:nvSpPr>
        <p:spPr>
          <a:xfrm xmlns:a="http://schemas.openxmlformats.org/drawingml/2006/main">
            <a:off x="4168447" y="3422454"/>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F59E0B"/>
                </a:solidFill>
                <a:latin typeface="Segoe UI Symbol"/>
                <a:ea typeface="Segoe UI Symbol"/>
                <a:cs typeface="Segoe UI Symbol"/>
              </a:rPr>
              <a:t>⚠️</a:t>
            </a:r>
            <a:endParaRPr sz="1400"/>
          </a:p>
        </p:txBody>
      </p:sp>
      <p:sp>
        <p:nvSpPr>
          <p:cNvPr id="60" name="Shape 58">
            <a:extLst xmlns:a="http://schemas.openxmlformats.org/drawingml/2006/main">
              <a:ext uri="{FF2B5EF4-FFF2-40B4-BE49-F238E27FC236}">
                <a16:creationId xmlns:a16="http://schemas.microsoft.com/office/drawing/2014/main" id="{5949B047-06A6-46F3-B03C-9A399DC1E84B}"/>
              </a:ext>
            </a:extLst>
          </p:cNvPr>
          <p:cNvSpPr>
            <a:spLocks xmlns:a="http://schemas.openxmlformats.org/drawingml/2006/main" noGrp="1"/>
          </p:cNvSpPr>
          <p:nvPr/>
        </p:nvSpPr>
        <p:spPr>
          <a:xfrm xmlns:a="http://schemas.openxmlformats.org/drawingml/2006/main">
            <a:off x="5399218" y="3422454"/>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61" name="Text 59">
            <a:extLst xmlns:a="http://schemas.openxmlformats.org/drawingml/2006/main">
              <a:ext uri="{FF2B5EF4-FFF2-40B4-BE49-F238E27FC236}">
                <a16:creationId xmlns:a16="http://schemas.microsoft.com/office/drawing/2014/main" id="{EF48FB13-E50C-4EC6-9834-C7A0523441D9}"/>
              </a:ext>
            </a:extLst>
          </p:cNvPr>
          <p:cNvSpPr>
            <a:spLocks xmlns:a="http://schemas.openxmlformats.org/drawingml/2006/main" noGrp="1"/>
          </p:cNvSpPr>
          <p:nvPr/>
        </p:nvSpPr>
        <p:spPr>
          <a:xfrm xmlns:a="http://schemas.openxmlformats.org/drawingml/2006/main">
            <a:off x="5399218" y="3422454"/>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62" name="Shape 60">
            <a:extLst xmlns:a="http://schemas.openxmlformats.org/drawingml/2006/main">
              <a:ext uri="{FF2B5EF4-FFF2-40B4-BE49-F238E27FC236}">
                <a16:creationId xmlns:a16="http://schemas.microsoft.com/office/drawing/2014/main" id="{608CC5AB-4357-4B33-B8F2-A65B8FBD3C04}"/>
              </a:ext>
            </a:extLst>
          </p:cNvPr>
          <p:cNvSpPr>
            <a:spLocks xmlns:a="http://schemas.openxmlformats.org/drawingml/2006/main" noGrp="1"/>
          </p:cNvSpPr>
          <p:nvPr/>
        </p:nvSpPr>
        <p:spPr>
          <a:xfrm xmlns:a="http://schemas.openxmlformats.org/drawingml/2006/main">
            <a:off x="6629988" y="3422454"/>
            <a:ext cx="1817753" cy="308681"/>
          </a:xfrm>
          <a:prstGeom xmlns:a="http://schemas.openxmlformats.org/drawingml/2006/main" prst="rect">
            <a:avLst/>
          </a:prstGeom>
          <a:solidFill xmlns:a="http://schemas.openxmlformats.org/drawingml/2006/main">
            <a:srgbClr val="102040"/>
          </a:solidFill>
          <a:ln xmlns:a="http://schemas.openxmlformats.org/drawingml/2006/main" w="10160">
            <a:solidFill>
              <a:srgbClr val="2563EB"/>
            </a:solidFill>
            <a:prstDash val="solid"/>
          </a:ln>
        </p:spPr>
      </p:sp>
      <p:sp>
        <p:nvSpPr>
          <p:cNvPr id="63" name="Text 61">
            <a:extLst xmlns:a="http://schemas.openxmlformats.org/drawingml/2006/main">
              <a:ext uri="{FF2B5EF4-FFF2-40B4-BE49-F238E27FC236}">
                <a16:creationId xmlns:a16="http://schemas.microsoft.com/office/drawing/2014/main" id="{FBE10D71-FA58-4312-9081-72DC02B9DB96}"/>
              </a:ext>
            </a:extLst>
          </p:cNvPr>
          <p:cNvSpPr>
            <a:spLocks xmlns:a="http://schemas.openxmlformats.org/drawingml/2006/main" noGrp="1"/>
          </p:cNvSpPr>
          <p:nvPr/>
        </p:nvSpPr>
        <p:spPr>
          <a:xfrm xmlns:a="http://schemas.openxmlformats.org/drawingml/2006/main">
            <a:off x="6629988" y="3422454"/>
            <a:ext cx="1817753"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Segoe UI Symbol"/>
                <a:ea typeface="Segoe UI Symbol"/>
                <a:cs typeface="Segoe UI Symbol"/>
              </a:rPr>
              <a:t>✅</a:t>
            </a:r>
            <a:endParaRPr sz="1400"/>
          </a:p>
        </p:txBody>
      </p:sp>
      <p:sp>
        <p:nvSpPr>
          <p:cNvPr id="64" name="Shape 62">
            <a:extLst xmlns:a="http://schemas.openxmlformats.org/drawingml/2006/main">
              <a:ext uri="{FF2B5EF4-FFF2-40B4-BE49-F238E27FC236}">
                <a16:creationId xmlns:a16="http://schemas.microsoft.com/office/drawing/2014/main" id="{85609302-CE58-4F01-BA48-7803C2BEC645}"/>
              </a:ext>
            </a:extLst>
          </p:cNvPr>
          <p:cNvSpPr>
            <a:spLocks xmlns:a="http://schemas.openxmlformats.org/drawingml/2006/main" noGrp="1"/>
          </p:cNvSpPr>
          <p:nvPr/>
        </p:nvSpPr>
        <p:spPr>
          <a:xfrm xmlns:a="http://schemas.openxmlformats.org/drawingml/2006/main">
            <a:off x="457200" y="3746570"/>
            <a:ext cx="2480475"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65" name="Text 63">
            <a:extLst xmlns:a="http://schemas.openxmlformats.org/drawingml/2006/main">
              <a:ext uri="{FF2B5EF4-FFF2-40B4-BE49-F238E27FC236}">
                <a16:creationId xmlns:a16="http://schemas.microsoft.com/office/drawing/2014/main" id="{6486042D-FD75-4B1E-809E-7C26CEE8C19C}"/>
              </a:ext>
            </a:extLst>
          </p:cNvPr>
          <p:cNvSpPr>
            <a:spLocks xmlns:a="http://schemas.openxmlformats.org/drawingml/2006/main" noGrp="1"/>
          </p:cNvSpPr>
          <p:nvPr/>
        </p:nvSpPr>
        <p:spPr>
          <a:xfrm xmlns:a="http://schemas.openxmlformats.org/drawingml/2006/main">
            <a:off x="457200" y="3746570"/>
            <a:ext cx="2480475"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chemeClr val="bg1"/>
                </a:solidFill>
                <a:latin typeface="Trebuchet MS"/>
                <a:ea typeface="Trebuchet MS"/>
                <a:cs typeface="Trebuchet MS"/>
              </a:rPr>
              <a:t>Memory pre-flight warning</a:t>
            </a:r>
            <a:endParaRPr sz="1050">
              <a:solidFill>
                <a:schemeClr val="bg1"/>
              </a:solidFill>
            </a:endParaRPr>
          </a:p>
        </p:txBody>
      </p:sp>
      <p:sp>
        <p:nvSpPr>
          <p:cNvPr id="66" name="Shape 64">
            <a:extLst xmlns:a="http://schemas.openxmlformats.org/drawingml/2006/main">
              <a:ext uri="{FF2B5EF4-FFF2-40B4-BE49-F238E27FC236}">
                <a16:creationId xmlns:a16="http://schemas.microsoft.com/office/drawing/2014/main" id="{0596071B-F16E-470D-9B85-D0AC696A7554}"/>
              </a:ext>
            </a:extLst>
          </p:cNvPr>
          <p:cNvSpPr>
            <a:spLocks xmlns:a="http://schemas.openxmlformats.org/drawingml/2006/main" noGrp="1"/>
          </p:cNvSpPr>
          <p:nvPr/>
        </p:nvSpPr>
        <p:spPr>
          <a:xfrm xmlns:a="http://schemas.openxmlformats.org/drawingml/2006/main">
            <a:off x="2937676" y="3746570"/>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67" name="Text 65">
            <a:extLst xmlns:a="http://schemas.openxmlformats.org/drawingml/2006/main">
              <a:ext uri="{FF2B5EF4-FFF2-40B4-BE49-F238E27FC236}">
                <a16:creationId xmlns:a16="http://schemas.microsoft.com/office/drawing/2014/main" id="{5816370A-AC34-49CB-A9D9-58759E52954A}"/>
              </a:ext>
            </a:extLst>
          </p:cNvPr>
          <p:cNvSpPr>
            <a:spLocks xmlns:a="http://schemas.openxmlformats.org/drawingml/2006/main" noGrp="1"/>
          </p:cNvSpPr>
          <p:nvPr/>
        </p:nvSpPr>
        <p:spPr>
          <a:xfrm xmlns:a="http://schemas.openxmlformats.org/drawingml/2006/main">
            <a:off x="2937676" y="3746570"/>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68" name="Shape 66">
            <a:extLst xmlns:a="http://schemas.openxmlformats.org/drawingml/2006/main">
              <a:ext uri="{FF2B5EF4-FFF2-40B4-BE49-F238E27FC236}">
                <a16:creationId xmlns:a16="http://schemas.microsoft.com/office/drawing/2014/main" id="{E2F2215D-AC13-4C72-B13B-25B58937EAD4}"/>
              </a:ext>
            </a:extLst>
          </p:cNvPr>
          <p:cNvSpPr>
            <a:spLocks xmlns:a="http://schemas.openxmlformats.org/drawingml/2006/main" noGrp="1"/>
          </p:cNvSpPr>
          <p:nvPr/>
        </p:nvSpPr>
        <p:spPr>
          <a:xfrm xmlns:a="http://schemas.openxmlformats.org/drawingml/2006/main">
            <a:off x="4168447" y="3746570"/>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69" name="Text 67">
            <a:extLst xmlns:a="http://schemas.openxmlformats.org/drawingml/2006/main">
              <a:ext uri="{FF2B5EF4-FFF2-40B4-BE49-F238E27FC236}">
                <a16:creationId xmlns:a16="http://schemas.microsoft.com/office/drawing/2014/main" id="{C71B4F4E-F59E-48D1-8490-E869D1506C3E}"/>
              </a:ext>
            </a:extLst>
          </p:cNvPr>
          <p:cNvSpPr>
            <a:spLocks xmlns:a="http://schemas.openxmlformats.org/drawingml/2006/main" noGrp="1"/>
          </p:cNvSpPr>
          <p:nvPr/>
        </p:nvSpPr>
        <p:spPr>
          <a:xfrm xmlns:a="http://schemas.openxmlformats.org/drawingml/2006/main">
            <a:off x="4168447" y="3746570"/>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70" name="Shape 68">
            <a:extLst xmlns:a="http://schemas.openxmlformats.org/drawingml/2006/main">
              <a:ext uri="{FF2B5EF4-FFF2-40B4-BE49-F238E27FC236}">
                <a16:creationId xmlns:a16="http://schemas.microsoft.com/office/drawing/2014/main" id="{8849788F-C1AF-409C-9D11-961F8B8E1076}"/>
              </a:ext>
            </a:extLst>
          </p:cNvPr>
          <p:cNvSpPr>
            <a:spLocks xmlns:a="http://schemas.openxmlformats.org/drawingml/2006/main" noGrp="1"/>
          </p:cNvSpPr>
          <p:nvPr/>
        </p:nvSpPr>
        <p:spPr>
          <a:xfrm xmlns:a="http://schemas.openxmlformats.org/drawingml/2006/main">
            <a:off x="5399218" y="3746570"/>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71" name="Text 69">
            <a:extLst xmlns:a="http://schemas.openxmlformats.org/drawingml/2006/main">
              <a:ext uri="{FF2B5EF4-FFF2-40B4-BE49-F238E27FC236}">
                <a16:creationId xmlns:a16="http://schemas.microsoft.com/office/drawing/2014/main" id="{C0458022-3EC6-4F4A-AFA7-897D4ACFF8D8}"/>
              </a:ext>
            </a:extLst>
          </p:cNvPr>
          <p:cNvSpPr>
            <a:spLocks xmlns:a="http://schemas.openxmlformats.org/drawingml/2006/main" noGrp="1"/>
          </p:cNvSpPr>
          <p:nvPr/>
        </p:nvSpPr>
        <p:spPr>
          <a:xfrm xmlns:a="http://schemas.openxmlformats.org/drawingml/2006/main">
            <a:off x="5399218" y="3746570"/>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72" name="Shape 70">
            <a:extLst xmlns:a="http://schemas.openxmlformats.org/drawingml/2006/main">
              <a:ext uri="{FF2B5EF4-FFF2-40B4-BE49-F238E27FC236}">
                <a16:creationId xmlns:a16="http://schemas.microsoft.com/office/drawing/2014/main" id="{1CA54F60-6E1E-4466-93E9-9907AD15977E}"/>
              </a:ext>
            </a:extLst>
          </p:cNvPr>
          <p:cNvSpPr>
            <a:spLocks xmlns:a="http://schemas.openxmlformats.org/drawingml/2006/main" noGrp="1"/>
          </p:cNvSpPr>
          <p:nvPr/>
        </p:nvSpPr>
        <p:spPr>
          <a:xfrm xmlns:a="http://schemas.openxmlformats.org/drawingml/2006/main">
            <a:off x="6629988" y="3746570"/>
            <a:ext cx="1817753" cy="308681"/>
          </a:xfrm>
          <a:prstGeom xmlns:a="http://schemas.openxmlformats.org/drawingml/2006/main" prst="rect">
            <a:avLst/>
          </a:prstGeom>
          <a:solidFill xmlns:a="http://schemas.openxmlformats.org/drawingml/2006/main">
            <a:srgbClr val="0C1C38"/>
          </a:solidFill>
          <a:ln xmlns:a="http://schemas.openxmlformats.org/drawingml/2006/main" w="10160">
            <a:solidFill>
              <a:srgbClr val="2563EB"/>
            </a:solidFill>
            <a:prstDash val="solid"/>
          </a:ln>
        </p:spPr>
      </p:sp>
      <p:sp>
        <p:nvSpPr>
          <p:cNvPr id="73" name="Text 71">
            <a:extLst xmlns:a="http://schemas.openxmlformats.org/drawingml/2006/main">
              <a:ext uri="{FF2B5EF4-FFF2-40B4-BE49-F238E27FC236}">
                <a16:creationId xmlns:a16="http://schemas.microsoft.com/office/drawing/2014/main" id="{D7EDB85A-68AB-457E-ADA0-E899CBCF8A25}"/>
              </a:ext>
            </a:extLst>
          </p:cNvPr>
          <p:cNvSpPr>
            <a:spLocks xmlns:a="http://schemas.openxmlformats.org/drawingml/2006/main" noGrp="1"/>
          </p:cNvSpPr>
          <p:nvPr/>
        </p:nvSpPr>
        <p:spPr>
          <a:xfrm xmlns:a="http://schemas.openxmlformats.org/drawingml/2006/main">
            <a:off x="6629988" y="3746570"/>
            <a:ext cx="1817753"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Segoe UI Symbol"/>
                <a:ea typeface="Segoe UI Symbol"/>
                <a:cs typeface="Segoe UI Symbol"/>
              </a:rPr>
              <a:t>✅</a:t>
            </a:r>
            <a:endParaRPr sz="1400"/>
          </a:p>
        </p:txBody>
      </p:sp>
      <p:sp>
        <p:nvSpPr>
          <p:cNvPr id="74" name="Shape 72">
            <a:extLst xmlns:a="http://schemas.openxmlformats.org/drawingml/2006/main">
              <a:ext uri="{FF2B5EF4-FFF2-40B4-BE49-F238E27FC236}">
                <a16:creationId xmlns:a16="http://schemas.microsoft.com/office/drawing/2014/main" id="{2D86D015-9180-4278-B2FC-FD3EDCC23359}"/>
              </a:ext>
            </a:extLst>
          </p:cNvPr>
          <p:cNvSpPr>
            <a:spLocks xmlns:a="http://schemas.openxmlformats.org/drawingml/2006/main" noGrp="1"/>
          </p:cNvSpPr>
          <p:nvPr/>
        </p:nvSpPr>
        <p:spPr>
          <a:xfrm xmlns:a="http://schemas.openxmlformats.org/drawingml/2006/main">
            <a:off x="457200" y="4070685"/>
            <a:ext cx="2480475"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75" name="Text 73">
            <a:extLst xmlns:a="http://schemas.openxmlformats.org/drawingml/2006/main">
              <a:ext uri="{FF2B5EF4-FFF2-40B4-BE49-F238E27FC236}">
                <a16:creationId xmlns:a16="http://schemas.microsoft.com/office/drawing/2014/main" id="{265F62E9-4DF3-4204-9F5B-4ED965025A2E}"/>
              </a:ext>
            </a:extLst>
          </p:cNvPr>
          <p:cNvSpPr>
            <a:spLocks xmlns:a="http://schemas.openxmlformats.org/drawingml/2006/main" noGrp="1"/>
          </p:cNvSpPr>
          <p:nvPr/>
        </p:nvSpPr>
        <p:spPr>
          <a:xfrm xmlns:a="http://schemas.openxmlformats.org/drawingml/2006/main">
            <a:off x="457200" y="4070685"/>
            <a:ext cx="2480475"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chemeClr val="bg1"/>
                </a:solidFill>
                <a:latin typeface="Trebuchet MS"/>
                <a:ea typeface="Trebuchet MS"/>
                <a:cs typeface="Trebuchet MS"/>
              </a:rPr>
              <a:t>Local processing available</a:t>
            </a:r>
            <a:endParaRPr sz="1050">
              <a:solidFill>
                <a:schemeClr val="bg1"/>
              </a:solidFill>
            </a:endParaRPr>
          </a:p>
        </p:txBody>
      </p:sp>
      <p:sp>
        <p:nvSpPr>
          <p:cNvPr id="76" name="Shape 74">
            <a:extLst xmlns:a="http://schemas.openxmlformats.org/drawingml/2006/main">
              <a:ext uri="{FF2B5EF4-FFF2-40B4-BE49-F238E27FC236}">
                <a16:creationId xmlns:a16="http://schemas.microsoft.com/office/drawing/2014/main" id="{BA5E04D3-5823-4BF2-AC32-57B5A071971F}"/>
              </a:ext>
            </a:extLst>
          </p:cNvPr>
          <p:cNvSpPr>
            <a:spLocks xmlns:a="http://schemas.openxmlformats.org/drawingml/2006/main" noGrp="1"/>
          </p:cNvSpPr>
          <p:nvPr/>
        </p:nvSpPr>
        <p:spPr>
          <a:xfrm xmlns:a="http://schemas.openxmlformats.org/drawingml/2006/main">
            <a:off x="2937676" y="4070685"/>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77" name="Text 75">
            <a:extLst xmlns:a="http://schemas.openxmlformats.org/drawingml/2006/main">
              <a:ext uri="{FF2B5EF4-FFF2-40B4-BE49-F238E27FC236}">
                <a16:creationId xmlns:a16="http://schemas.microsoft.com/office/drawing/2014/main" id="{A09F7890-53ED-4507-B68F-5258DB347E94}"/>
              </a:ext>
            </a:extLst>
          </p:cNvPr>
          <p:cNvSpPr>
            <a:spLocks xmlns:a="http://schemas.openxmlformats.org/drawingml/2006/main" noGrp="1"/>
          </p:cNvSpPr>
          <p:nvPr/>
        </p:nvSpPr>
        <p:spPr>
          <a:xfrm xmlns:a="http://schemas.openxmlformats.org/drawingml/2006/main">
            <a:off x="2937676" y="4070685"/>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10B981"/>
                </a:solidFill>
                <a:latin typeface="Segoe UI Symbol"/>
                <a:ea typeface="Segoe UI Symbol"/>
                <a:cs typeface="Segoe UI Symbol"/>
              </a:rPr>
              <a:t>✅</a:t>
            </a:r>
            <a:endParaRPr sz="1400"/>
          </a:p>
        </p:txBody>
      </p:sp>
      <p:sp>
        <p:nvSpPr>
          <p:cNvPr id="78" name="Shape 76">
            <a:extLst xmlns:a="http://schemas.openxmlformats.org/drawingml/2006/main">
              <a:ext uri="{FF2B5EF4-FFF2-40B4-BE49-F238E27FC236}">
                <a16:creationId xmlns:a16="http://schemas.microsoft.com/office/drawing/2014/main" id="{1AF742E8-CE95-4B0E-AAA1-D68C0E4BBDFD}"/>
              </a:ext>
            </a:extLst>
          </p:cNvPr>
          <p:cNvSpPr>
            <a:spLocks xmlns:a="http://schemas.openxmlformats.org/drawingml/2006/main" noGrp="1"/>
          </p:cNvSpPr>
          <p:nvPr/>
        </p:nvSpPr>
        <p:spPr>
          <a:xfrm xmlns:a="http://schemas.openxmlformats.org/drawingml/2006/main">
            <a:off x="4168447" y="4070685"/>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79" name="Text 77">
            <a:extLst xmlns:a="http://schemas.openxmlformats.org/drawingml/2006/main">
              <a:ext uri="{FF2B5EF4-FFF2-40B4-BE49-F238E27FC236}">
                <a16:creationId xmlns:a16="http://schemas.microsoft.com/office/drawing/2014/main" id="{BDF80C7D-4E9F-475C-9156-27A92212077D}"/>
              </a:ext>
            </a:extLst>
          </p:cNvPr>
          <p:cNvSpPr>
            <a:spLocks xmlns:a="http://schemas.openxmlformats.org/drawingml/2006/main" noGrp="1"/>
          </p:cNvSpPr>
          <p:nvPr/>
        </p:nvSpPr>
        <p:spPr>
          <a:xfrm xmlns:a="http://schemas.openxmlformats.org/drawingml/2006/main">
            <a:off x="4168447" y="4070685"/>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10B981"/>
                </a:solidFill>
                <a:latin typeface="Segoe UI Symbol"/>
                <a:ea typeface="Segoe UI Symbol"/>
                <a:cs typeface="Segoe UI Symbol"/>
              </a:rPr>
              <a:t>✅</a:t>
            </a:r>
            <a:endParaRPr sz="1400"/>
          </a:p>
        </p:txBody>
      </p:sp>
      <p:sp>
        <p:nvSpPr>
          <p:cNvPr id="80" name="Shape 78">
            <a:extLst xmlns:a="http://schemas.openxmlformats.org/drawingml/2006/main">
              <a:ext uri="{FF2B5EF4-FFF2-40B4-BE49-F238E27FC236}">
                <a16:creationId xmlns:a16="http://schemas.microsoft.com/office/drawing/2014/main" id="{8D5A8819-F293-483A-A182-9DC35DD1F3CE}"/>
              </a:ext>
            </a:extLst>
          </p:cNvPr>
          <p:cNvSpPr>
            <a:spLocks xmlns:a="http://schemas.openxmlformats.org/drawingml/2006/main" noGrp="1"/>
          </p:cNvSpPr>
          <p:nvPr/>
        </p:nvSpPr>
        <p:spPr>
          <a:xfrm xmlns:a="http://schemas.openxmlformats.org/drawingml/2006/main">
            <a:off x="5399218" y="4070685"/>
            <a:ext cx="1230770" cy="308681"/>
          </a:xfrm>
          <a:prstGeom xmlns:a="http://schemas.openxmlformats.org/drawingml/2006/main" prst="rect">
            <a:avLst/>
          </a:prstGeom>
          <a:solidFill xmlns:a="http://schemas.openxmlformats.org/drawingml/2006/main">
            <a:srgbClr val="1E2A3B"/>
          </a:solidFill>
          <a:ln xmlns:a="http://schemas.openxmlformats.org/drawingml/2006/main" w="3810">
            <a:solidFill>
              <a:srgbClr val="243348"/>
            </a:solidFill>
            <a:prstDash val="solid"/>
          </a:ln>
        </p:spPr>
      </p:sp>
      <p:sp>
        <p:nvSpPr>
          <p:cNvPr id="81" name="Text 79">
            <a:extLst xmlns:a="http://schemas.openxmlformats.org/drawingml/2006/main">
              <a:ext uri="{FF2B5EF4-FFF2-40B4-BE49-F238E27FC236}">
                <a16:creationId xmlns:a16="http://schemas.microsoft.com/office/drawing/2014/main" id="{3EAB6B20-3065-4C08-B5F7-3ED5388A721A}"/>
              </a:ext>
            </a:extLst>
          </p:cNvPr>
          <p:cNvSpPr>
            <a:spLocks xmlns:a="http://schemas.openxmlformats.org/drawingml/2006/main" noGrp="1"/>
          </p:cNvSpPr>
          <p:nvPr/>
        </p:nvSpPr>
        <p:spPr>
          <a:xfrm xmlns:a="http://schemas.openxmlformats.org/drawingml/2006/main">
            <a:off x="5399218" y="4070685"/>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10B981"/>
                </a:solidFill>
                <a:latin typeface="Segoe UI Symbol"/>
                <a:ea typeface="Segoe UI Symbol"/>
                <a:cs typeface="Segoe UI Symbol"/>
              </a:rPr>
              <a:t>✅</a:t>
            </a:r>
            <a:endParaRPr sz="1400"/>
          </a:p>
        </p:txBody>
      </p:sp>
      <p:sp>
        <p:nvSpPr>
          <p:cNvPr id="82" name="Shape 80">
            <a:extLst xmlns:a="http://schemas.openxmlformats.org/drawingml/2006/main">
              <a:ext uri="{FF2B5EF4-FFF2-40B4-BE49-F238E27FC236}">
                <a16:creationId xmlns:a16="http://schemas.microsoft.com/office/drawing/2014/main" id="{8FDB26F2-F5FA-43B6-BCE5-F8DBA497981F}"/>
              </a:ext>
            </a:extLst>
          </p:cNvPr>
          <p:cNvSpPr>
            <a:spLocks xmlns:a="http://schemas.openxmlformats.org/drawingml/2006/main" noGrp="1"/>
          </p:cNvSpPr>
          <p:nvPr/>
        </p:nvSpPr>
        <p:spPr>
          <a:xfrm xmlns:a="http://schemas.openxmlformats.org/drawingml/2006/main">
            <a:off x="6629988" y="4070685"/>
            <a:ext cx="1817753" cy="308681"/>
          </a:xfrm>
          <a:prstGeom xmlns:a="http://schemas.openxmlformats.org/drawingml/2006/main" prst="rect">
            <a:avLst/>
          </a:prstGeom>
          <a:solidFill xmlns:a="http://schemas.openxmlformats.org/drawingml/2006/main">
            <a:srgbClr val="102040"/>
          </a:solidFill>
          <a:ln xmlns:a="http://schemas.openxmlformats.org/drawingml/2006/main" w="10160">
            <a:solidFill>
              <a:srgbClr val="2563EB"/>
            </a:solidFill>
            <a:prstDash val="solid"/>
          </a:ln>
        </p:spPr>
      </p:sp>
      <p:sp>
        <p:nvSpPr>
          <p:cNvPr id="83" name="Text 81">
            <a:extLst xmlns:a="http://schemas.openxmlformats.org/drawingml/2006/main">
              <a:ext uri="{FF2B5EF4-FFF2-40B4-BE49-F238E27FC236}">
                <a16:creationId xmlns:a16="http://schemas.microsoft.com/office/drawing/2014/main" id="{48B4D310-41FF-4704-873B-E4FE4A62FDE9}"/>
              </a:ext>
            </a:extLst>
          </p:cNvPr>
          <p:cNvSpPr>
            <a:spLocks xmlns:a="http://schemas.openxmlformats.org/drawingml/2006/main" noGrp="1"/>
          </p:cNvSpPr>
          <p:nvPr/>
        </p:nvSpPr>
        <p:spPr>
          <a:xfrm xmlns:a="http://schemas.openxmlformats.org/drawingml/2006/main">
            <a:off x="6629988" y="4070685"/>
            <a:ext cx="1817753"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Segoe UI Symbol"/>
                <a:ea typeface="Segoe UI Symbol"/>
                <a:cs typeface="Segoe UI Symbol"/>
              </a:rPr>
              <a:t>✅</a:t>
            </a:r>
            <a:endParaRPr sz="1400"/>
          </a:p>
        </p:txBody>
      </p:sp>
      <p:sp>
        <p:nvSpPr>
          <p:cNvPr id="84" name="Shape 82">
            <a:extLst xmlns:a="http://schemas.openxmlformats.org/drawingml/2006/main">
              <a:ext uri="{FF2B5EF4-FFF2-40B4-BE49-F238E27FC236}">
                <a16:creationId xmlns:a16="http://schemas.microsoft.com/office/drawing/2014/main" id="{BFB70D5A-DC23-468C-9092-ABEF466E081E}"/>
              </a:ext>
            </a:extLst>
          </p:cNvPr>
          <p:cNvSpPr>
            <a:spLocks xmlns:a="http://schemas.openxmlformats.org/drawingml/2006/main" noGrp="1"/>
          </p:cNvSpPr>
          <p:nvPr/>
        </p:nvSpPr>
        <p:spPr>
          <a:xfrm xmlns:a="http://schemas.openxmlformats.org/drawingml/2006/main">
            <a:off x="457200" y="4394801"/>
            <a:ext cx="2480475"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85" name="Text 83">
            <a:extLst xmlns:a="http://schemas.openxmlformats.org/drawingml/2006/main">
              <a:ext uri="{FF2B5EF4-FFF2-40B4-BE49-F238E27FC236}">
                <a16:creationId xmlns:a16="http://schemas.microsoft.com/office/drawing/2014/main" id="{1FFDF917-6C12-4792-9729-1875E39CFD18}"/>
              </a:ext>
            </a:extLst>
          </p:cNvPr>
          <p:cNvSpPr>
            <a:spLocks xmlns:a="http://schemas.openxmlformats.org/drawingml/2006/main" noGrp="1"/>
          </p:cNvSpPr>
          <p:nvPr/>
        </p:nvSpPr>
        <p:spPr>
          <a:xfrm xmlns:a="http://schemas.openxmlformats.org/drawingml/2006/main">
            <a:off x="457200" y="4394801"/>
            <a:ext cx="2480475"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chemeClr val="bg1"/>
                </a:solidFill>
                <a:latin typeface="Trebuchet MS"/>
                <a:ea typeface="Trebuchet MS"/>
                <a:cs typeface="Trebuchet MS"/>
              </a:rPr>
              <a:t>Macro-free operation</a:t>
            </a:r>
            <a:endParaRPr sz="1050">
              <a:solidFill>
                <a:schemeClr val="bg1"/>
              </a:solidFill>
            </a:endParaRPr>
          </a:p>
        </p:txBody>
      </p:sp>
      <p:sp>
        <p:nvSpPr>
          <p:cNvPr id="86" name="Shape 84">
            <a:extLst xmlns:a="http://schemas.openxmlformats.org/drawingml/2006/main">
              <a:ext uri="{FF2B5EF4-FFF2-40B4-BE49-F238E27FC236}">
                <a16:creationId xmlns:a16="http://schemas.microsoft.com/office/drawing/2014/main" id="{F44D84A5-2EA4-4AF4-B79F-4398FA02BEEF}"/>
              </a:ext>
            </a:extLst>
          </p:cNvPr>
          <p:cNvSpPr>
            <a:spLocks xmlns:a="http://schemas.openxmlformats.org/drawingml/2006/main" noGrp="1"/>
          </p:cNvSpPr>
          <p:nvPr/>
        </p:nvSpPr>
        <p:spPr>
          <a:xfrm xmlns:a="http://schemas.openxmlformats.org/drawingml/2006/main">
            <a:off x="2937676" y="4394801"/>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87" name="Text 85">
            <a:extLst xmlns:a="http://schemas.openxmlformats.org/drawingml/2006/main">
              <a:ext uri="{FF2B5EF4-FFF2-40B4-BE49-F238E27FC236}">
                <a16:creationId xmlns:a16="http://schemas.microsoft.com/office/drawing/2014/main" id="{106BC4EE-026E-4E29-94D1-854BE5B93544}"/>
              </a:ext>
            </a:extLst>
          </p:cNvPr>
          <p:cNvSpPr>
            <a:spLocks xmlns:a="http://schemas.openxmlformats.org/drawingml/2006/main" noGrp="1"/>
          </p:cNvSpPr>
          <p:nvPr/>
        </p:nvSpPr>
        <p:spPr>
          <a:xfrm xmlns:a="http://schemas.openxmlformats.org/drawingml/2006/main">
            <a:off x="2937676" y="4394801"/>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10B981"/>
                </a:solidFill>
                <a:latin typeface="Segoe UI Symbol"/>
                <a:ea typeface="Segoe UI Symbol"/>
                <a:cs typeface="Segoe UI Symbol"/>
              </a:rPr>
              <a:t>✅</a:t>
            </a:r>
            <a:endParaRPr sz="1400"/>
          </a:p>
        </p:txBody>
      </p:sp>
      <p:sp>
        <p:nvSpPr>
          <p:cNvPr id="88" name="Shape 86">
            <a:extLst xmlns:a="http://schemas.openxmlformats.org/drawingml/2006/main">
              <a:ext uri="{FF2B5EF4-FFF2-40B4-BE49-F238E27FC236}">
                <a16:creationId xmlns:a16="http://schemas.microsoft.com/office/drawing/2014/main" id="{74AEE115-73CC-49A1-8574-8E33205D47DD}"/>
              </a:ext>
            </a:extLst>
          </p:cNvPr>
          <p:cNvSpPr>
            <a:spLocks xmlns:a="http://schemas.openxmlformats.org/drawingml/2006/main" noGrp="1"/>
          </p:cNvSpPr>
          <p:nvPr/>
        </p:nvSpPr>
        <p:spPr>
          <a:xfrm xmlns:a="http://schemas.openxmlformats.org/drawingml/2006/main">
            <a:off x="4168447" y="4394801"/>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89" name="Text 87">
            <a:extLst xmlns:a="http://schemas.openxmlformats.org/drawingml/2006/main">
              <a:ext uri="{FF2B5EF4-FFF2-40B4-BE49-F238E27FC236}">
                <a16:creationId xmlns:a16="http://schemas.microsoft.com/office/drawing/2014/main" id="{BF5FA75C-2CA3-442E-A5AF-D98256533E59}"/>
              </a:ext>
            </a:extLst>
          </p:cNvPr>
          <p:cNvSpPr>
            <a:spLocks xmlns:a="http://schemas.openxmlformats.org/drawingml/2006/main" noGrp="1"/>
          </p:cNvSpPr>
          <p:nvPr/>
        </p:nvSpPr>
        <p:spPr>
          <a:xfrm xmlns:a="http://schemas.openxmlformats.org/drawingml/2006/main">
            <a:off x="4168447" y="4394801"/>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10B981"/>
                </a:solidFill>
                <a:latin typeface="Segoe UI Symbol"/>
                <a:ea typeface="Segoe UI Symbol"/>
                <a:cs typeface="Segoe UI Symbol"/>
              </a:rPr>
              <a:t>✅</a:t>
            </a:r>
            <a:endParaRPr sz="1400"/>
          </a:p>
        </p:txBody>
      </p:sp>
      <p:sp>
        <p:nvSpPr>
          <p:cNvPr id="90" name="Shape 88">
            <a:extLst xmlns:a="http://schemas.openxmlformats.org/drawingml/2006/main">
              <a:ext uri="{FF2B5EF4-FFF2-40B4-BE49-F238E27FC236}">
                <a16:creationId xmlns:a16="http://schemas.microsoft.com/office/drawing/2014/main" id="{5471A81C-3FBC-4822-A67C-03A36741A3C1}"/>
              </a:ext>
            </a:extLst>
          </p:cNvPr>
          <p:cNvSpPr>
            <a:spLocks xmlns:a="http://schemas.openxmlformats.org/drawingml/2006/main" noGrp="1"/>
          </p:cNvSpPr>
          <p:nvPr/>
        </p:nvSpPr>
        <p:spPr>
          <a:xfrm xmlns:a="http://schemas.openxmlformats.org/drawingml/2006/main">
            <a:off x="5399218" y="4394801"/>
            <a:ext cx="1230770" cy="308681"/>
          </a:xfrm>
          <a:prstGeom xmlns:a="http://schemas.openxmlformats.org/drawingml/2006/main" prst="rect">
            <a:avLst/>
          </a:prstGeom>
          <a:solidFill xmlns:a="http://schemas.openxmlformats.org/drawingml/2006/main">
            <a:srgbClr val="162032"/>
          </a:solidFill>
          <a:ln xmlns:a="http://schemas.openxmlformats.org/drawingml/2006/main" w="3810">
            <a:solidFill>
              <a:srgbClr val="243348"/>
            </a:solidFill>
            <a:prstDash val="solid"/>
          </a:ln>
        </p:spPr>
      </p:sp>
      <p:sp>
        <p:nvSpPr>
          <p:cNvPr id="91" name="Text 89">
            <a:extLst xmlns:a="http://schemas.openxmlformats.org/drawingml/2006/main">
              <a:ext uri="{FF2B5EF4-FFF2-40B4-BE49-F238E27FC236}">
                <a16:creationId xmlns:a16="http://schemas.microsoft.com/office/drawing/2014/main" id="{E65B607D-046B-438B-9172-682148D14E2B}"/>
              </a:ext>
            </a:extLst>
          </p:cNvPr>
          <p:cNvSpPr>
            <a:spLocks xmlns:a="http://schemas.openxmlformats.org/drawingml/2006/main" noGrp="1"/>
          </p:cNvSpPr>
          <p:nvPr/>
        </p:nvSpPr>
        <p:spPr>
          <a:xfrm xmlns:a="http://schemas.openxmlformats.org/drawingml/2006/main">
            <a:off x="5399218" y="4394801"/>
            <a:ext cx="1230770"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EF4444"/>
                </a:solidFill>
                <a:latin typeface="Segoe UI Symbol"/>
                <a:ea typeface="Segoe UI Symbol"/>
                <a:cs typeface="Segoe UI Symbol"/>
              </a:rPr>
              <a:t>❌</a:t>
            </a:r>
            <a:endParaRPr sz="1400"/>
          </a:p>
        </p:txBody>
      </p:sp>
      <p:sp>
        <p:nvSpPr>
          <p:cNvPr id="92" name="Shape 90">
            <a:extLst xmlns:a="http://schemas.openxmlformats.org/drawingml/2006/main">
              <a:ext uri="{FF2B5EF4-FFF2-40B4-BE49-F238E27FC236}">
                <a16:creationId xmlns:a16="http://schemas.microsoft.com/office/drawing/2014/main" id="{CE26A07D-A15F-4156-B375-624B299855C4}"/>
              </a:ext>
            </a:extLst>
          </p:cNvPr>
          <p:cNvSpPr>
            <a:spLocks xmlns:a="http://schemas.openxmlformats.org/drawingml/2006/main" noGrp="1"/>
          </p:cNvSpPr>
          <p:nvPr/>
        </p:nvSpPr>
        <p:spPr>
          <a:xfrm xmlns:a="http://schemas.openxmlformats.org/drawingml/2006/main">
            <a:off x="6629988" y="4394801"/>
            <a:ext cx="1817753" cy="308681"/>
          </a:xfrm>
          <a:prstGeom xmlns:a="http://schemas.openxmlformats.org/drawingml/2006/main" prst="rect">
            <a:avLst/>
          </a:prstGeom>
          <a:solidFill xmlns:a="http://schemas.openxmlformats.org/drawingml/2006/main">
            <a:srgbClr val="0C1C38"/>
          </a:solidFill>
          <a:ln xmlns:a="http://schemas.openxmlformats.org/drawingml/2006/main" w="10160">
            <a:solidFill>
              <a:srgbClr val="2563EB"/>
            </a:solidFill>
            <a:prstDash val="solid"/>
          </a:ln>
        </p:spPr>
      </p:sp>
      <p:sp>
        <p:nvSpPr>
          <p:cNvPr id="93" name="Text 91">
            <a:extLst xmlns:a="http://schemas.openxmlformats.org/drawingml/2006/main">
              <a:ext uri="{FF2B5EF4-FFF2-40B4-BE49-F238E27FC236}">
                <a16:creationId xmlns:a16="http://schemas.microsoft.com/office/drawing/2014/main" id="{F8B4C7E8-FA9D-4C2F-8228-4833AB393B85}"/>
              </a:ext>
            </a:extLst>
          </p:cNvPr>
          <p:cNvSpPr>
            <a:spLocks xmlns:a="http://schemas.openxmlformats.org/drawingml/2006/main" noGrp="1"/>
          </p:cNvSpPr>
          <p:nvPr/>
        </p:nvSpPr>
        <p:spPr>
          <a:xfrm xmlns:a="http://schemas.openxmlformats.org/drawingml/2006/main">
            <a:off x="6629988" y="4394801"/>
            <a:ext cx="1817753" cy="30868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0B981"/>
                </a:solidFill>
                <a:latin typeface="Segoe UI Symbol"/>
                <a:ea typeface="Segoe UI Symbol"/>
                <a:cs typeface="Segoe UI Symbol"/>
              </a:rPr>
              <a:t>✅</a:t>
            </a:r>
            <a:endParaRPr sz="1400"/>
          </a:p>
        </p:txBody>
      </p:sp>
      <p:sp>
        <p:nvSpPr>
          <p:cNvPr id="94" name="Text 92">
            <a:extLst xmlns:a="http://schemas.openxmlformats.org/drawingml/2006/main">
              <a:ext uri="{FF2B5EF4-FFF2-40B4-BE49-F238E27FC236}">
                <a16:creationId xmlns:a16="http://schemas.microsoft.com/office/drawing/2014/main" id="{C1BFC9C6-CEA0-4A2E-892F-DCEBCF44DBD4}"/>
              </a:ext>
            </a:extLst>
          </p:cNvPr>
          <p:cNvSpPr>
            <a:spLocks xmlns:a="http://schemas.openxmlformats.org/drawingml/2006/main" noGrp="1"/>
          </p:cNvSpPr>
          <p:nvPr/>
        </p:nvSpPr>
        <p:spPr>
          <a:xfrm xmlns:a="http://schemas.openxmlformats.org/drawingml/2006/main">
            <a:off x="5058480" y="4809869"/>
            <a:ext cx="353568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i="1">
                <a:solidFill>
                  <a:srgbClr val="475569"/>
                </a:solidFill>
                <a:latin typeface="Trebuchet MS"/>
                <a:ea typeface="Trebuchet MS"/>
                <a:cs typeface="Trebuchet MS"/>
              </a:rPr>
              <a:t>✅ Built in  ·  ⚠️ Setup or custom logic  ·  ❌ Not native to the workflow</a:t>
            </a:r>
            <a:endParaRPr sz="900"/>
          </a:p>
        </p:txBody>
      </p:sp>
      <p:sp>
        <p:nvSpPr>
          <p:cNvPr id="96" name="Text 0">
            <a:extLst xmlns:a="http://schemas.openxmlformats.org/drawingml/2006/main">
              <a:ext uri="{FF2B5EF4-FFF2-40B4-BE49-F238E27FC236}">
                <a16:creationId xmlns:a16="http://schemas.microsoft.com/office/drawing/2014/main" id="{F824FE52-9721-4112-E617-CB5914CB9ADE}"/>
              </a:ext>
            </a:extLst>
          </p:cNvPr>
          <p:cNvSpPr>
            <a:spLocks xmlns:a="http://schemas.openxmlformats.org/drawingml/2006/main" noGrp="1"/>
          </p:cNvSpPr>
          <p:nvPr/>
        </p:nvSpPr>
        <p:spPr>
          <a:xfrm xmlns:a="http://schemas.openxmlformats.org/drawingml/2006/main">
            <a:off x="457200" y="822449"/>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600" b="1">
                <a:solidFill>
                  <a:srgbClr val="FFFFFF"/>
                </a:solidFill>
                <a:latin typeface="Montserrat"/>
                <a:ea typeface="Montserrat"/>
                <a:cs typeface="Montserrat"/>
              </a:rPr>
              <a:t>MergeGuru: 8/8 Built-In Controls</a:t>
            </a:r>
          </a:p>
        </p:txBody>
      </p:sp>
      <p:sp>
        <p:nvSpPr>
          <p:cNvPr id="97" name="Text 1">
            <a:extLst xmlns:a="http://schemas.openxmlformats.org/drawingml/2006/main">
              <a:ext uri="{FF2B5EF4-FFF2-40B4-BE49-F238E27FC236}">
                <a16:creationId xmlns:a16="http://schemas.microsoft.com/office/drawing/2014/main" id="{998A7997-CEBF-4064-1843-88E7F63483F8}"/>
              </a:ext>
            </a:extLst>
          </p:cNvPr>
          <p:cNvSpPr>
            <a:spLocks xmlns:a="http://schemas.openxmlformats.org/drawingml/2006/main" noGrp="1"/>
          </p:cNvSpPr>
          <p:nvPr/>
        </p:nvSpPr>
        <p:spPr>
          <a:xfrm xmlns:a="http://schemas.openxmlformats.org/drawingml/2006/main">
            <a:off x="457200" y="129728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Montserrat"/>
                <a:ea typeface="Montserrat"/>
                <a:cs typeface="Montserrat"/>
              </a:rPr>
              <a:t>Count of native controls below. Other methods need manual checks, query setup, or custom code.</a:t>
            </a:r>
          </a:p>
        </p:txBody>
      </p:sp>
      <p:sp>
        <p:nvSpPr>
          <p:cNvPr id="99" name="Shape 21">
            <a:extLst xmlns:a="http://schemas.openxmlformats.org/drawingml/2006/main">
              <a:ext uri="{FF2B5EF4-FFF2-40B4-BE49-F238E27FC236}">
                <a16:creationId xmlns:a16="http://schemas.microsoft.com/office/drawing/2014/main" id="{7F7E2E37-069E-42DB-8BEB-F65B0F41DC10}"/>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2563EB"/>
            </a:solidFill>
            <a:prstDash val="dash"/>
          </a:ln>
        </p:spPr>
      </p:sp>
      <p:sp>
        <p:nvSpPr>
          <p:cNvPr id="100" name="Text 22">
            <a:extLst xmlns:a="http://schemas.openxmlformats.org/drawingml/2006/main">
              <a:ext uri="{FF2B5EF4-FFF2-40B4-BE49-F238E27FC236}">
                <a16:creationId xmlns:a16="http://schemas.microsoft.com/office/drawing/2014/main" id="{8F4BFCF0-0BDE-4B30-8A0D-31D90461F963}"/>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50">
                <a:solidFill>
                  <a:srgbClr val="3B82F6"/>
                </a:solidFill>
                <a:latin typeface="Trebuchet MS"/>
                <a:ea typeface="Trebuchet MS"/>
                <a:cs typeface="Trebuchet MS"/>
              </a:rPr>
              <a:t>COMPETITIVE LANDSCAPE</a:t>
            </a:r>
            <a:endParaRPr sz="850"/>
          </a:p>
        </p:txBody>
      </p:sp>
      <p:sp>
        <p:nvSpPr>
          <p:cNvPr id="101" name="Text 23">
            <a:extLst xmlns:a="http://schemas.openxmlformats.org/drawingml/2006/main">
              <a:ext uri="{FF2B5EF4-FFF2-40B4-BE49-F238E27FC236}">
                <a16:creationId xmlns:a16="http://schemas.microsoft.com/office/drawing/2014/main" id="{B67A272B-1796-B1DC-8B72-8ED2A7B32929}"/>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pic>
        <p:nvPicPr>
          <p:cNvPr id="199" name="Picture 198"/>
          <p:cNvPicPr>
            <a:picLocks xmlns:a="http://schemas.openxmlformats.org/drawingml/2006/main" noChangeAspect="1"/>
          </p:cNvPicPr>
          <p:nvPr/>
        </p:nvPicPr>
        <p:blipFill>
          <a:blip xmlns:r="http://schemas.openxmlformats.org/officeDocument/2006/relationships" xmlns:a="http://schemas.openxmlformats.org/drawingml/2006/main" r:embed="R1f8cfbdb38434d76"/>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1289669981"/>
      </p:ext>
    </p:extLst>
  </p:cSld>
</p:sld>
</file>

<file path=ppt/slides/slide9.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54" name="Text 23">
            <a:extLst xmlns:a="http://schemas.openxmlformats.org/drawingml/2006/main">
              <a:ext uri="{FF2B5EF4-FFF2-40B4-BE49-F238E27FC236}">
                <a16:creationId xmlns:a16="http://schemas.microsoft.com/office/drawing/2014/main" id="{07BA71E0-F342-BBB1-8B05-F052A0B498B8}"/>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58" name="Text 0">
            <a:extLst xmlns:a="http://schemas.openxmlformats.org/drawingml/2006/main">
              <a:ext uri="{FF2B5EF4-FFF2-40B4-BE49-F238E27FC236}">
                <a16:creationId xmlns:a16="http://schemas.microsoft.com/office/drawing/2014/main" id="{C1A5D5C0-0155-DFDD-C57E-5E2B9343AF9B}"/>
              </a:ext>
            </a:extLst>
          </p:cNvPr>
          <p:cNvSpPr>
            <a:spLocks xmlns:a="http://schemas.openxmlformats.org/drawingml/2006/main" noGrp="1"/>
          </p:cNvSpPr>
          <p:nvPr/>
        </p:nvSpPr>
        <p:spPr>
          <a:xfrm xmlns:a="http://schemas.openxmlformats.org/drawingml/2006/main">
            <a:off x="457200" y="896135"/>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600">
                <a:solidFill>
                  <a:srgbClr val="FFFFFF"/>
                </a:solidFill>
                <a:latin typeface="Montserrat"/>
                <a:ea typeface="Montserrat"/>
                <a:cs typeface="Montserrat"/>
              </a:rPr>
              <a:t>Why MergeGuru Fits This Workflow Better</a:t>
            </a:r>
          </a:p>
        </p:txBody>
      </p:sp>
      <p:sp>
        <p:nvSpPr>
          <p:cNvPr id="59" name="Text 1">
            <a:extLst xmlns:a="http://schemas.openxmlformats.org/drawingml/2006/main">
              <a:ext uri="{FF2B5EF4-FFF2-40B4-BE49-F238E27FC236}">
                <a16:creationId xmlns:a16="http://schemas.microsoft.com/office/drawing/2014/main" id="{C332B6D2-80B6-2626-81B6-6DD5D3EC70A9}"/>
              </a:ext>
            </a:extLst>
          </p:cNvPr>
          <p:cNvSpPr>
            <a:spLocks xmlns:a="http://schemas.openxmlformats.org/drawingml/2006/main" noGrp="1"/>
          </p:cNvSpPr>
          <p:nvPr/>
        </p:nvSpPr>
        <p:spPr>
          <a:xfrm xmlns:a="http://schemas.openxmlformats.org/drawingml/2006/main">
            <a:off x="457200" y="1370966"/>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Montserrat"/>
                <a:ea typeface="Montserrat"/>
                <a:cs typeface="Montserrat"/>
              </a:rPr>
              <a:t>Best for recurring, same-layout file consolidation operated by business users.</a:t>
            </a:r>
          </a:p>
        </p:txBody>
      </p:sp>
      <p:sp>
        <p:nvSpPr>
          <p:cNvPr id="61" name="Shape 21">
            <a:extLst xmlns:a="http://schemas.openxmlformats.org/drawingml/2006/main">
              <a:ext uri="{FF2B5EF4-FFF2-40B4-BE49-F238E27FC236}">
                <a16:creationId xmlns:a16="http://schemas.microsoft.com/office/drawing/2014/main" id="{50415F48-8C69-61D2-A4C3-452BE9FF462E}"/>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0070C0"/>
            </a:solidFill>
            <a:prstDash val="dash"/>
          </a:ln>
        </p:spPr>
      </p:sp>
      <p:sp>
        <p:nvSpPr>
          <p:cNvPr id="62" name="Text 22">
            <a:extLst xmlns:a="http://schemas.openxmlformats.org/drawingml/2006/main">
              <a:ext uri="{FF2B5EF4-FFF2-40B4-BE49-F238E27FC236}">
                <a16:creationId xmlns:a16="http://schemas.microsoft.com/office/drawing/2014/main" id="{89A4AEEB-5101-98BF-B2EE-0FD52A066202}"/>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algn="ctr">
              <a:buNone/>
            </a:pPr>
            <a:r>
              <a:rPr sz="850" b="1" spc="150">
                <a:solidFill>
                  <a:srgbClr val="0070C0"/>
                </a:solidFill>
                <a:latin typeface="Trebuchet MS"/>
                <a:ea typeface="Trebuchet MS"/>
                <a:cs typeface="Trebuchet MS"/>
              </a:rPr>
              <a:t>PURPOSE-BUILT ADVANTAGE</a:t>
            </a:r>
            <a:endParaRPr sz="850">
              <a:solidFill>
                <a:srgbClr val="0070C0"/>
              </a:solidFill>
            </a:endParaRPr>
          </a:p>
        </p:txBody>
      </p:sp>
      <p:sp>
        <p:nvSpPr>
          <p:cNvPr id="45" name="Rectangle: Top Corners Rounded 44">
            <a:extLst xmlns:a="http://schemas.openxmlformats.org/drawingml/2006/main">
              <a:ext uri="{FF2B5EF4-FFF2-40B4-BE49-F238E27FC236}">
                <a16:creationId xmlns:a16="http://schemas.microsoft.com/office/drawing/2014/main" id="{835212C9-C814-E7D5-80C6-C72BFC79FB9A}"/>
              </a:ext>
            </a:extLst>
          </p:cNvPr>
          <p:cNvSpPr>
            <a:spLocks xmlns:a="http://schemas.openxmlformats.org/drawingml/2006/main" noGrp="1"/>
          </p:cNvSpPr>
          <p:nvPr/>
        </p:nvSpPr>
        <p:spPr>
          <a:xfrm xmlns:a="http://schemas.openxmlformats.org/drawingml/2006/main">
            <a:off x="794117" y="2014212"/>
            <a:ext cx="1494936" cy="290829"/>
          </a:xfrm>
          <a:prstGeom xmlns:a="http://schemas.openxmlformats.org/drawingml/2006/main" prst="round2SameRect">
            <a:avLst>
              <a:gd name="adj1" fmla="val 34443"/>
              <a:gd name="adj2" fmla="val 0"/>
            </a:avLst>
          </a:prstGeom>
          <a:solidFill xmlns:a="http://schemas.openxmlformats.org/drawingml/2006/main">
            <a:srgbClr val="E0A03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Rectangle: Rounded Corners 45">
            <a:extLst xmlns:a="http://schemas.openxmlformats.org/drawingml/2006/main">
              <a:ext uri="{FF2B5EF4-FFF2-40B4-BE49-F238E27FC236}">
                <a16:creationId xmlns:a16="http://schemas.microsoft.com/office/drawing/2014/main" id="{5B5D7EED-3D73-6CEB-7D53-CAACC96B1CEB}"/>
              </a:ext>
            </a:extLst>
          </p:cNvPr>
          <p:cNvSpPr>
            <a:spLocks xmlns:a="http://schemas.openxmlformats.org/drawingml/2006/main" noGrp="1"/>
          </p:cNvSpPr>
          <p:nvPr/>
        </p:nvSpPr>
        <p:spPr>
          <a:xfrm xmlns:a="http://schemas.openxmlformats.org/drawingml/2006/main">
            <a:off x="794116" y="2047905"/>
            <a:ext cx="1494937" cy="2266951"/>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Rectangle: Rounded Corners 47">
            <a:extLst xmlns:a="http://schemas.openxmlformats.org/drawingml/2006/main">
              <a:ext uri="{FF2B5EF4-FFF2-40B4-BE49-F238E27FC236}">
                <a16:creationId xmlns:a16="http://schemas.microsoft.com/office/drawing/2014/main" id="{BC77DECB-C49C-33AD-BD7A-16DCB0388175}"/>
              </a:ext>
            </a:extLst>
          </p:cNvPr>
          <p:cNvSpPr>
            <a:spLocks xmlns:a="http://schemas.openxmlformats.org/drawingml/2006/main" noGrp="1"/>
          </p:cNvSpPr>
          <p:nvPr/>
        </p:nvSpPr>
        <p:spPr>
          <a:xfrm xmlns:a="http://schemas.openxmlformats.org/drawingml/2006/main">
            <a:off x="1322118" y="2210277"/>
            <a:ext cx="438935" cy="438935"/>
          </a:xfrm>
          <a:prstGeom xmlns:a="http://schemas.openxmlformats.org/drawingml/2006/main" prst="roundRect">
            <a:avLst/>
          </a:prstGeom>
          <a:solidFill xmlns:a="http://schemas.openxmlformats.org/drawingml/2006/main">
            <a:srgbClr val="E0A03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1F49D57E-3BD7-C837-B714-3E2F8A1E01A2}"/>
              </a:ext>
            </a:extLst>
          </p:cNvPr>
          <p:cNvSpPr>
            <a:spLocks xmlns:a="http://schemas.openxmlformats.org/drawingml/2006/main" noGrp="1"/>
          </p:cNvSpPr>
          <p:nvPr/>
        </p:nvSpPr>
        <p:spPr>
          <a:xfrm xmlns:a="http://schemas.openxmlformats.org/drawingml/2006/main">
            <a:off x="1002449" y="2649212"/>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lumMod val="95000"/>
                  </a:schemeClr>
                </a:solidFill>
                <a:latin typeface="Montserrat"/>
                <a:ea typeface="Montserrat"/>
                <a:cs typeface="Montserrat"/>
              </a:rPr>
              <a:t>Manual Excel</a:t>
            </a:r>
          </a:p>
        </p:txBody>
      </p:sp>
      <p:sp>
        <p:nvSpPr>
          <p:cNvPr id="51" name="TextBox 50">
            <a:extLst xmlns:a="http://schemas.openxmlformats.org/drawingml/2006/main">
              <a:ext uri="{FF2B5EF4-FFF2-40B4-BE49-F238E27FC236}">
                <a16:creationId xmlns:a16="http://schemas.microsoft.com/office/drawing/2014/main" id="{1C786852-5198-9419-5DFC-5633AC731093}"/>
              </a:ext>
            </a:extLst>
          </p:cNvPr>
          <p:cNvSpPr>
            <a:spLocks xmlns:a="http://schemas.openxmlformats.org/drawingml/2006/main" noGrp="1"/>
          </p:cNvSpPr>
          <p:nvPr/>
        </p:nvSpPr>
        <p:spPr>
          <a:xfrm xmlns:a="http://schemas.openxmlformats.org/drawingml/2006/main">
            <a:off x="798123" y="3559623"/>
            <a:ext cx="1494936"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Folder or file discovery</a:t>
            </a:r>
          </a:p>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Validate before combine</a:t>
            </a:r>
          </a:p>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Reuse one loaded dataset</a:t>
            </a:r>
          </a:p>
        </p:txBody>
      </p:sp>
      <p:sp>
        <p:nvSpPr>
          <p:cNvPr id="52" name="TextBox 51">
            <a:extLst xmlns:a="http://schemas.openxmlformats.org/drawingml/2006/main">
              <a:ext uri="{FF2B5EF4-FFF2-40B4-BE49-F238E27FC236}">
                <a16:creationId xmlns:a16="http://schemas.microsoft.com/office/drawing/2014/main" id="{739CE7F0-1DCD-C4B6-60B1-B9520E16E6C4}"/>
              </a:ext>
            </a:extLst>
          </p:cNvPr>
          <p:cNvSpPr>
            <a:spLocks xmlns:a="http://schemas.openxmlformats.org/drawingml/2006/main" noGrp="1"/>
          </p:cNvSpPr>
          <p:nvPr/>
        </p:nvSpPr>
        <p:spPr>
          <a:xfrm xmlns:a="http://schemas.openxmlformats.org/drawingml/2006/main">
            <a:off x="1002449" y="3239821"/>
            <a:ext cx="1078272"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a:solidFill>
                  <a:schemeClr val="bg2">
                    <a:lumMod val="75000"/>
                  </a:schemeClr>
                </a:solidFill>
                <a:latin typeface="Bahnschrift Condensed"/>
                <a:ea typeface="Bahnschrift Condensed"/>
                <a:cs typeface="Bahnschrift Condensed"/>
              </a:rPr>
              <a:t>guided run</a:t>
            </a:r>
          </a:p>
        </p:txBody>
      </p:sp>
      <p:sp>
        <p:nvSpPr>
          <p:cNvPr id="53" name="TextBox 52">
            <a:extLst xmlns:a="http://schemas.openxmlformats.org/drawingml/2006/main">
              <a:ext uri="{FF2B5EF4-FFF2-40B4-BE49-F238E27FC236}">
                <a16:creationId xmlns:a16="http://schemas.microsoft.com/office/drawing/2014/main" id="{F663462E-B4F6-0C43-54F1-D02AAA9A278D}"/>
              </a:ext>
            </a:extLst>
          </p:cNvPr>
          <p:cNvSpPr>
            <a:spLocks xmlns:a="http://schemas.openxmlformats.org/drawingml/2006/main" noGrp="1"/>
          </p:cNvSpPr>
          <p:nvPr/>
        </p:nvSpPr>
        <p:spPr>
          <a:xfrm xmlns:a="http://schemas.openxmlformats.org/drawingml/2006/main">
            <a:off x="1002449" y="2787195"/>
            <a:ext cx="1078272"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rgbClr val="E0A03C"/>
                </a:solidFill>
                <a:latin typeface="Montserrat"/>
                <a:ea typeface="Montserrat"/>
                <a:cs typeface="Montserrat"/>
              </a:rPr>
              <a:t>1</a:t>
            </a:r>
          </a:p>
        </p:txBody>
      </p:sp>
      <p:pic>
        <p:nvPicPr>
          <p:cNvPr id="106" name="Picture 55"/>
          <p:cNvPicPr>
            <a:picLocks xmlns:a="http://schemas.openxmlformats.org/drawingml/2006/main" noChangeAspect="1"/>
          </p:cNvPicPr>
          <p:nvPr/>
        </p:nvPicPr>
        <p:blipFill>
          <a:blip xmlns:r="http://schemas.openxmlformats.org/officeDocument/2006/relationships" xmlns:a="http://schemas.openxmlformats.org/drawingml/2006/main" r:embed="R0e3d5fab2566459e"/>
          <a:stretch xmlns:a="http://schemas.openxmlformats.org/drawingml/2006/main">
            <a:fillRect l="0" t="0" r="0" b="0"/>
          </a:stretch>
        </p:blipFill>
        <p:spPr>
          <a:xfrm xmlns:a="http://schemas.openxmlformats.org/drawingml/2006/main">
            <a:off x="1334988" y="2220848"/>
            <a:ext cx="413192" cy="413192"/>
          </a:xfrm>
          <a:prstGeom xmlns:a="http://schemas.openxmlformats.org/drawingml/2006/main" prst="rect">
            <a:avLst/>
          </a:prstGeom>
        </p:spPr>
      </p:pic>
      <p:sp>
        <p:nvSpPr>
          <p:cNvPr id="64" name="Rectangle: Top Corners Rounded 63">
            <a:extLst xmlns:a="http://schemas.openxmlformats.org/drawingml/2006/main">
              <a:ext uri="{FF2B5EF4-FFF2-40B4-BE49-F238E27FC236}">
                <a16:creationId xmlns:a16="http://schemas.microsoft.com/office/drawing/2014/main" id="{B13BD6CF-0664-AF47-2F0A-15E2908E27F9}"/>
              </a:ext>
            </a:extLst>
          </p:cNvPr>
          <p:cNvSpPr>
            <a:spLocks xmlns:a="http://schemas.openxmlformats.org/drawingml/2006/main" noGrp="1"/>
          </p:cNvSpPr>
          <p:nvPr/>
        </p:nvSpPr>
        <p:spPr>
          <a:xfrm xmlns:a="http://schemas.openxmlformats.org/drawingml/2006/main">
            <a:off x="2813059" y="2014212"/>
            <a:ext cx="1494936" cy="290829"/>
          </a:xfrm>
          <a:prstGeom xmlns:a="http://schemas.openxmlformats.org/drawingml/2006/main" prst="round2SameRect">
            <a:avLst>
              <a:gd name="adj1" fmla="val 34443"/>
              <a:gd name="adj2" fmla="val 0"/>
            </a:avLst>
          </a:prstGeom>
          <a:solidFill xmlns:a="http://schemas.openxmlformats.org/drawingml/2006/main">
            <a:srgbClr val="64B68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Rectangle: Rounded Corners 64">
            <a:extLst xmlns:a="http://schemas.openxmlformats.org/drawingml/2006/main">
              <a:ext uri="{FF2B5EF4-FFF2-40B4-BE49-F238E27FC236}">
                <a16:creationId xmlns:a16="http://schemas.microsoft.com/office/drawing/2014/main" id="{13DB5EBE-AAE3-621F-DF87-EC243F8AFFB6}"/>
              </a:ext>
            </a:extLst>
          </p:cNvPr>
          <p:cNvSpPr>
            <a:spLocks xmlns:a="http://schemas.openxmlformats.org/drawingml/2006/main" noGrp="1"/>
          </p:cNvSpPr>
          <p:nvPr/>
        </p:nvSpPr>
        <p:spPr>
          <a:xfrm xmlns:a="http://schemas.openxmlformats.org/drawingml/2006/main">
            <a:off x="2813058" y="2047905"/>
            <a:ext cx="1494937" cy="2266951"/>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6" name="Rectangle: Rounded Corners 65">
            <a:extLst xmlns:a="http://schemas.openxmlformats.org/drawingml/2006/main">
              <a:ext uri="{FF2B5EF4-FFF2-40B4-BE49-F238E27FC236}">
                <a16:creationId xmlns:a16="http://schemas.microsoft.com/office/drawing/2014/main" id="{06DC0C5B-A14C-3467-1B59-34743A23285E}"/>
              </a:ext>
            </a:extLst>
          </p:cNvPr>
          <p:cNvSpPr>
            <a:spLocks xmlns:a="http://schemas.openxmlformats.org/drawingml/2006/main" noGrp="1"/>
          </p:cNvSpPr>
          <p:nvPr/>
        </p:nvSpPr>
        <p:spPr>
          <a:xfrm xmlns:a="http://schemas.openxmlformats.org/drawingml/2006/main">
            <a:off x="3341060" y="2210277"/>
            <a:ext cx="438935" cy="438935"/>
          </a:xfrm>
          <a:prstGeom xmlns:a="http://schemas.openxmlformats.org/drawingml/2006/main" prst="roundRect">
            <a:avLst/>
          </a:prstGeom>
          <a:solidFill xmlns:a="http://schemas.openxmlformats.org/drawingml/2006/main">
            <a:srgbClr val="64B68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TextBox 66">
            <a:extLst xmlns:a="http://schemas.openxmlformats.org/drawingml/2006/main">
              <a:ext uri="{FF2B5EF4-FFF2-40B4-BE49-F238E27FC236}">
                <a16:creationId xmlns:a16="http://schemas.microsoft.com/office/drawing/2014/main" id="{FD7A4EF4-BE7E-B915-89A8-F37A539FD358}"/>
              </a:ext>
            </a:extLst>
          </p:cNvPr>
          <p:cNvSpPr>
            <a:spLocks xmlns:a="http://schemas.openxmlformats.org/drawingml/2006/main" noGrp="1"/>
          </p:cNvSpPr>
          <p:nvPr/>
        </p:nvSpPr>
        <p:spPr>
          <a:xfrm xmlns:a="http://schemas.openxmlformats.org/drawingml/2006/main">
            <a:off x="3021391" y="2649212"/>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lumMod val="95000"/>
                  </a:schemeClr>
                </a:solidFill>
                <a:latin typeface="Montserrat"/>
                <a:ea typeface="Montserrat"/>
                <a:cs typeface="Montserrat"/>
              </a:rPr>
              <a:t>Power Query</a:t>
            </a:r>
          </a:p>
        </p:txBody>
      </p:sp>
      <p:sp>
        <p:nvSpPr>
          <p:cNvPr id="68" name="TextBox 67">
            <a:extLst xmlns:a="http://schemas.openxmlformats.org/drawingml/2006/main">
              <a:ext uri="{FF2B5EF4-FFF2-40B4-BE49-F238E27FC236}">
                <a16:creationId xmlns:a16="http://schemas.microsoft.com/office/drawing/2014/main" id="{3D86F473-8BBC-0EF7-7C00-0061756857DB}"/>
              </a:ext>
            </a:extLst>
          </p:cNvPr>
          <p:cNvSpPr>
            <a:spLocks xmlns:a="http://schemas.openxmlformats.org/drawingml/2006/main" noGrp="1"/>
          </p:cNvSpPr>
          <p:nvPr/>
        </p:nvSpPr>
        <p:spPr>
          <a:xfrm xmlns:a="http://schemas.openxmlformats.org/drawingml/2006/main">
            <a:off x="2817065" y="3559623"/>
            <a:ext cx="1494936" cy="77724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Reference schema gate</a:t>
            </a:r>
          </a:p>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Header and footer rules</a:t>
            </a:r>
          </a:p>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Audit with every export</a:t>
            </a:r>
          </a:p>
        </p:txBody>
      </p:sp>
      <p:sp>
        <p:nvSpPr>
          <p:cNvPr id="69" name="TextBox 68">
            <a:extLst xmlns:a="http://schemas.openxmlformats.org/drawingml/2006/main">
              <a:ext uri="{FF2B5EF4-FFF2-40B4-BE49-F238E27FC236}">
                <a16:creationId xmlns:a16="http://schemas.microsoft.com/office/drawing/2014/main" id="{71C845EC-78D8-F828-E58D-7778611FEAA4}"/>
              </a:ext>
            </a:extLst>
          </p:cNvPr>
          <p:cNvSpPr>
            <a:spLocks xmlns:a="http://schemas.openxmlformats.org/drawingml/2006/main" noGrp="1"/>
          </p:cNvSpPr>
          <p:nvPr/>
        </p:nvSpPr>
        <p:spPr>
          <a:xfrm xmlns:a="http://schemas.openxmlformats.org/drawingml/2006/main">
            <a:off x="3021391" y="3239821"/>
            <a:ext cx="1078272"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a:solidFill>
                  <a:schemeClr val="bg2">
                    <a:lumMod val="75000"/>
                  </a:schemeClr>
                </a:solidFill>
                <a:latin typeface="Bahnschrift Condensed"/>
                <a:ea typeface="Bahnschrift Condensed"/>
                <a:cs typeface="Bahnschrift Condensed"/>
              </a:rPr>
              <a:t>queries for user to build</a:t>
            </a:r>
          </a:p>
        </p:txBody>
      </p:sp>
      <p:sp>
        <p:nvSpPr>
          <p:cNvPr id="70" name="TextBox 69">
            <a:extLst xmlns:a="http://schemas.openxmlformats.org/drawingml/2006/main">
              <a:ext uri="{FF2B5EF4-FFF2-40B4-BE49-F238E27FC236}">
                <a16:creationId xmlns:a16="http://schemas.microsoft.com/office/drawing/2014/main" id="{B35F84DA-243E-5BD8-81B6-21DC505B256A}"/>
              </a:ext>
            </a:extLst>
          </p:cNvPr>
          <p:cNvSpPr>
            <a:spLocks xmlns:a="http://schemas.openxmlformats.org/drawingml/2006/main" noGrp="1"/>
          </p:cNvSpPr>
          <p:nvPr/>
        </p:nvSpPr>
        <p:spPr>
          <a:xfrm xmlns:a="http://schemas.openxmlformats.org/drawingml/2006/main">
            <a:off x="2809051" y="2787195"/>
            <a:ext cx="1498944" cy="5539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000" b="1">
                <a:solidFill>
                  <a:srgbClr val="64B686"/>
                </a:solidFill>
                <a:latin typeface="Montserrat"/>
                <a:ea typeface="Montserrat"/>
                <a:cs typeface="Montserrat"/>
              </a:rPr>
              <a:t>0</a:t>
            </a:r>
          </a:p>
        </p:txBody>
      </p:sp>
      <p:pic>
        <p:nvPicPr>
          <p:cNvPr id="114" name="Picture 70"/>
          <p:cNvPicPr>
            <a:picLocks xmlns:a="http://schemas.openxmlformats.org/drawingml/2006/main" noChangeAspect="1"/>
          </p:cNvPicPr>
          <p:nvPr/>
        </p:nvPicPr>
        <p:blipFill>
          <a:blip xmlns:r="http://schemas.openxmlformats.org/officeDocument/2006/relationships" xmlns:a="http://schemas.openxmlformats.org/drawingml/2006/main" r:embed="R9005691f8be340ae"/>
          <a:srcRect xmlns:a="http://schemas.openxmlformats.org/drawingml/2006/main" l="0" t="0" r="0" b="0"/>
          <a:stretch xmlns:a="http://schemas.openxmlformats.org/drawingml/2006/main"/>
        </p:blipFill>
        <p:spPr>
          <a:xfrm xmlns:a="http://schemas.openxmlformats.org/drawingml/2006/main">
            <a:off x="3353930" y="2220848"/>
            <a:ext cx="413192" cy="413192"/>
          </a:xfrm>
          <a:prstGeom xmlns:a="http://schemas.openxmlformats.org/drawingml/2006/main" prst="rect">
            <a:avLst/>
          </a:prstGeom>
        </p:spPr>
      </p:pic>
      <p:sp>
        <p:nvSpPr>
          <p:cNvPr id="73" name="Rectangle: Top Corners Rounded 72">
            <a:extLst xmlns:a="http://schemas.openxmlformats.org/drawingml/2006/main">
              <a:ext uri="{FF2B5EF4-FFF2-40B4-BE49-F238E27FC236}">
                <a16:creationId xmlns:a16="http://schemas.microsoft.com/office/drawing/2014/main" id="{D4CBCC81-3A78-5269-25D9-5F47F089F1FF}"/>
              </a:ext>
            </a:extLst>
          </p:cNvPr>
          <p:cNvSpPr>
            <a:spLocks xmlns:a="http://schemas.openxmlformats.org/drawingml/2006/main" noGrp="1"/>
          </p:cNvSpPr>
          <p:nvPr/>
        </p:nvSpPr>
        <p:spPr>
          <a:xfrm xmlns:a="http://schemas.openxmlformats.org/drawingml/2006/main">
            <a:off x="4832001" y="2014212"/>
            <a:ext cx="1494936" cy="290829"/>
          </a:xfrm>
          <a:prstGeom xmlns:a="http://schemas.openxmlformats.org/drawingml/2006/main" prst="round2SameRect">
            <a:avLst>
              <a:gd name="adj1" fmla="val 34443"/>
              <a:gd name="adj2" fmla="val 0"/>
            </a:avLst>
          </a:prstGeom>
          <a:solidFill xmlns:a="http://schemas.openxmlformats.org/drawingml/2006/main">
            <a:srgbClr val="6082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Rectangle: Rounded Corners 73">
            <a:extLst xmlns:a="http://schemas.openxmlformats.org/drawingml/2006/main">
              <a:ext uri="{FF2B5EF4-FFF2-40B4-BE49-F238E27FC236}">
                <a16:creationId xmlns:a16="http://schemas.microsoft.com/office/drawing/2014/main" id="{B5A2A573-3D33-2ACD-6893-D2A252573E1F}"/>
              </a:ext>
            </a:extLst>
          </p:cNvPr>
          <p:cNvSpPr>
            <a:spLocks xmlns:a="http://schemas.openxmlformats.org/drawingml/2006/main" noGrp="1"/>
          </p:cNvSpPr>
          <p:nvPr/>
        </p:nvSpPr>
        <p:spPr>
          <a:xfrm xmlns:a="http://schemas.openxmlformats.org/drawingml/2006/main">
            <a:off x="4832000" y="2047905"/>
            <a:ext cx="1494937" cy="2266951"/>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Rectangle: Rounded Corners 74">
            <a:extLst xmlns:a="http://schemas.openxmlformats.org/drawingml/2006/main">
              <a:ext uri="{FF2B5EF4-FFF2-40B4-BE49-F238E27FC236}">
                <a16:creationId xmlns:a16="http://schemas.microsoft.com/office/drawing/2014/main" id="{2150D242-F253-4ED5-1C74-F274B1F03D7C}"/>
              </a:ext>
            </a:extLst>
          </p:cNvPr>
          <p:cNvSpPr>
            <a:spLocks xmlns:a="http://schemas.openxmlformats.org/drawingml/2006/main" noGrp="1"/>
          </p:cNvSpPr>
          <p:nvPr/>
        </p:nvSpPr>
        <p:spPr>
          <a:xfrm xmlns:a="http://schemas.openxmlformats.org/drawingml/2006/main">
            <a:off x="5360002" y="2210277"/>
            <a:ext cx="438935" cy="438935"/>
          </a:xfrm>
          <a:prstGeom xmlns:a="http://schemas.openxmlformats.org/drawingml/2006/main" prst="roundRect">
            <a:avLst/>
          </a:prstGeom>
          <a:solidFill xmlns:a="http://schemas.openxmlformats.org/drawingml/2006/main">
            <a:srgbClr val="6082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TextBox 75">
            <a:extLst xmlns:a="http://schemas.openxmlformats.org/drawingml/2006/main">
              <a:ext uri="{FF2B5EF4-FFF2-40B4-BE49-F238E27FC236}">
                <a16:creationId xmlns:a16="http://schemas.microsoft.com/office/drawing/2014/main" id="{CBABDDB6-4B08-981E-B3BE-2D051E16910D}"/>
              </a:ext>
            </a:extLst>
          </p:cNvPr>
          <p:cNvSpPr>
            <a:spLocks xmlns:a="http://schemas.openxmlformats.org/drawingml/2006/main" noGrp="1"/>
          </p:cNvSpPr>
          <p:nvPr/>
        </p:nvSpPr>
        <p:spPr>
          <a:xfrm xmlns:a="http://schemas.openxmlformats.org/drawingml/2006/main">
            <a:off x="5040333" y="2649212"/>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lumMod val="95000"/>
                  </a:schemeClr>
                </a:solidFill>
                <a:latin typeface="Montserrat"/>
                <a:ea typeface="Montserrat"/>
                <a:cs typeface="Montserrat"/>
              </a:rPr>
              <a:t>VBA / Macros</a:t>
            </a:r>
          </a:p>
        </p:txBody>
      </p:sp>
      <p:sp>
        <p:nvSpPr>
          <p:cNvPr id="77" name="TextBox 76">
            <a:extLst xmlns:a="http://schemas.openxmlformats.org/drawingml/2006/main">
              <a:ext uri="{FF2B5EF4-FFF2-40B4-BE49-F238E27FC236}">
                <a16:creationId xmlns:a16="http://schemas.microsoft.com/office/drawing/2014/main" id="{14C7B36B-1FED-2CC8-990F-B21120C6A89B}"/>
              </a:ext>
            </a:extLst>
          </p:cNvPr>
          <p:cNvSpPr>
            <a:spLocks xmlns:a="http://schemas.openxmlformats.org/drawingml/2006/main" noGrp="1"/>
          </p:cNvSpPr>
          <p:nvPr/>
        </p:nvSpPr>
        <p:spPr>
          <a:xfrm xmlns:a="http://schemas.openxmlformats.org/drawingml/2006/main">
            <a:off x="4836007" y="3559623"/>
            <a:ext cx="1494936" cy="60579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No macro trust prompts</a:t>
            </a:r>
          </a:p>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Same flow for every user</a:t>
            </a:r>
          </a:p>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No workbook-specific code</a:t>
            </a:r>
          </a:p>
        </p:txBody>
      </p:sp>
      <p:sp>
        <p:nvSpPr>
          <p:cNvPr id="78" name="TextBox 77">
            <a:extLst xmlns:a="http://schemas.openxmlformats.org/drawingml/2006/main">
              <a:ext uri="{FF2B5EF4-FFF2-40B4-BE49-F238E27FC236}">
                <a16:creationId xmlns:a16="http://schemas.microsoft.com/office/drawing/2014/main" id="{A637DF14-5AEB-7FE1-B15A-9EDBDF8A0534}"/>
              </a:ext>
            </a:extLst>
          </p:cNvPr>
          <p:cNvSpPr>
            <a:spLocks xmlns:a="http://schemas.openxmlformats.org/drawingml/2006/main" noGrp="1"/>
          </p:cNvSpPr>
          <p:nvPr/>
        </p:nvSpPr>
        <p:spPr>
          <a:xfrm xmlns:a="http://schemas.openxmlformats.org/drawingml/2006/main">
            <a:off x="5040333" y="3239821"/>
            <a:ext cx="1078272"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a:solidFill>
                  <a:schemeClr val="bg2">
                    <a:lumMod val="75000"/>
                  </a:schemeClr>
                </a:solidFill>
                <a:latin typeface="Bahnschrift Condensed"/>
                <a:ea typeface="Bahnschrift Condensed"/>
                <a:cs typeface="Bahnschrift Condensed"/>
              </a:rPr>
              <a:t>macro code to own</a:t>
            </a:r>
          </a:p>
        </p:txBody>
      </p:sp>
      <p:sp>
        <p:nvSpPr>
          <p:cNvPr id="79" name="TextBox 78">
            <a:extLst xmlns:a="http://schemas.openxmlformats.org/drawingml/2006/main">
              <a:ext uri="{FF2B5EF4-FFF2-40B4-BE49-F238E27FC236}">
                <a16:creationId xmlns:a16="http://schemas.microsoft.com/office/drawing/2014/main" id="{26A42D19-3C4E-A1AF-5E27-82E252AD1355}"/>
              </a:ext>
            </a:extLst>
          </p:cNvPr>
          <p:cNvSpPr>
            <a:spLocks xmlns:a="http://schemas.openxmlformats.org/drawingml/2006/main" noGrp="1"/>
          </p:cNvSpPr>
          <p:nvPr/>
        </p:nvSpPr>
        <p:spPr>
          <a:xfrm xmlns:a="http://schemas.openxmlformats.org/drawingml/2006/main">
            <a:off x="5040333" y="2787195"/>
            <a:ext cx="1078272"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rgbClr val="6082ED"/>
                </a:solidFill>
                <a:latin typeface="Montserrat"/>
                <a:ea typeface="Montserrat"/>
                <a:cs typeface="Montserrat"/>
              </a:rPr>
              <a:t>0</a:t>
            </a:r>
          </a:p>
        </p:txBody>
      </p:sp>
      <p:pic>
        <p:nvPicPr>
          <p:cNvPr id="122" name="Picture 79"/>
          <p:cNvPicPr>
            <a:picLocks xmlns:a="http://schemas.openxmlformats.org/drawingml/2006/main" noChangeAspect="1"/>
          </p:cNvPicPr>
          <p:nvPr/>
        </p:nvPicPr>
        <p:blipFill>
          <a:blip xmlns:r="http://schemas.openxmlformats.org/officeDocument/2006/relationships" xmlns:a="http://schemas.openxmlformats.org/drawingml/2006/main" r:embed="R50e86b3722324235"/>
          <a:srcRect xmlns:a="http://schemas.openxmlformats.org/drawingml/2006/main" l="0" t="0" r="0" b="0"/>
          <a:stretch xmlns:a="http://schemas.openxmlformats.org/drawingml/2006/main"/>
        </p:blipFill>
        <p:spPr>
          <a:xfrm xmlns:a="http://schemas.openxmlformats.org/drawingml/2006/main">
            <a:off x="5372872" y="2220848"/>
            <a:ext cx="413192" cy="413192"/>
          </a:xfrm>
          <a:prstGeom xmlns:a="http://schemas.openxmlformats.org/drawingml/2006/main" prst="rect">
            <a:avLst/>
          </a:prstGeom>
        </p:spPr>
      </p:pic>
      <p:sp>
        <p:nvSpPr>
          <p:cNvPr id="82" name="Rectangle: Top Corners Rounded 81">
            <a:extLst xmlns:a="http://schemas.openxmlformats.org/drawingml/2006/main">
              <a:ext uri="{FF2B5EF4-FFF2-40B4-BE49-F238E27FC236}">
                <a16:creationId xmlns:a16="http://schemas.microsoft.com/office/drawing/2014/main" id="{293D70B2-CFF0-C78D-942A-2C9C10C12F18}"/>
              </a:ext>
            </a:extLst>
          </p:cNvPr>
          <p:cNvSpPr>
            <a:spLocks xmlns:a="http://schemas.openxmlformats.org/drawingml/2006/main" noGrp="1"/>
          </p:cNvSpPr>
          <p:nvPr/>
        </p:nvSpPr>
        <p:spPr>
          <a:xfrm xmlns:a="http://schemas.openxmlformats.org/drawingml/2006/main">
            <a:off x="6850942" y="2014212"/>
            <a:ext cx="1494936" cy="290829"/>
          </a:xfrm>
          <a:prstGeom xmlns:a="http://schemas.openxmlformats.org/drawingml/2006/main" prst="round2SameRect">
            <a:avLst>
              <a:gd name="adj1" fmla="val 34443"/>
              <a:gd name="adj2" fmla="val 0"/>
            </a:avLst>
          </a:prstGeom>
          <a:solidFill xmlns:a="http://schemas.openxmlformats.org/drawingml/2006/main">
            <a:srgbClr val="8760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Rectangle: Rounded Corners 82">
            <a:extLst xmlns:a="http://schemas.openxmlformats.org/drawingml/2006/main">
              <a:ext uri="{FF2B5EF4-FFF2-40B4-BE49-F238E27FC236}">
                <a16:creationId xmlns:a16="http://schemas.microsoft.com/office/drawing/2014/main" id="{A8D61E71-6EA1-28E9-9B87-14B65212A0D6}"/>
              </a:ext>
            </a:extLst>
          </p:cNvPr>
          <p:cNvSpPr>
            <a:spLocks xmlns:a="http://schemas.openxmlformats.org/drawingml/2006/main" noGrp="1"/>
          </p:cNvSpPr>
          <p:nvPr/>
        </p:nvSpPr>
        <p:spPr>
          <a:xfrm xmlns:a="http://schemas.openxmlformats.org/drawingml/2006/main">
            <a:off x="6850941" y="2047905"/>
            <a:ext cx="1494937" cy="2266951"/>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Rectangle: Rounded Corners 83">
            <a:extLst xmlns:a="http://schemas.openxmlformats.org/drawingml/2006/main">
              <a:ext uri="{FF2B5EF4-FFF2-40B4-BE49-F238E27FC236}">
                <a16:creationId xmlns:a16="http://schemas.microsoft.com/office/drawing/2014/main" id="{9C69BA3F-17A7-9E50-299C-F12ED7146401}"/>
              </a:ext>
            </a:extLst>
          </p:cNvPr>
          <p:cNvSpPr>
            <a:spLocks xmlns:a="http://schemas.openxmlformats.org/drawingml/2006/main" noGrp="1"/>
          </p:cNvSpPr>
          <p:nvPr/>
        </p:nvSpPr>
        <p:spPr>
          <a:xfrm xmlns:a="http://schemas.openxmlformats.org/drawingml/2006/main">
            <a:off x="7378943" y="2210277"/>
            <a:ext cx="438935" cy="438935"/>
          </a:xfrm>
          <a:prstGeom xmlns:a="http://schemas.openxmlformats.org/drawingml/2006/main" prst="roundRect">
            <a:avLst/>
          </a:prstGeom>
          <a:solidFill xmlns:a="http://schemas.openxmlformats.org/drawingml/2006/main">
            <a:srgbClr val="8760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TextBox 84">
            <a:extLst xmlns:a="http://schemas.openxmlformats.org/drawingml/2006/main">
              <a:ext uri="{FF2B5EF4-FFF2-40B4-BE49-F238E27FC236}">
                <a16:creationId xmlns:a16="http://schemas.microsoft.com/office/drawing/2014/main" id="{D6521839-CBBC-F0AB-C993-5651C0F5FB9E}"/>
              </a:ext>
            </a:extLst>
          </p:cNvPr>
          <p:cNvSpPr>
            <a:spLocks xmlns:a="http://schemas.openxmlformats.org/drawingml/2006/main" noGrp="1"/>
          </p:cNvSpPr>
          <p:nvPr/>
        </p:nvSpPr>
        <p:spPr>
          <a:xfrm xmlns:a="http://schemas.openxmlformats.org/drawingml/2006/main">
            <a:off x="7059274" y="2649212"/>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lumMod val="95000"/>
                  </a:schemeClr>
                </a:solidFill>
                <a:latin typeface="Montserrat"/>
                <a:ea typeface="Montserrat"/>
                <a:cs typeface="Montserrat"/>
              </a:rPr>
              <a:t>ETL / Python</a:t>
            </a:r>
          </a:p>
        </p:txBody>
      </p:sp>
      <p:sp>
        <p:nvSpPr>
          <p:cNvPr id="86" name="TextBox 85">
            <a:extLst xmlns:a="http://schemas.openxmlformats.org/drawingml/2006/main">
              <a:ext uri="{FF2B5EF4-FFF2-40B4-BE49-F238E27FC236}">
                <a16:creationId xmlns:a16="http://schemas.microsoft.com/office/drawing/2014/main" id="{94902961-06B1-DDB6-6193-55A308F1BEF7}"/>
              </a:ext>
            </a:extLst>
          </p:cNvPr>
          <p:cNvSpPr>
            <a:spLocks xmlns:a="http://schemas.openxmlformats.org/drawingml/2006/main" noGrp="1"/>
          </p:cNvSpPr>
          <p:nvPr/>
        </p:nvSpPr>
        <p:spPr>
          <a:xfrm xmlns:a="http://schemas.openxmlformats.org/drawingml/2006/main">
            <a:off x="6854948" y="3559623"/>
            <a:ext cx="1494936" cy="60579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No command line</a:t>
            </a:r>
          </a:p>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No environment setup</a:t>
            </a:r>
          </a:p>
          <a:p xmlns:a="http://schemas.openxmlformats.org/drawingml/2006/main">
            <a:pPr marL="171450" indent="-171450">
              <a:lnSpc>
                <a:spcPct val="150000"/>
              </a:lnSpc>
              <a:buFont typeface="Arial"/>
              <a:buChar char="•"/>
              <a:defRPr sz="694">
                <a:solidFill>
                  <a:srgbClr val="F1F5F9"/>
                </a:solidFill>
                <a:latin typeface="Trebuchet MS"/>
                <a:ea typeface="Trebuchet MS"/>
                <a:cs typeface="Trebuchet MS"/>
              </a:defRPr>
            </a:pPr>
            <a:r>
              <a:rPr sz="694">
                <a:solidFill>
                  <a:srgbClr val="F1F5F9"/>
                </a:solidFill>
                <a:latin typeface="Trebuchet MS"/>
                <a:ea typeface="Trebuchet MS"/>
                <a:cs typeface="Trebuchet MS"/>
              </a:rPr>
              <a:t>Local desktop workflow</a:t>
            </a:r>
          </a:p>
        </p:txBody>
      </p:sp>
      <p:sp>
        <p:nvSpPr>
          <p:cNvPr id="87" name="TextBox 86">
            <a:extLst xmlns:a="http://schemas.openxmlformats.org/drawingml/2006/main">
              <a:ext uri="{FF2B5EF4-FFF2-40B4-BE49-F238E27FC236}">
                <a16:creationId xmlns:a16="http://schemas.microsoft.com/office/drawing/2014/main" id="{782FA7FE-9C0C-4213-4B6F-CAE58CD48669}"/>
              </a:ext>
            </a:extLst>
          </p:cNvPr>
          <p:cNvSpPr>
            <a:spLocks xmlns:a="http://schemas.openxmlformats.org/drawingml/2006/main" noGrp="1"/>
          </p:cNvSpPr>
          <p:nvPr/>
        </p:nvSpPr>
        <p:spPr>
          <a:xfrm xmlns:a="http://schemas.openxmlformats.org/drawingml/2006/main">
            <a:off x="7059274" y="3239821"/>
            <a:ext cx="1078272"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a:solidFill>
                  <a:schemeClr val="bg2">
                    <a:lumMod val="75000"/>
                  </a:schemeClr>
                </a:solidFill>
                <a:latin typeface="Bahnschrift Condensed"/>
                <a:ea typeface="Bahnschrift Condensed"/>
                <a:cs typeface="Bahnschrift Condensed"/>
              </a:rPr>
              <a:t>portable desktop app</a:t>
            </a:r>
          </a:p>
        </p:txBody>
      </p:sp>
      <p:sp>
        <p:nvSpPr>
          <p:cNvPr id="88" name="TextBox 87">
            <a:extLst xmlns:a="http://schemas.openxmlformats.org/drawingml/2006/main">
              <a:ext uri="{FF2B5EF4-FFF2-40B4-BE49-F238E27FC236}">
                <a16:creationId xmlns:a16="http://schemas.microsoft.com/office/drawing/2014/main" id="{E6E0617A-26B3-A51B-4999-F6FEDC133E7C}"/>
              </a:ext>
            </a:extLst>
          </p:cNvPr>
          <p:cNvSpPr>
            <a:spLocks xmlns:a="http://schemas.openxmlformats.org/drawingml/2006/main" noGrp="1"/>
          </p:cNvSpPr>
          <p:nvPr/>
        </p:nvSpPr>
        <p:spPr>
          <a:xfrm xmlns:a="http://schemas.openxmlformats.org/drawingml/2006/main">
            <a:off x="6846935" y="2787195"/>
            <a:ext cx="1502949" cy="5539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000" b="1">
                <a:solidFill>
                  <a:srgbClr val="8760ED"/>
                </a:solidFill>
                <a:latin typeface="Montserrat"/>
                <a:ea typeface="Montserrat"/>
                <a:cs typeface="Montserrat"/>
              </a:rPr>
              <a:t>1</a:t>
            </a:r>
          </a:p>
        </p:txBody>
      </p:sp>
      <p:pic>
        <p:nvPicPr>
          <p:cNvPr id="130" name="Picture 88"/>
          <p:cNvPicPr>
            <a:picLocks xmlns:a="http://schemas.openxmlformats.org/drawingml/2006/main" noChangeAspect="1"/>
          </p:cNvPicPr>
          <p:nvPr/>
        </p:nvPicPr>
        <p:blipFill>
          <a:blip xmlns:r="http://schemas.openxmlformats.org/officeDocument/2006/relationships" xmlns:a="http://schemas.openxmlformats.org/drawingml/2006/main" r:embed="R3f05781dee8841bc"/>
          <a:srcRect xmlns:a="http://schemas.openxmlformats.org/drawingml/2006/main" l="0" t="0" r="0" b="0"/>
          <a:stretch xmlns:a="http://schemas.openxmlformats.org/drawingml/2006/main"/>
        </p:blipFill>
        <p:spPr>
          <a:xfrm xmlns:a="http://schemas.openxmlformats.org/drawingml/2006/main">
            <a:off x="7391813" y="2220848"/>
            <a:ext cx="413192" cy="413192"/>
          </a:xfrm>
          <a:prstGeom xmlns:a="http://schemas.openxmlformats.org/drawingml/2006/main" prst="rect">
            <a:avLst/>
          </a:prstGeom>
        </p:spPr>
      </p:pic>
      <p:pic>
        <p:nvPicPr>
          <p:cNvPr id="131" name="Picture 130"/>
          <p:cNvPicPr>
            <a:picLocks xmlns:a="http://schemas.openxmlformats.org/drawingml/2006/main" noChangeAspect="1"/>
          </p:cNvPicPr>
          <p:nvPr/>
        </p:nvPicPr>
        <p:blipFill>
          <a:blip xmlns:r="http://schemas.openxmlformats.org/officeDocument/2006/relationships" xmlns:a="http://schemas.openxmlformats.org/drawingml/2006/main" r:embed="R0ab69a9bc902429a"/>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1073064814"/>
      </p:ext>
    </p:extLst>
  </p:cSld>
</p:sld>
</file>

<file path=ppt/slides/slide10.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4" name="Shape 2">
            <a:extLst xmlns:a="http://schemas.openxmlformats.org/drawingml/2006/main">
              <a:ext uri="{FF2B5EF4-FFF2-40B4-BE49-F238E27FC236}">
                <a16:creationId xmlns:a16="http://schemas.microsoft.com/office/drawing/2014/main" id="{7F04F92B-23F5-4A87-852C-594C7CFD4A43}"/>
              </a:ext>
            </a:extLst>
          </p:cNvPr>
          <p:cNvSpPr>
            <a:spLocks xmlns:a="http://schemas.openxmlformats.org/drawingml/2006/main" noGrp="1"/>
          </p:cNvSpPr>
          <p:nvPr/>
        </p:nvSpPr>
        <p:spPr>
          <a:xfrm xmlns:a="http://schemas.openxmlformats.org/drawingml/2006/main">
            <a:off x="466763" y="1757082"/>
            <a:ext cx="4266004" cy="3008778"/>
          </a:xfrm>
          <a:prstGeom xmlns:a="http://schemas.openxmlformats.org/drawingml/2006/main" prst="rect">
            <a:avLst/>
          </a:prstGeom>
          <a:solidFill xmlns:a="http://schemas.openxmlformats.org/drawingml/2006/main">
            <a:srgbClr val="080F1A"/>
          </a:solidFill>
          <a:ln xmlns:a="http://schemas.openxmlformats.org/drawingml/2006/main" w="19050">
            <a:solidFill>
              <a:srgbClr val="10B981"/>
            </a:solidFill>
            <a:prstDash val="solid"/>
          </a:ln>
          <a:effectLst xmlns:a="http://schemas.openxmlformats.org/drawingml/2006/main">
            <a:outerShdw blurRad="152400" dist="38100" dir="8100000" algn="bl" rotWithShape="0">
              <a:srgbClr val="000000">
                <a:alpha val="40000"/>
              </a:srgbClr>
            </a:outerShdw>
          </a:effectLst>
        </p:spPr>
      </p:sp>
      <p:sp>
        <p:nvSpPr>
          <p:cNvPr id="5" name="Shape 3">
            <a:extLst xmlns:a="http://schemas.openxmlformats.org/drawingml/2006/main">
              <a:ext uri="{FF2B5EF4-FFF2-40B4-BE49-F238E27FC236}">
                <a16:creationId xmlns:a16="http://schemas.microsoft.com/office/drawing/2014/main" id="{C72BEABE-F490-4AFE-8689-665DAED2910C}"/>
              </a:ext>
            </a:extLst>
          </p:cNvPr>
          <p:cNvSpPr>
            <a:spLocks xmlns:a="http://schemas.openxmlformats.org/drawingml/2006/main" noGrp="1"/>
          </p:cNvSpPr>
          <p:nvPr/>
        </p:nvSpPr>
        <p:spPr>
          <a:xfrm xmlns:a="http://schemas.openxmlformats.org/drawingml/2006/main">
            <a:off x="466763" y="1757082"/>
            <a:ext cx="4266004" cy="285833"/>
          </a:xfrm>
          <a:prstGeom xmlns:a="http://schemas.openxmlformats.org/drawingml/2006/main" prst="rect">
            <a:avLst/>
          </a:prstGeom>
          <a:solidFill xmlns:a="http://schemas.openxmlformats.org/drawingml/2006/main">
            <a:srgbClr val="0D1F12"/>
          </a:solidFill>
          <a:ln xmlns:a="http://schemas.openxmlformats.org/drawingml/2006/main" w="6350">
            <a:solidFill>
              <a:srgbClr val="10B981"/>
            </a:solidFill>
            <a:prstDash val="solid"/>
          </a:ln>
        </p:spPr>
      </p:sp>
      <p:sp>
        <p:nvSpPr>
          <p:cNvPr id="7" name="Text 5">
            <a:extLst xmlns:a="http://schemas.openxmlformats.org/drawingml/2006/main">
              <a:ext uri="{FF2B5EF4-FFF2-40B4-BE49-F238E27FC236}">
                <a16:creationId xmlns:a16="http://schemas.microsoft.com/office/drawing/2014/main" id="{EDB794EA-ACDE-4179-B572-D0F73873B660}"/>
              </a:ext>
            </a:extLst>
          </p:cNvPr>
          <p:cNvSpPr>
            <a:spLocks xmlns:a="http://schemas.openxmlformats.org/drawingml/2006/main" noGrp="1"/>
          </p:cNvSpPr>
          <p:nvPr/>
        </p:nvSpPr>
        <p:spPr>
          <a:xfrm xmlns:a="http://schemas.openxmlformats.org/drawingml/2006/main">
            <a:off x="1191984" y="1757082"/>
            <a:ext cx="3327483" cy="285833"/>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10B981"/>
                </a:solidFill>
                <a:latin typeface="Consolas"/>
                <a:ea typeface="Consolas"/>
                <a:cs typeface="Consolas"/>
              </a:rPr>
              <a:t>sales_combined.audit.txt</a:t>
            </a:r>
            <a:endParaRPr sz="900"/>
          </a:p>
        </p:txBody>
      </p:sp>
      <p:sp>
        <p:nvSpPr>
          <p:cNvPr id="8" name="Text 6">
            <a:extLst xmlns:a="http://schemas.openxmlformats.org/drawingml/2006/main">
              <a:ext uri="{FF2B5EF4-FFF2-40B4-BE49-F238E27FC236}">
                <a16:creationId xmlns:a16="http://schemas.microsoft.com/office/drawing/2014/main" id="{BCE17F82-1191-45FB-B092-A2D0A9EB0493}"/>
              </a:ext>
            </a:extLst>
          </p:cNvPr>
          <p:cNvSpPr>
            <a:spLocks xmlns:a="http://schemas.openxmlformats.org/drawingml/2006/main" noGrp="1"/>
          </p:cNvSpPr>
          <p:nvPr/>
        </p:nvSpPr>
        <p:spPr>
          <a:xfrm xmlns:a="http://schemas.openxmlformats.org/drawingml/2006/main">
            <a:off x="594743" y="2148223"/>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App Version:</a:t>
            </a:r>
            <a:endParaRPr sz="850"/>
          </a:p>
        </p:txBody>
      </p:sp>
      <p:sp>
        <p:nvSpPr>
          <p:cNvPr id="9" name="Text 7">
            <a:extLst xmlns:a="http://schemas.openxmlformats.org/drawingml/2006/main">
              <a:ext uri="{FF2B5EF4-FFF2-40B4-BE49-F238E27FC236}">
                <a16:creationId xmlns:a16="http://schemas.microsoft.com/office/drawing/2014/main" id="{0CC6A98E-028D-43B4-ADD1-3BF8EB06064B}"/>
              </a:ext>
            </a:extLst>
          </p:cNvPr>
          <p:cNvSpPr>
            <a:spLocks xmlns:a="http://schemas.openxmlformats.org/drawingml/2006/main" noGrp="1"/>
          </p:cNvSpPr>
          <p:nvPr/>
        </p:nvSpPr>
        <p:spPr>
          <a:xfrm xmlns:a="http://schemas.openxmlformats.org/drawingml/2006/main">
            <a:off x="1934268" y="2148223"/>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MergeGuru v3.0</a:t>
            </a:r>
            <a:endParaRPr sz="850"/>
          </a:p>
        </p:txBody>
      </p:sp>
      <p:sp>
        <p:nvSpPr>
          <p:cNvPr id="10" name="Text 8">
            <a:extLst xmlns:a="http://schemas.openxmlformats.org/drawingml/2006/main">
              <a:ext uri="{FF2B5EF4-FFF2-40B4-BE49-F238E27FC236}">
                <a16:creationId xmlns:a16="http://schemas.microsoft.com/office/drawing/2014/main" id="{336335C3-33D3-46A8-8617-D09A066AA20C}"/>
              </a:ext>
            </a:extLst>
          </p:cNvPr>
          <p:cNvSpPr>
            <a:spLocks xmlns:a="http://schemas.openxmlformats.org/drawingml/2006/main" noGrp="1"/>
          </p:cNvSpPr>
          <p:nvPr/>
        </p:nvSpPr>
        <p:spPr>
          <a:xfrm xmlns:a="http://schemas.openxmlformats.org/drawingml/2006/main">
            <a:off x="594743" y="2358838"/>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Export Date:</a:t>
            </a:r>
            <a:endParaRPr sz="850"/>
          </a:p>
        </p:txBody>
      </p:sp>
      <p:sp>
        <p:nvSpPr>
          <p:cNvPr id="11" name="Text 9">
            <a:extLst xmlns:a="http://schemas.openxmlformats.org/drawingml/2006/main">
              <a:ext uri="{FF2B5EF4-FFF2-40B4-BE49-F238E27FC236}">
                <a16:creationId xmlns:a16="http://schemas.microsoft.com/office/drawing/2014/main" id="{F9D7C70D-5ABF-467A-876B-6855F66AEA5A}"/>
              </a:ext>
            </a:extLst>
          </p:cNvPr>
          <p:cNvSpPr>
            <a:spLocks xmlns:a="http://schemas.openxmlformats.org/drawingml/2006/main" noGrp="1"/>
          </p:cNvSpPr>
          <p:nvPr/>
        </p:nvSpPr>
        <p:spPr>
          <a:xfrm xmlns:a="http://schemas.openxmlformats.org/drawingml/2006/main">
            <a:off x="1934268" y="2358838"/>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2026-06-07  09:14:32</a:t>
            </a:r>
            <a:endParaRPr sz="850"/>
          </a:p>
        </p:txBody>
      </p:sp>
      <p:sp>
        <p:nvSpPr>
          <p:cNvPr id="12" name="Text 10">
            <a:extLst xmlns:a="http://schemas.openxmlformats.org/drawingml/2006/main">
              <a:ext uri="{FF2B5EF4-FFF2-40B4-BE49-F238E27FC236}">
                <a16:creationId xmlns:a16="http://schemas.microsoft.com/office/drawing/2014/main" id="{2A2FA21A-860B-4146-BB99-244EAB56EF97}"/>
              </a:ext>
            </a:extLst>
          </p:cNvPr>
          <p:cNvSpPr>
            <a:spLocks xmlns:a="http://schemas.openxmlformats.org/drawingml/2006/main" noGrp="1"/>
          </p:cNvSpPr>
          <p:nvPr/>
        </p:nvSpPr>
        <p:spPr>
          <a:xfrm xmlns:a="http://schemas.openxmlformats.org/drawingml/2006/main">
            <a:off x="594743" y="2569452"/>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Source Folder:</a:t>
            </a:r>
            <a:endParaRPr sz="850"/>
          </a:p>
        </p:txBody>
      </p:sp>
      <p:sp>
        <p:nvSpPr>
          <p:cNvPr id="13" name="Text 11">
            <a:extLst xmlns:a="http://schemas.openxmlformats.org/drawingml/2006/main">
              <a:ext uri="{FF2B5EF4-FFF2-40B4-BE49-F238E27FC236}">
                <a16:creationId xmlns:a16="http://schemas.microsoft.com/office/drawing/2014/main" id="{43F69BD7-6CFB-4ACA-BC89-9B7A83DBAD2F}"/>
              </a:ext>
            </a:extLst>
          </p:cNvPr>
          <p:cNvSpPr>
            <a:spLocks xmlns:a="http://schemas.openxmlformats.org/drawingml/2006/main" noGrp="1"/>
          </p:cNvSpPr>
          <p:nvPr/>
        </p:nvSpPr>
        <p:spPr>
          <a:xfrm xmlns:a="http://schemas.openxmlformats.org/drawingml/2006/main">
            <a:off x="1934268" y="2569452"/>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/data/sales/Q1/</a:t>
            </a:r>
            <a:endParaRPr sz="850"/>
          </a:p>
        </p:txBody>
      </p:sp>
      <p:sp>
        <p:nvSpPr>
          <p:cNvPr id="14" name="Text 12">
            <a:extLst xmlns:a="http://schemas.openxmlformats.org/drawingml/2006/main">
              <a:ext uri="{FF2B5EF4-FFF2-40B4-BE49-F238E27FC236}">
                <a16:creationId xmlns:a16="http://schemas.microsoft.com/office/drawing/2014/main" id="{481D0376-14FD-443C-832A-0BA53653B3B1}"/>
              </a:ext>
            </a:extLst>
          </p:cNvPr>
          <p:cNvSpPr>
            <a:spLocks xmlns:a="http://schemas.openxmlformats.org/drawingml/2006/main" noGrp="1"/>
          </p:cNvSpPr>
          <p:nvPr/>
        </p:nvSpPr>
        <p:spPr>
          <a:xfrm xmlns:a="http://schemas.openxmlformats.org/drawingml/2006/main">
            <a:off x="594743" y="2780066"/>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Reference File:</a:t>
            </a:r>
            <a:endParaRPr sz="850"/>
          </a:p>
        </p:txBody>
      </p:sp>
      <p:sp>
        <p:nvSpPr>
          <p:cNvPr id="15" name="Text 13">
            <a:extLst xmlns:a="http://schemas.openxmlformats.org/drawingml/2006/main">
              <a:ext uri="{FF2B5EF4-FFF2-40B4-BE49-F238E27FC236}">
                <a16:creationId xmlns:a16="http://schemas.microsoft.com/office/drawing/2014/main" id="{2CDA3BDC-9DA1-4444-B421-4D9F17C42BD2}"/>
              </a:ext>
            </a:extLst>
          </p:cNvPr>
          <p:cNvSpPr>
            <a:spLocks xmlns:a="http://schemas.openxmlformats.org/drawingml/2006/main" noGrp="1"/>
          </p:cNvSpPr>
          <p:nvPr/>
        </p:nvSpPr>
        <p:spPr>
          <a:xfrm xmlns:a="http://schemas.openxmlformats.org/drawingml/2006/main">
            <a:off x="1934268" y="2780066"/>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template_jan.xlsx</a:t>
            </a:r>
            <a:endParaRPr sz="850"/>
          </a:p>
        </p:txBody>
      </p:sp>
      <p:sp>
        <p:nvSpPr>
          <p:cNvPr id="16" name="Text 14">
            <a:extLst xmlns:a="http://schemas.openxmlformats.org/drawingml/2006/main">
              <a:ext uri="{FF2B5EF4-FFF2-40B4-BE49-F238E27FC236}">
                <a16:creationId xmlns:a16="http://schemas.microsoft.com/office/drawing/2014/main" id="{8D8CCDF8-DAF2-40D1-B63B-5A440CF8F38A}"/>
              </a:ext>
            </a:extLst>
          </p:cNvPr>
          <p:cNvSpPr>
            <a:spLocks xmlns:a="http://schemas.openxmlformats.org/drawingml/2006/main" noGrp="1"/>
          </p:cNvSpPr>
          <p:nvPr/>
        </p:nvSpPr>
        <p:spPr>
          <a:xfrm xmlns:a="http://schemas.openxmlformats.org/drawingml/2006/main">
            <a:off x="594743" y="2990681"/>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Files Included:</a:t>
            </a:r>
            <a:endParaRPr sz="850"/>
          </a:p>
        </p:txBody>
      </p:sp>
      <p:sp>
        <p:nvSpPr>
          <p:cNvPr id="17" name="Text 15">
            <a:extLst xmlns:a="http://schemas.openxmlformats.org/drawingml/2006/main">
              <a:ext uri="{FF2B5EF4-FFF2-40B4-BE49-F238E27FC236}">
                <a16:creationId xmlns:a16="http://schemas.microsoft.com/office/drawing/2014/main" id="{987B6080-D9FE-4139-8D06-D36892E5BD2F}"/>
              </a:ext>
            </a:extLst>
          </p:cNvPr>
          <p:cNvSpPr>
            <a:spLocks xmlns:a="http://schemas.openxmlformats.org/drawingml/2006/main" noGrp="1"/>
          </p:cNvSpPr>
          <p:nvPr/>
        </p:nvSpPr>
        <p:spPr>
          <a:xfrm xmlns:a="http://schemas.openxmlformats.org/drawingml/2006/main">
            <a:off x="1934268" y="2990681"/>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8  (PASS: 7 · WARN: 1 · FAIL: 0)</a:t>
            </a:r>
            <a:endParaRPr sz="850"/>
          </a:p>
        </p:txBody>
      </p:sp>
      <p:sp>
        <p:nvSpPr>
          <p:cNvPr id="18" name="Text 16">
            <a:extLst xmlns:a="http://schemas.openxmlformats.org/drawingml/2006/main">
              <a:ext uri="{FF2B5EF4-FFF2-40B4-BE49-F238E27FC236}">
                <a16:creationId xmlns:a16="http://schemas.microsoft.com/office/drawing/2014/main" id="{AD473A9C-C0A3-49E7-8D7F-902037E09BFA}"/>
              </a:ext>
            </a:extLst>
          </p:cNvPr>
          <p:cNvSpPr>
            <a:spLocks xmlns:a="http://schemas.openxmlformats.org/drawingml/2006/main" noGrp="1"/>
          </p:cNvSpPr>
          <p:nvPr/>
        </p:nvSpPr>
        <p:spPr>
          <a:xfrm xmlns:a="http://schemas.openxmlformats.org/drawingml/2006/main">
            <a:off x="594743" y="3201295"/>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Header Row:</a:t>
            </a:r>
            <a:endParaRPr sz="850"/>
          </a:p>
        </p:txBody>
      </p:sp>
      <p:sp>
        <p:nvSpPr>
          <p:cNvPr id="19" name="Text 17">
            <a:extLst xmlns:a="http://schemas.openxmlformats.org/drawingml/2006/main">
              <a:ext uri="{FF2B5EF4-FFF2-40B4-BE49-F238E27FC236}">
                <a16:creationId xmlns:a16="http://schemas.microsoft.com/office/drawing/2014/main" id="{6988D9EC-5FE4-46D6-9898-8BB2F8DDF744}"/>
              </a:ext>
            </a:extLst>
          </p:cNvPr>
          <p:cNvSpPr>
            <a:spLocks xmlns:a="http://schemas.openxmlformats.org/drawingml/2006/main" noGrp="1"/>
          </p:cNvSpPr>
          <p:nvPr/>
        </p:nvSpPr>
        <p:spPr>
          <a:xfrm xmlns:a="http://schemas.openxmlformats.org/drawingml/2006/main">
            <a:off x="1934268" y="3201295"/>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Row 2  (title row skipped)</a:t>
            </a:r>
            <a:endParaRPr sz="850"/>
          </a:p>
        </p:txBody>
      </p:sp>
      <p:sp>
        <p:nvSpPr>
          <p:cNvPr id="20" name="Text 18">
            <a:extLst xmlns:a="http://schemas.openxmlformats.org/drawingml/2006/main">
              <a:ext uri="{FF2B5EF4-FFF2-40B4-BE49-F238E27FC236}">
                <a16:creationId xmlns:a16="http://schemas.microsoft.com/office/drawing/2014/main" id="{E0C5BE75-B0C3-4093-AA4C-278E15B955F6}"/>
              </a:ext>
            </a:extLst>
          </p:cNvPr>
          <p:cNvSpPr>
            <a:spLocks xmlns:a="http://schemas.openxmlformats.org/drawingml/2006/main" noGrp="1"/>
          </p:cNvSpPr>
          <p:nvPr/>
        </p:nvSpPr>
        <p:spPr>
          <a:xfrm xmlns:a="http://schemas.openxmlformats.org/drawingml/2006/main">
            <a:off x="594743" y="3411910"/>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Footer Stripped:</a:t>
            </a:r>
            <a:endParaRPr sz="850"/>
          </a:p>
        </p:txBody>
      </p:sp>
      <p:sp>
        <p:nvSpPr>
          <p:cNvPr id="21" name="Text 19">
            <a:extLst xmlns:a="http://schemas.openxmlformats.org/drawingml/2006/main">
              <a:ext uri="{FF2B5EF4-FFF2-40B4-BE49-F238E27FC236}">
                <a16:creationId xmlns:a16="http://schemas.microsoft.com/office/drawing/2014/main" id="{80F969FE-4449-471A-9478-16D48C5521D6}"/>
              </a:ext>
            </a:extLst>
          </p:cNvPr>
          <p:cNvSpPr>
            <a:spLocks xmlns:a="http://schemas.openxmlformats.org/drawingml/2006/main" noGrp="1"/>
          </p:cNvSpPr>
          <p:nvPr/>
        </p:nvSpPr>
        <p:spPr>
          <a:xfrm xmlns:a="http://schemas.openxmlformats.org/drawingml/2006/main">
            <a:off x="1934268" y="3411910"/>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2 rows</a:t>
            </a:r>
            <a:endParaRPr sz="850"/>
          </a:p>
        </p:txBody>
      </p:sp>
      <p:sp>
        <p:nvSpPr>
          <p:cNvPr id="22" name="Text 20">
            <a:extLst xmlns:a="http://schemas.openxmlformats.org/drawingml/2006/main">
              <a:ext uri="{FF2B5EF4-FFF2-40B4-BE49-F238E27FC236}">
                <a16:creationId xmlns:a16="http://schemas.microsoft.com/office/drawing/2014/main" id="{F27AAC84-C085-476A-96E0-7435FC7F93D2}"/>
              </a:ext>
            </a:extLst>
          </p:cNvPr>
          <p:cNvSpPr>
            <a:spLocks xmlns:a="http://schemas.openxmlformats.org/drawingml/2006/main" noGrp="1"/>
          </p:cNvSpPr>
          <p:nvPr/>
        </p:nvSpPr>
        <p:spPr>
          <a:xfrm xmlns:a="http://schemas.openxmlformats.org/drawingml/2006/main">
            <a:off x="594743" y="3622524"/>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Filters Active:</a:t>
            </a:r>
            <a:endParaRPr sz="850"/>
          </a:p>
        </p:txBody>
      </p:sp>
      <p:sp>
        <p:nvSpPr>
          <p:cNvPr id="23" name="Text 21">
            <a:extLst xmlns:a="http://schemas.openxmlformats.org/drawingml/2006/main">
              <a:ext uri="{FF2B5EF4-FFF2-40B4-BE49-F238E27FC236}">
                <a16:creationId xmlns:a16="http://schemas.microsoft.com/office/drawing/2014/main" id="{61EE374F-08C1-4D11-9E57-EBF0E85C01C2}"/>
              </a:ext>
            </a:extLst>
          </p:cNvPr>
          <p:cNvSpPr>
            <a:spLocks xmlns:a="http://schemas.openxmlformats.org/drawingml/2006/main" noGrp="1"/>
          </p:cNvSpPr>
          <p:nvPr/>
        </p:nvSpPr>
        <p:spPr>
          <a:xfrm xmlns:a="http://schemas.openxmlformats.org/drawingml/2006/main">
            <a:off x="1934268" y="3622524"/>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Region = [North, East]  ·  Date ≥ 2026-01-01</a:t>
            </a:r>
            <a:endParaRPr sz="850"/>
          </a:p>
        </p:txBody>
      </p:sp>
      <p:sp>
        <p:nvSpPr>
          <p:cNvPr id="24" name="Text 22">
            <a:extLst xmlns:a="http://schemas.openxmlformats.org/drawingml/2006/main">
              <a:ext uri="{FF2B5EF4-FFF2-40B4-BE49-F238E27FC236}">
                <a16:creationId xmlns:a16="http://schemas.microsoft.com/office/drawing/2014/main" id="{D7DDBDD6-B967-4706-8B88-8C0848E38614}"/>
              </a:ext>
            </a:extLst>
          </p:cNvPr>
          <p:cNvSpPr>
            <a:spLocks xmlns:a="http://schemas.openxmlformats.org/drawingml/2006/main" noGrp="1"/>
          </p:cNvSpPr>
          <p:nvPr/>
        </p:nvSpPr>
        <p:spPr>
          <a:xfrm xmlns:a="http://schemas.openxmlformats.org/drawingml/2006/main">
            <a:off x="594743" y="3833139"/>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Rows Exported:</a:t>
            </a:r>
            <a:endParaRPr sz="850"/>
          </a:p>
        </p:txBody>
      </p:sp>
      <p:sp>
        <p:nvSpPr>
          <p:cNvPr id="25" name="Text 23">
            <a:extLst xmlns:a="http://schemas.openxmlformats.org/drawingml/2006/main">
              <a:ext uri="{FF2B5EF4-FFF2-40B4-BE49-F238E27FC236}">
                <a16:creationId xmlns:a16="http://schemas.microsoft.com/office/drawing/2014/main" id="{803F42C6-2CC6-4E2B-8534-258EBE2BA2F7}"/>
              </a:ext>
            </a:extLst>
          </p:cNvPr>
          <p:cNvSpPr>
            <a:spLocks xmlns:a="http://schemas.openxmlformats.org/drawingml/2006/main" noGrp="1"/>
          </p:cNvSpPr>
          <p:nvPr/>
        </p:nvSpPr>
        <p:spPr>
          <a:xfrm xmlns:a="http://schemas.openxmlformats.org/drawingml/2006/main">
            <a:off x="1934268" y="3833139"/>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124,882</a:t>
            </a:r>
            <a:endParaRPr sz="850"/>
          </a:p>
        </p:txBody>
      </p:sp>
      <p:sp>
        <p:nvSpPr>
          <p:cNvPr id="26" name="Text 24">
            <a:extLst xmlns:a="http://schemas.openxmlformats.org/drawingml/2006/main">
              <a:ext uri="{FF2B5EF4-FFF2-40B4-BE49-F238E27FC236}">
                <a16:creationId xmlns:a16="http://schemas.microsoft.com/office/drawing/2014/main" id="{177B527E-13D9-4E92-B8CB-DBA13A45014C}"/>
              </a:ext>
            </a:extLst>
          </p:cNvPr>
          <p:cNvSpPr>
            <a:spLocks xmlns:a="http://schemas.openxmlformats.org/drawingml/2006/main" noGrp="1"/>
          </p:cNvSpPr>
          <p:nvPr/>
        </p:nvSpPr>
        <p:spPr>
          <a:xfrm xmlns:a="http://schemas.openxmlformats.org/drawingml/2006/main">
            <a:off x="594743" y="4043753"/>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Output Format:</a:t>
            </a:r>
            <a:endParaRPr sz="850"/>
          </a:p>
        </p:txBody>
      </p:sp>
      <p:sp>
        <p:nvSpPr>
          <p:cNvPr id="27" name="Text 25">
            <a:extLst xmlns:a="http://schemas.openxmlformats.org/drawingml/2006/main">
              <a:ext uri="{FF2B5EF4-FFF2-40B4-BE49-F238E27FC236}">
                <a16:creationId xmlns:a16="http://schemas.microsoft.com/office/drawing/2014/main" id="{2FAED47D-704B-4DD2-B7B1-241E18C972CA}"/>
              </a:ext>
            </a:extLst>
          </p:cNvPr>
          <p:cNvSpPr>
            <a:spLocks xmlns:a="http://schemas.openxmlformats.org/drawingml/2006/main" noGrp="1"/>
          </p:cNvSpPr>
          <p:nvPr/>
        </p:nvSpPr>
        <p:spPr>
          <a:xfrm xmlns:a="http://schemas.openxmlformats.org/drawingml/2006/main">
            <a:off x="1934268" y="4043753"/>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CSV (chunked  ·  22 chunks)</a:t>
            </a:r>
            <a:endParaRPr sz="850"/>
          </a:p>
        </p:txBody>
      </p:sp>
      <p:sp>
        <p:nvSpPr>
          <p:cNvPr id="28" name="Text 26">
            <a:extLst xmlns:a="http://schemas.openxmlformats.org/drawingml/2006/main">
              <a:ext uri="{FF2B5EF4-FFF2-40B4-BE49-F238E27FC236}">
                <a16:creationId xmlns:a16="http://schemas.microsoft.com/office/drawing/2014/main" id="{B32D581C-8114-41AD-A3F8-29E357862AC1}"/>
              </a:ext>
            </a:extLst>
          </p:cNvPr>
          <p:cNvSpPr>
            <a:spLocks xmlns:a="http://schemas.openxmlformats.org/drawingml/2006/main" noGrp="1"/>
          </p:cNvSpPr>
          <p:nvPr/>
        </p:nvSpPr>
        <p:spPr>
          <a:xfrm xmlns:a="http://schemas.openxmlformats.org/drawingml/2006/main">
            <a:off x="594743" y="4254368"/>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File Size:</a:t>
            </a:r>
            <a:endParaRPr sz="850"/>
          </a:p>
        </p:txBody>
      </p:sp>
      <p:sp>
        <p:nvSpPr>
          <p:cNvPr id="29" name="Text 27">
            <a:extLst xmlns:a="http://schemas.openxmlformats.org/drawingml/2006/main">
              <a:ext uri="{FF2B5EF4-FFF2-40B4-BE49-F238E27FC236}">
                <a16:creationId xmlns:a16="http://schemas.microsoft.com/office/drawing/2014/main" id="{C8F0438F-A1FE-4C57-ABC5-0EC15F1EB9B1}"/>
              </a:ext>
            </a:extLst>
          </p:cNvPr>
          <p:cNvSpPr>
            <a:spLocks xmlns:a="http://schemas.openxmlformats.org/drawingml/2006/main" noGrp="1"/>
          </p:cNvSpPr>
          <p:nvPr/>
        </p:nvSpPr>
        <p:spPr>
          <a:xfrm xmlns:a="http://schemas.openxmlformats.org/drawingml/2006/main">
            <a:off x="1934268" y="4254368"/>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18.4 MB</a:t>
            </a:r>
            <a:endParaRPr sz="850"/>
          </a:p>
        </p:txBody>
      </p:sp>
      <p:sp>
        <p:nvSpPr>
          <p:cNvPr id="30" name="Text 28">
            <a:extLst xmlns:a="http://schemas.openxmlformats.org/drawingml/2006/main">
              <a:ext uri="{FF2B5EF4-FFF2-40B4-BE49-F238E27FC236}">
                <a16:creationId xmlns:a16="http://schemas.microsoft.com/office/drawing/2014/main" id="{E5C7FFBE-51AA-424E-860C-679DE16F4574}"/>
              </a:ext>
            </a:extLst>
          </p:cNvPr>
          <p:cNvSpPr>
            <a:spLocks xmlns:a="http://schemas.openxmlformats.org/drawingml/2006/main" noGrp="1"/>
          </p:cNvSpPr>
          <p:nvPr/>
        </p:nvSpPr>
        <p:spPr>
          <a:xfrm xmlns:a="http://schemas.openxmlformats.org/drawingml/2006/main">
            <a:off x="594743" y="4464982"/>
            <a:ext cx="1279801"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3B82F6"/>
                </a:solidFill>
                <a:latin typeface="Consolas"/>
                <a:ea typeface="Consolas"/>
                <a:cs typeface="Consolas"/>
              </a:rPr>
              <a:t>Output Path:</a:t>
            </a:r>
            <a:endParaRPr sz="850"/>
          </a:p>
        </p:txBody>
      </p:sp>
      <p:sp>
        <p:nvSpPr>
          <p:cNvPr id="31" name="Text 29">
            <a:extLst xmlns:a="http://schemas.openxmlformats.org/drawingml/2006/main">
              <a:ext uri="{FF2B5EF4-FFF2-40B4-BE49-F238E27FC236}">
                <a16:creationId xmlns:a16="http://schemas.microsoft.com/office/drawing/2014/main" id="{93E6EE56-1BEF-4E4A-A3D2-0F6C4FEAD417}"/>
              </a:ext>
            </a:extLst>
          </p:cNvPr>
          <p:cNvSpPr>
            <a:spLocks xmlns:a="http://schemas.openxmlformats.org/drawingml/2006/main" noGrp="1"/>
          </p:cNvSpPr>
          <p:nvPr/>
        </p:nvSpPr>
        <p:spPr>
          <a:xfrm xmlns:a="http://schemas.openxmlformats.org/drawingml/2006/main">
            <a:off x="1934268" y="4464982"/>
            <a:ext cx="2644922" cy="188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F1F5F9"/>
                </a:solidFill>
                <a:latin typeface="Consolas"/>
                <a:ea typeface="Consolas"/>
                <a:cs typeface="Consolas"/>
              </a:rPr>
              <a:t>/exports/sales_Q1_combined.csv</a:t>
            </a:r>
            <a:endParaRPr sz="850"/>
          </a:p>
        </p:txBody>
      </p:sp>
      <p:sp>
        <p:nvSpPr>
          <p:cNvPr id="32" name="Text 30">
            <a:extLst xmlns:a="http://schemas.openxmlformats.org/drawingml/2006/main">
              <a:ext uri="{FF2B5EF4-FFF2-40B4-BE49-F238E27FC236}">
                <a16:creationId xmlns:a16="http://schemas.microsoft.com/office/drawing/2014/main" id="{48E1BD90-3948-4684-8BD6-0150505C7A28}"/>
              </a:ext>
            </a:extLst>
          </p:cNvPr>
          <p:cNvSpPr>
            <a:spLocks xmlns:a="http://schemas.openxmlformats.org/drawingml/2006/main" noGrp="1"/>
          </p:cNvSpPr>
          <p:nvPr/>
        </p:nvSpPr>
        <p:spPr>
          <a:xfrm xmlns:a="http://schemas.openxmlformats.org/drawingml/2006/main">
            <a:off x="5185423" y="1589705"/>
            <a:ext cx="280810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Montserrat"/>
                <a:ea typeface="Montserrat"/>
                <a:cs typeface="Montserrat"/>
              </a:rPr>
              <a:t>Every export. </a:t>
            </a:r>
            <a:r>
              <a:rPr sz="1600" b="1">
                <a:solidFill>
                  <a:srgbClr val="10B981"/>
                </a:solidFill>
                <a:latin typeface="Montserrat"/>
                <a:ea typeface="Montserrat"/>
                <a:cs typeface="Montserrat"/>
              </a:rPr>
              <a:t>Every time.</a:t>
            </a:r>
            <a:endParaRPr sz="1600">
              <a:solidFill>
                <a:srgbClr val="10B981"/>
              </a:solidFill>
              <a:latin typeface="Montserrat"/>
              <a:ea typeface="Montserrat"/>
              <a:cs typeface="Montserrat"/>
            </a:endParaRPr>
          </a:p>
        </p:txBody>
      </p:sp>
      <p:sp>
        <p:nvSpPr>
          <p:cNvPr id="33" name="Shape 31">
            <a:extLst xmlns:a="http://schemas.openxmlformats.org/drawingml/2006/main">
              <a:ext uri="{FF2B5EF4-FFF2-40B4-BE49-F238E27FC236}">
                <a16:creationId xmlns:a16="http://schemas.microsoft.com/office/drawing/2014/main" id="{C92E2BC0-E8EC-4E62-8E6A-C7D8E42BE141}"/>
              </a:ext>
            </a:extLst>
          </p:cNvPr>
          <p:cNvSpPr>
            <a:spLocks xmlns:a="http://schemas.openxmlformats.org/drawingml/2006/main" noGrp="1"/>
          </p:cNvSpPr>
          <p:nvPr/>
        </p:nvSpPr>
        <p:spPr>
          <a:xfrm xmlns:a="http://schemas.openxmlformats.org/drawingml/2006/main">
            <a:off x="5181004" y="2001729"/>
            <a:ext cx="2812527" cy="342265"/>
          </a:xfrm>
          <a:prstGeom xmlns:a="http://schemas.openxmlformats.org/drawingml/2006/main" prst="rect">
            <a:avLst/>
          </a:prstGeom>
          <a:solidFill xmlns:a="http://schemas.openxmlformats.org/drawingml/2006/main">
            <a:srgbClr val="1E2A3B"/>
          </a:solidFill>
          <a:ln xmlns:a="http://schemas.openxmlformats.org/drawingml/2006/main" w="10160">
            <a:solidFill>
              <a:srgbClr val="243348"/>
            </a:solidFill>
            <a:prstDash val="solid"/>
          </a:ln>
        </p:spPr>
      </p:sp>
      <p:pic>
        <p:nvPicPr>
          <p:cNvPr id="108" name="Image 0"/>
          <p:cNvPicPr>
            <a:picLocks xmlns:a="http://schemas.openxmlformats.org/drawingml/2006/main" noChangeAspect="1"/>
          </p:cNvPicPr>
          <p:nvPr/>
        </p:nvPicPr>
        <p:blipFill>
          <a:blip xmlns:r="http://schemas.openxmlformats.org/officeDocument/2006/relationships" xmlns:a="http://schemas.openxmlformats.org/drawingml/2006/main" r:embed="R7b497139a613411c"/>
          <a:stretch xmlns:a="http://schemas.openxmlformats.org/drawingml/2006/main">
            <a:fillRect l="0" t="0" r="0" b="0"/>
          </a:stretch>
        </p:blipFill>
        <p:spPr>
          <a:xfrm xmlns:a="http://schemas.openxmlformats.org/drawingml/2006/main">
            <a:off x="5314934" y="2046372"/>
            <a:ext cx="238097" cy="238097"/>
          </a:xfrm>
          <a:prstGeom xmlns:a="http://schemas.openxmlformats.org/drawingml/2006/main" prst="rect">
            <a:avLst/>
          </a:prstGeom>
        </p:spPr>
      </p:pic>
      <p:sp>
        <p:nvSpPr>
          <p:cNvPr id="35" name="Text 32">
            <a:extLst xmlns:a="http://schemas.openxmlformats.org/drawingml/2006/main">
              <a:ext uri="{FF2B5EF4-FFF2-40B4-BE49-F238E27FC236}">
                <a16:creationId xmlns:a16="http://schemas.microsoft.com/office/drawing/2014/main" id="{C71EF455-C706-4751-9ECB-566B545985E6}"/>
              </a:ext>
            </a:extLst>
          </p:cNvPr>
          <p:cNvSpPr>
            <a:spLocks xmlns:a="http://schemas.openxmlformats.org/drawingml/2006/main" noGrp="1"/>
          </p:cNvSpPr>
          <p:nvPr/>
        </p:nvSpPr>
        <p:spPr>
          <a:xfrm xmlns:a="http://schemas.openxmlformats.org/drawingml/2006/main">
            <a:off x="5627437" y="2001729"/>
            <a:ext cx="2306569" cy="3422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F1F5F9"/>
                </a:solidFill>
                <a:latin typeface="Trebuchet MS"/>
                <a:ea typeface="Trebuchet MS"/>
                <a:cs typeface="Trebuchet MS"/>
              </a:rPr>
              <a:t>Export timestamp &amp; version</a:t>
            </a:r>
            <a:endParaRPr sz="1100"/>
          </a:p>
        </p:txBody>
      </p:sp>
      <p:sp>
        <p:nvSpPr>
          <p:cNvPr id="36" name="Shape 33">
            <a:extLst xmlns:a="http://schemas.openxmlformats.org/drawingml/2006/main">
              <a:ext uri="{FF2B5EF4-FFF2-40B4-BE49-F238E27FC236}">
                <a16:creationId xmlns:a16="http://schemas.microsoft.com/office/drawing/2014/main" id="{C6750C21-5199-4F40-BC21-86B51316ECE0}"/>
              </a:ext>
            </a:extLst>
          </p:cNvPr>
          <p:cNvSpPr>
            <a:spLocks xmlns:a="http://schemas.openxmlformats.org/drawingml/2006/main" noGrp="1"/>
          </p:cNvSpPr>
          <p:nvPr/>
        </p:nvSpPr>
        <p:spPr>
          <a:xfrm xmlns:a="http://schemas.openxmlformats.org/drawingml/2006/main">
            <a:off x="5181004" y="2410959"/>
            <a:ext cx="2812527" cy="342265"/>
          </a:xfrm>
          <a:prstGeom xmlns:a="http://schemas.openxmlformats.org/drawingml/2006/main" prst="rect">
            <a:avLst/>
          </a:prstGeom>
          <a:solidFill xmlns:a="http://schemas.openxmlformats.org/drawingml/2006/main">
            <a:srgbClr val="1E2A3B"/>
          </a:solidFill>
          <a:ln xmlns:a="http://schemas.openxmlformats.org/drawingml/2006/main" w="10160">
            <a:solidFill>
              <a:srgbClr val="243348"/>
            </a:solidFill>
            <a:prstDash val="solid"/>
          </a:ln>
        </p:spPr>
      </p:sp>
      <p:pic>
        <p:nvPicPr>
          <p:cNvPr id="111" name="Image 1"/>
          <p:cNvPicPr>
            <a:picLocks xmlns:a="http://schemas.openxmlformats.org/drawingml/2006/main" noChangeAspect="1"/>
          </p:cNvPicPr>
          <p:nvPr/>
        </p:nvPicPr>
        <p:blipFill>
          <a:blip xmlns:r="http://schemas.openxmlformats.org/officeDocument/2006/relationships" xmlns:a="http://schemas.openxmlformats.org/drawingml/2006/main" r:embed="R8ccf030023d04ef4"/>
          <a:stretch xmlns:a="http://schemas.openxmlformats.org/drawingml/2006/main">
            <a:fillRect l="0" t="0" r="0" b="0"/>
          </a:stretch>
        </p:blipFill>
        <p:spPr>
          <a:xfrm xmlns:a="http://schemas.openxmlformats.org/drawingml/2006/main">
            <a:off x="5314934" y="2455603"/>
            <a:ext cx="238097" cy="238097"/>
          </a:xfrm>
          <a:prstGeom xmlns:a="http://schemas.openxmlformats.org/drawingml/2006/main" prst="rect">
            <a:avLst/>
          </a:prstGeom>
        </p:spPr>
      </p:pic>
      <p:sp>
        <p:nvSpPr>
          <p:cNvPr id="38" name="Text 34">
            <a:extLst xmlns:a="http://schemas.openxmlformats.org/drawingml/2006/main">
              <a:ext uri="{FF2B5EF4-FFF2-40B4-BE49-F238E27FC236}">
                <a16:creationId xmlns:a16="http://schemas.microsoft.com/office/drawing/2014/main" id="{CBF00655-DC66-416C-B35D-BD6CBD6AAA6F}"/>
              </a:ext>
            </a:extLst>
          </p:cNvPr>
          <p:cNvSpPr>
            <a:spLocks xmlns:a="http://schemas.openxmlformats.org/drawingml/2006/main" noGrp="1"/>
          </p:cNvSpPr>
          <p:nvPr/>
        </p:nvSpPr>
        <p:spPr>
          <a:xfrm xmlns:a="http://schemas.openxmlformats.org/drawingml/2006/main">
            <a:off x="5627437" y="2410959"/>
            <a:ext cx="2306569" cy="3422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F1F5F9"/>
                </a:solidFill>
                <a:latin typeface="Trebuchet MS"/>
                <a:ea typeface="Trebuchet MS"/>
                <a:cs typeface="Trebuchet MS"/>
              </a:rPr>
              <a:t>Source folder &amp; files used</a:t>
            </a:r>
            <a:endParaRPr sz="1100"/>
          </a:p>
        </p:txBody>
      </p:sp>
      <p:sp>
        <p:nvSpPr>
          <p:cNvPr id="39" name="Shape 35">
            <a:extLst xmlns:a="http://schemas.openxmlformats.org/drawingml/2006/main">
              <a:ext uri="{FF2B5EF4-FFF2-40B4-BE49-F238E27FC236}">
                <a16:creationId xmlns:a16="http://schemas.microsoft.com/office/drawing/2014/main" id="{DB889FCA-D606-4F81-B0EF-5B82DE78AF16}"/>
              </a:ext>
            </a:extLst>
          </p:cNvPr>
          <p:cNvSpPr>
            <a:spLocks xmlns:a="http://schemas.openxmlformats.org/drawingml/2006/main" noGrp="1"/>
          </p:cNvSpPr>
          <p:nvPr/>
        </p:nvSpPr>
        <p:spPr>
          <a:xfrm xmlns:a="http://schemas.openxmlformats.org/drawingml/2006/main">
            <a:off x="5181004" y="2820189"/>
            <a:ext cx="2812527" cy="342265"/>
          </a:xfrm>
          <a:prstGeom xmlns:a="http://schemas.openxmlformats.org/drawingml/2006/main" prst="rect">
            <a:avLst/>
          </a:prstGeom>
          <a:solidFill xmlns:a="http://schemas.openxmlformats.org/drawingml/2006/main">
            <a:srgbClr val="1E2A3B"/>
          </a:solidFill>
          <a:ln xmlns:a="http://schemas.openxmlformats.org/drawingml/2006/main" w="10160">
            <a:solidFill>
              <a:srgbClr val="243348"/>
            </a:solidFill>
            <a:prstDash val="solid"/>
          </a:ln>
        </p:spPr>
      </p:sp>
      <p:pic>
        <p:nvPicPr>
          <p:cNvPr id="114" name="Image 2"/>
          <p:cNvPicPr>
            <a:picLocks xmlns:a="http://schemas.openxmlformats.org/drawingml/2006/main" noChangeAspect="1"/>
          </p:cNvPicPr>
          <p:nvPr/>
        </p:nvPicPr>
        <p:blipFill>
          <a:blip xmlns:r="http://schemas.openxmlformats.org/officeDocument/2006/relationships" xmlns:a="http://schemas.openxmlformats.org/drawingml/2006/main" r:embed="R6da0fdf2523c4d8d"/>
          <a:stretch xmlns:a="http://schemas.openxmlformats.org/drawingml/2006/main">
            <a:fillRect l="0" t="0" r="0" b="0"/>
          </a:stretch>
        </p:blipFill>
        <p:spPr>
          <a:xfrm xmlns:a="http://schemas.openxmlformats.org/drawingml/2006/main">
            <a:off x="5314934" y="2864833"/>
            <a:ext cx="238097" cy="238097"/>
          </a:xfrm>
          <a:prstGeom xmlns:a="http://schemas.openxmlformats.org/drawingml/2006/main" prst="rect">
            <a:avLst/>
          </a:prstGeom>
        </p:spPr>
      </p:pic>
      <p:sp>
        <p:nvSpPr>
          <p:cNvPr id="41" name="Text 36">
            <a:extLst xmlns:a="http://schemas.openxmlformats.org/drawingml/2006/main">
              <a:ext uri="{FF2B5EF4-FFF2-40B4-BE49-F238E27FC236}">
                <a16:creationId xmlns:a16="http://schemas.microsoft.com/office/drawing/2014/main" id="{AA858C22-4C72-4189-B608-6C3527C0048C}"/>
              </a:ext>
            </a:extLst>
          </p:cNvPr>
          <p:cNvSpPr>
            <a:spLocks xmlns:a="http://schemas.openxmlformats.org/drawingml/2006/main" noGrp="1"/>
          </p:cNvSpPr>
          <p:nvPr/>
        </p:nvSpPr>
        <p:spPr>
          <a:xfrm xmlns:a="http://schemas.openxmlformats.org/drawingml/2006/main">
            <a:off x="5627437" y="2820189"/>
            <a:ext cx="2306569" cy="3422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F1F5F9"/>
                </a:solidFill>
                <a:latin typeface="Trebuchet MS"/>
                <a:ea typeface="Trebuchet MS"/>
                <a:cs typeface="Trebuchet MS"/>
              </a:rPr>
              <a:t>Validation result per file</a:t>
            </a:r>
            <a:endParaRPr sz="1100"/>
          </a:p>
        </p:txBody>
      </p:sp>
      <p:sp>
        <p:nvSpPr>
          <p:cNvPr id="42" name="Shape 37">
            <a:extLst xmlns:a="http://schemas.openxmlformats.org/drawingml/2006/main">
              <a:ext uri="{FF2B5EF4-FFF2-40B4-BE49-F238E27FC236}">
                <a16:creationId xmlns:a16="http://schemas.microsoft.com/office/drawing/2014/main" id="{834A6B4C-9EC3-41B6-8CA7-93264FCF95AB}"/>
              </a:ext>
            </a:extLst>
          </p:cNvPr>
          <p:cNvSpPr>
            <a:spLocks xmlns:a="http://schemas.openxmlformats.org/drawingml/2006/main" noGrp="1"/>
          </p:cNvSpPr>
          <p:nvPr/>
        </p:nvSpPr>
        <p:spPr>
          <a:xfrm xmlns:a="http://schemas.openxmlformats.org/drawingml/2006/main">
            <a:off x="5181004" y="3229420"/>
            <a:ext cx="2812527" cy="342265"/>
          </a:xfrm>
          <a:prstGeom xmlns:a="http://schemas.openxmlformats.org/drawingml/2006/main" prst="rect">
            <a:avLst/>
          </a:prstGeom>
          <a:solidFill xmlns:a="http://schemas.openxmlformats.org/drawingml/2006/main">
            <a:srgbClr val="1E2A3B"/>
          </a:solidFill>
          <a:ln xmlns:a="http://schemas.openxmlformats.org/drawingml/2006/main" w="10160">
            <a:solidFill>
              <a:srgbClr val="243348"/>
            </a:solidFill>
            <a:prstDash val="solid"/>
          </a:ln>
        </p:spPr>
      </p:sp>
      <p:pic>
        <p:nvPicPr>
          <p:cNvPr id="117" name="Image 3"/>
          <p:cNvPicPr>
            <a:picLocks xmlns:a="http://schemas.openxmlformats.org/drawingml/2006/main" noChangeAspect="1"/>
          </p:cNvPicPr>
          <p:nvPr/>
        </p:nvPicPr>
        <p:blipFill>
          <a:blip xmlns:r="http://schemas.openxmlformats.org/officeDocument/2006/relationships" xmlns:a="http://schemas.openxmlformats.org/drawingml/2006/main" r:embed="Rc4158e93cca44636"/>
          <a:stretch xmlns:a="http://schemas.openxmlformats.org/drawingml/2006/main">
            <a:fillRect l="0" t="0" r="0" b="0"/>
          </a:stretch>
        </p:blipFill>
        <p:spPr>
          <a:xfrm xmlns:a="http://schemas.openxmlformats.org/drawingml/2006/main">
            <a:off x="5314934" y="3274063"/>
            <a:ext cx="238097" cy="238097"/>
          </a:xfrm>
          <a:prstGeom xmlns:a="http://schemas.openxmlformats.org/drawingml/2006/main" prst="rect">
            <a:avLst/>
          </a:prstGeom>
        </p:spPr>
      </p:pic>
      <p:sp>
        <p:nvSpPr>
          <p:cNvPr id="44" name="Text 38">
            <a:extLst xmlns:a="http://schemas.openxmlformats.org/drawingml/2006/main">
              <a:ext uri="{FF2B5EF4-FFF2-40B4-BE49-F238E27FC236}">
                <a16:creationId xmlns:a16="http://schemas.microsoft.com/office/drawing/2014/main" id="{0ABDB303-44B1-4AF6-9C1A-47C3B7F41526}"/>
              </a:ext>
            </a:extLst>
          </p:cNvPr>
          <p:cNvSpPr>
            <a:spLocks xmlns:a="http://schemas.openxmlformats.org/drawingml/2006/main" noGrp="1"/>
          </p:cNvSpPr>
          <p:nvPr/>
        </p:nvSpPr>
        <p:spPr>
          <a:xfrm xmlns:a="http://schemas.openxmlformats.org/drawingml/2006/main">
            <a:off x="5627437" y="3229420"/>
            <a:ext cx="2306569" cy="3422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F1F5F9"/>
                </a:solidFill>
                <a:latin typeface="Trebuchet MS"/>
                <a:ea typeface="Trebuchet MS"/>
                <a:cs typeface="Trebuchet MS"/>
              </a:rPr>
              <a:t>Every filter applied</a:t>
            </a:r>
            <a:endParaRPr sz="1100"/>
          </a:p>
        </p:txBody>
      </p:sp>
      <p:sp>
        <p:nvSpPr>
          <p:cNvPr id="45" name="Shape 39">
            <a:extLst xmlns:a="http://schemas.openxmlformats.org/drawingml/2006/main">
              <a:ext uri="{FF2B5EF4-FFF2-40B4-BE49-F238E27FC236}">
                <a16:creationId xmlns:a16="http://schemas.microsoft.com/office/drawing/2014/main" id="{69D199E6-9FB6-4007-B7EE-3874CEBD8752}"/>
              </a:ext>
            </a:extLst>
          </p:cNvPr>
          <p:cNvSpPr>
            <a:spLocks xmlns:a="http://schemas.openxmlformats.org/drawingml/2006/main" noGrp="1"/>
          </p:cNvSpPr>
          <p:nvPr/>
        </p:nvSpPr>
        <p:spPr>
          <a:xfrm xmlns:a="http://schemas.openxmlformats.org/drawingml/2006/main">
            <a:off x="5181004" y="3638650"/>
            <a:ext cx="2812527" cy="342265"/>
          </a:xfrm>
          <a:prstGeom xmlns:a="http://schemas.openxmlformats.org/drawingml/2006/main" prst="rect">
            <a:avLst/>
          </a:prstGeom>
          <a:solidFill xmlns:a="http://schemas.openxmlformats.org/drawingml/2006/main">
            <a:srgbClr val="1E2A3B"/>
          </a:solidFill>
          <a:ln xmlns:a="http://schemas.openxmlformats.org/drawingml/2006/main" w="10160">
            <a:solidFill>
              <a:srgbClr val="243348"/>
            </a:solidFill>
            <a:prstDash val="solid"/>
          </a:ln>
        </p:spPr>
      </p:sp>
      <p:pic>
        <p:nvPicPr>
          <p:cNvPr id="120" name="Image 4"/>
          <p:cNvPicPr>
            <a:picLocks xmlns:a="http://schemas.openxmlformats.org/drawingml/2006/main" noChangeAspect="1"/>
          </p:cNvPicPr>
          <p:nvPr/>
        </p:nvPicPr>
        <p:blipFill>
          <a:blip xmlns:r="http://schemas.openxmlformats.org/officeDocument/2006/relationships" xmlns:a="http://schemas.openxmlformats.org/drawingml/2006/main" r:embed="Re20cdf4485414260"/>
          <a:stretch xmlns:a="http://schemas.openxmlformats.org/drawingml/2006/main">
            <a:fillRect l="0" t="0" r="0" b="0"/>
          </a:stretch>
        </p:blipFill>
        <p:spPr>
          <a:xfrm xmlns:a="http://schemas.openxmlformats.org/drawingml/2006/main">
            <a:off x="5314934" y="3683293"/>
            <a:ext cx="238097" cy="238097"/>
          </a:xfrm>
          <a:prstGeom xmlns:a="http://schemas.openxmlformats.org/drawingml/2006/main" prst="rect">
            <a:avLst/>
          </a:prstGeom>
        </p:spPr>
      </p:pic>
      <p:sp>
        <p:nvSpPr>
          <p:cNvPr id="47" name="Text 40">
            <a:extLst xmlns:a="http://schemas.openxmlformats.org/drawingml/2006/main">
              <a:ext uri="{FF2B5EF4-FFF2-40B4-BE49-F238E27FC236}">
                <a16:creationId xmlns:a16="http://schemas.microsoft.com/office/drawing/2014/main" id="{2DDA5670-7D43-4348-9EFB-2CC45350484D}"/>
              </a:ext>
            </a:extLst>
          </p:cNvPr>
          <p:cNvSpPr>
            <a:spLocks xmlns:a="http://schemas.openxmlformats.org/drawingml/2006/main" noGrp="1"/>
          </p:cNvSpPr>
          <p:nvPr/>
        </p:nvSpPr>
        <p:spPr>
          <a:xfrm xmlns:a="http://schemas.openxmlformats.org/drawingml/2006/main">
            <a:off x="5627437" y="3638650"/>
            <a:ext cx="2306569" cy="3422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F1F5F9"/>
                </a:solidFill>
                <a:latin typeface="Trebuchet MS"/>
                <a:ea typeface="Trebuchet MS"/>
                <a:cs typeface="Trebuchet MS"/>
              </a:rPr>
              <a:t>Row count &amp; output size</a:t>
            </a:r>
            <a:endParaRPr sz="1100"/>
          </a:p>
        </p:txBody>
      </p:sp>
      <p:sp>
        <p:nvSpPr>
          <p:cNvPr id="48" name="Shape 41">
            <a:extLst xmlns:a="http://schemas.openxmlformats.org/drawingml/2006/main">
              <a:ext uri="{FF2B5EF4-FFF2-40B4-BE49-F238E27FC236}">
                <a16:creationId xmlns:a16="http://schemas.microsoft.com/office/drawing/2014/main" id="{375C21F6-EB33-452D-AABD-938D254C12A4}"/>
              </a:ext>
            </a:extLst>
          </p:cNvPr>
          <p:cNvSpPr>
            <a:spLocks xmlns:a="http://schemas.openxmlformats.org/drawingml/2006/main" noGrp="1"/>
          </p:cNvSpPr>
          <p:nvPr/>
        </p:nvSpPr>
        <p:spPr>
          <a:xfrm xmlns:a="http://schemas.openxmlformats.org/drawingml/2006/main">
            <a:off x="5181004" y="4047880"/>
            <a:ext cx="2812527" cy="342265"/>
          </a:xfrm>
          <a:prstGeom xmlns:a="http://schemas.openxmlformats.org/drawingml/2006/main" prst="rect">
            <a:avLst/>
          </a:prstGeom>
          <a:solidFill xmlns:a="http://schemas.openxmlformats.org/drawingml/2006/main">
            <a:srgbClr val="1E2A3B"/>
          </a:solidFill>
          <a:ln xmlns:a="http://schemas.openxmlformats.org/drawingml/2006/main" w="10160">
            <a:solidFill>
              <a:srgbClr val="243348"/>
            </a:solidFill>
            <a:prstDash val="solid"/>
          </a:ln>
        </p:spPr>
      </p:sp>
      <p:pic>
        <p:nvPicPr>
          <p:cNvPr id="123" name="Image 5"/>
          <p:cNvPicPr>
            <a:picLocks xmlns:a="http://schemas.openxmlformats.org/drawingml/2006/main" noChangeAspect="1"/>
          </p:cNvPicPr>
          <p:nvPr/>
        </p:nvPicPr>
        <p:blipFill>
          <a:blip xmlns:r="http://schemas.openxmlformats.org/officeDocument/2006/relationships" xmlns:a="http://schemas.openxmlformats.org/drawingml/2006/main" r:embed="R6c3228d1094644da"/>
          <a:stretch xmlns:a="http://schemas.openxmlformats.org/drawingml/2006/main">
            <a:fillRect l="0" t="0" r="0" b="0"/>
          </a:stretch>
        </p:blipFill>
        <p:spPr>
          <a:xfrm xmlns:a="http://schemas.openxmlformats.org/drawingml/2006/main">
            <a:off x="5314934" y="4092523"/>
            <a:ext cx="238097" cy="238097"/>
          </a:xfrm>
          <a:prstGeom xmlns:a="http://schemas.openxmlformats.org/drawingml/2006/main" prst="rect">
            <a:avLst/>
          </a:prstGeom>
        </p:spPr>
      </p:pic>
      <p:sp>
        <p:nvSpPr>
          <p:cNvPr id="50" name="Text 42">
            <a:extLst xmlns:a="http://schemas.openxmlformats.org/drawingml/2006/main">
              <a:ext uri="{FF2B5EF4-FFF2-40B4-BE49-F238E27FC236}">
                <a16:creationId xmlns:a16="http://schemas.microsoft.com/office/drawing/2014/main" id="{F1EBD45F-5179-40A3-8CDA-08A85AC4F6B2}"/>
              </a:ext>
            </a:extLst>
          </p:cNvPr>
          <p:cNvSpPr>
            <a:spLocks xmlns:a="http://schemas.openxmlformats.org/drawingml/2006/main" noGrp="1"/>
          </p:cNvSpPr>
          <p:nvPr/>
        </p:nvSpPr>
        <p:spPr>
          <a:xfrm xmlns:a="http://schemas.openxmlformats.org/drawingml/2006/main">
            <a:off x="5627437" y="4047880"/>
            <a:ext cx="2306569" cy="34226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F1F5F9"/>
                </a:solidFill>
                <a:latin typeface="Trebuchet MS"/>
                <a:ea typeface="Trebuchet MS"/>
                <a:cs typeface="Trebuchet MS"/>
              </a:rPr>
              <a:t>Output path recorded</a:t>
            </a:r>
            <a:endParaRPr sz="1100"/>
          </a:p>
        </p:txBody>
      </p:sp>
      <p:sp>
        <p:nvSpPr>
          <p:cNvPr id="51" name="Shape 43">
            <a:extLst xmlns:a="http://schemas.openxmlformats.org/drawingml/2006/main">
              <a:ext uri="{FF2B5EF4-FFF2-40B4-BE49-F238E27FC236}">
                <a16:creationId xmlns:a16="http://schemas.microsoft.com/office/drawing/2014/main" id="{350413B3-D7BC-46B9-B5B1-D9003AACDB61}"/>
              </a:ext>
            </a:extLst>
          </p:cNvPr>
          <p:cNvSpPr>
            <a:spLocks xmlns:a="http://schemas.openxmlformats.org/drawingml/2006/main" noGrp="1"/>
          </p:cNvSpPr>
          <p:nvPr/>
        </p:nvSpPr>
        <p:spPr>
          <a:xfrm xmlns:a="http://schemas.openxmlformats.org/drawingml/2006/main">
            <a:off x="5181004" y="4460603"/>
            <a:ext cx="2812527" cy="292608"/>
          </a:xfrm>
          <a:prstGeom xmlns:a="http://schemas.openxmlformats.org/drawingml/2006/main" prst="rect">
            <a:avLst/>
          </a:prstGeom>
          <a:solidFill xmlns:a="http://schemas.openxmlformats.org/drawingml/2006/main">
            <a:srgbClr val="162032"/>
          </a:solidFill>
          <a:ln xmlns:a="http://schemas.openxmlformats.org/drawingml/2006/main" w="12700">
            <a:solidFill>
              <a:srgbClr val="10B981"/>
            </a:solidFill>
            <a:prstDash val="solid"/>
          </a:ln>
        </p:spPr>
      </p:sp>
      <p:sp>
        <p:nvSpPr>
          <p:cNvPr id="52" name="Text 44">
            <a:extLst xmlns:a="http://schemas.openxmlformats.org/drawingml/2006/main">
              <a:ext uri="{FF2B5EF4-FFF2-40B4-BE49-F238E27FC236}">
                <a16:creationId xmlns:a16="http://schemas.microsoft.com/office/drawing/2014/main" id="{9225AD10-7C5A-4BB6-8A1F-29D8E9327D5D}"/>
              </a:ext>
            </a:extLst>
          </p:cNvPr>
          <p:cNvSpPr>
            <a:spLocks xmlns:a="http://schemas.openxmlformats.org/drawingml/2006/main" noGrp="1"/>
          </p:cNvSpPr>
          <p:nvPr/>
        </p:nvSpPr>
        <p:spPr>
          <a:xfrm xmlns:a="http://schemas.openxmlformats.org/drawingml/2006/main">
            <a:off x="5181004" y="4460603"/>
            <a:ext cx="2812527"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0B981"/>
                </a:solidFill>
                <a:latin typeface="Trebuchet MS"/>
                <a:ea typeface="Trebuchet MS"/>
                <a:cs typeface="Trebuchet MS"/>
              </a:rPr>
              <a:t>Placed automatically beside every export file</a:t>
            </a:r>
            <a:endParaRPr sz="1000"/>
          </a:p>
        </p:txBody>
      </p:sp>
      <p:sp>
        <p:nvSpPr>
          <p:cNvPr id="61" name="Text 23">
            <a:extLst xmlns:a="http://schemas.openxmlformats.org/drawingml/2006/main">
              <a:ext uri="{FF2B5EF4-FFF2-40B4-BE49-F238E27FC236}">
                <a16:creationId xmlns:a16="http://schemas.microsoft.com/office/drawing/2014/main" id="{597226C5-4351-EFB3-18CF-8A2663230B1E}"/>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62" name="Text 0">
            <a:extLst xmlns:a="http://schemas.openxmlformats.org/drawingml/2006/main">
              <a:ext uri="{FF2B5EF4-FFF2-40B4-BE49-F238E27FC236}">
                <a16:creationId xmlns:a16="http://schemas.microsoft.com/office/drawing/2014/main" id="{E3D05AC1-03EC-E764-4EBB-A41BCDFBD316}"/>
              </a:ext>
            </a:extLst>
          </p:cNvPr>
          <p:cNvSpPr>
            <a:spLocks xmlns:a="http://schemas.openxmlformats.org/drawingml/2006/main" noGrp="1"/>
          </p:cNvSpPr>
          <p:nvPr/>
        </p:nvSpPr>
        <p:spPr>
          <a:xfrm xmlns:a="http://schemas.openxmlformats.org/drawingml/2006/main">
            <a:off x="457200" y="822449"/>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600">
                <a:solidFill>
                  <a:srgbClr val="FFFFFF"/>
                </a:solidFill>
                <a:latin typeface="Montserrat"/>
                <a:ea typeface="Montserrat"/>
                <a:cs typeface="Montserrat"/>
              </a:rPr>
              <a:t>Export Evidence Built In</a:t>
            </a:r>
          </a:p>
        </p:txBody>
      </p:sp>
      <p:sp>
        <p:nvSpPr>
          <p:cNvPr id="63" name="Text 1">
            <a:extLst xmlns:a="http://schemas.openxmlformats.org/drawingml/2006/main">
              <a:ext uri="{FF2B5EF4-FFF2-40B4-BE49-F238E27FC236}">
                <a16:creationId xmlns:a16="http://schemas.microsoft.com/office/drawing/2014/main" id="{3410F19C-C998-D6AD-1915-7B7F6F510FA5}"/>
              </a:ext>
            </a:extLst>
          </p:cNvPr>
          <p:cNvSpPr>
            <a:spLocks xmlns:a="http://schemas.openxmlformats.org/drawingml/2006/main" noGrp="1"/>
          </p:cNvSpPr>
          <p:nvPr/>
        </p:nvSpPr>
        <p:spPr>
          <a:xfrm xmlns:a="http://schemas.openxmlformats.org/drawingml/2006/main">
            <a:off x="457200" y="1297280"/>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Montserrat"/>
                <a:ea typeface="Montserrat"/>
                <a:cs typeface="Montserrat"/>
              </a:rPr>
              <a:t>Every successful export creates a human-readable audit report beside the output.</a:t>
            </a:r>
          </a:p>
        </p:txBody>
      </p:sp>
      <p:sp>
        <p:nvSpPr>
          <p:cNvPr id="65" name="Shape 21">
            <a:extLst xmlns:a="http://schemas.openxmlformats.org/drawingml/2006/main">
              <a:ext uri="{FF2B5EF4-FFF2-40B4-BE49-F238E27FC236}">
                <a16:creationId xmlns:a16="http://schemas.microsoft.com/office/drawing/2014/main" id="{1C059C48-C1B8-3C97-296D-453071E92C4A}"/>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10B981"/>
            </a:solidFill>
            <a:prstDash val="dash"/>
          </a:ln>
        </p:spPr>
      </p:sp>
      <p:sp>
        <p:nvSpPr>
          <p:cNvPr id="66" name="Text 22">
            <a:extLst xmlns:a="http://schemas.openxmlformats.org/drawingml/2006/main">
              <a:ext uri="{FF2B5EF4-FFF2-40B4-BE49-F238E27FC236}">
                <a16:creationId xmlns:a16="http://schemas.microsoft.com/office/drawing/2014/main" id="{38FA0D78-891F-5746-266B-F4A7DF75F5F8}"/>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algn="ctr">
              <a:buNone/>
            </a:pPr>
            <a:r>
              <a:rPr sz="850" b="1" spc="150">
                <a:solidFill>
                  <a:srgbClr val="10B981"/>
                </a:solidFill>
                <a:latin typeface="Trebuchet MS"/>
                <a:ea typeface="Trebuchet MS"/>
                <a:cs typeface="Trebuchet MS"/>
              </a:rPr>
              <a:t>FEATURE</a:t>
            </a:r>
            <a:r>
              <a:rPr sz="1000">
                <a:solidFill>
                  <a:srgbClr val="10B981"/>
                </a:solidFill>
                <a:latin typeface="Trebuchet MS"/>
                <a:ea typeface="Trebuchet MS"/>
                <a:cs typeface="Trebuchet MS"/>
              </a:rPr>
              <a:t> · </a:t>
            </a:r>
            <a:r>
              <a:rPr sz="850" b="1" spc="150">
                <a:solidFill>
                  <a:srgbClr val="10B981"/>
                </a:solidFill>
                <a:latin typeface="Trebuchet MS"/>
                <a:ea typeface="Trebuchet MS"/>
                <a:cs typeface="Trebuchet MS"/>
              </a:rPr>
              <a:t>AUDIT</a:t>
            </a:r>
            <a:endParaRPr sz="850">
              <a:solidFill>
                <a:srgbClr val="10B981"/>
              </a:solidFill>
            </a:endParaRPr>
          </a:p>
        </p:txBody>
      </p:sp>
      <p:sp>
        <p:nvSpPr>
          <p:cNvPr id="69" name="Oval 68">
            <a:extLst xmlns:a="http://schemas.openxmlformats.org/drawingml/2006/main">
              <a:ext uri="{FF2B5EF4-FFF2-40B4-BE49-F238E27FC236}">
                <a16:creationId xmlns:a16="http://schemas.microsoft.com/office/drawing/2014/main" id="{6F0D3A09-3211-810E-B4F6-06C920B6D878}"/>
              </a:ext>
            </a:extLst>
          </p:cNvPr>
          <p:cNvSpPr>
            <a:spLocks xmlns:a="http://schemas.openxmlformats.org/drawingml/2006/main" noGrp="1"/>
          </p:cNvSpPr>
          <p:nvPr/>
        </p:nvSpPr>
        <p:spPr>
          <a:xfrm xmlns:a="http://schemas.openxmlformats.org/drawingml/2006/main">
            <a:off x="586820" y="1857156"/>
            <a:ext cx="83671" cy="83671"/>
          </a:xfrm>
          <a:prstGeom xmlns:a="http://schemas.openxmlformats.org/drawingml/2006/main" prst="ellipse">
            <a:avLst/>
          </a:prstGeom>
          <a:solidFill xmlns:a="http://schemas.openxmlformats.org/drawingml/2006/main">
            <a:srgbClr val="D2534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Oval 69">
            <a:extLst xmlns:a="http://schemas.openxmlformats.org/drawingml/2006/main">
              <a:ext uri="{FF2B5EF4-FFF2-40B4-BE49-F238E27FC236}">
                <a16:creationId xmlns:a16="http://schemas.microsoft.com/office/drawing/2014/main" id="{124E1D7A-3BDD-061E-18C9-63E604050A7C}"/>
              </a:ext>
            </a:extLst>
          </p:cNvPr>
          <p:cNvSpPr>
            <a:spLocks xmlns:a="http://schemas.openxmlformats.org/drawingml/2006/main" noGrp="1"/>
          </p:cNvSpPr>
          <p:nvPr/>
        </p:nvSpPr>
        <p:spPr>
          <a:xfrm xmlns:a="http://schemas.openxmlformats.org/drawingml/2006/main">
            <a:off x="719797" y="1856119"/>
            <a:ext cx="83671" cy="83671"/>
          </a:xfrm>
          <a:prstGeom xmlns:a="http://schemas.openxmlformats.org/drawingml/2006/main" prst="ellipse">
            <a:avLst/>
          </a:prstGeom>
          <a:solidFill xmlns:a="http://schemas.openxmlformats.org/drawingml/2006/main">
            <a:srgbClr val="E0A03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Oval 70">
            <a:extLst xmlns:a="http://schemas.openxmlformats.org/drawingml/2006/main">
              <a:ext uri="{FF2B5EF4-FFF2-40B4-BE49-F238E27FC236}">
                <a16:creationId xmlns:a16="http://schemas.microsoft.com/office/drawing/2014/main" id="{83ECCF0F-5B11-5C53-7966-E967448CBBE6}"/>
              </a:ext>
            </a:extLst>
          </p:cNvPr>
          <p:cNvSpPr>
            <a:spLocks xmlns:a="http://schemas.openxmlformats.org/drawingml/2006/main" noGrp="1"/>
          </p:cNvSpPr>
          <p:nvPr/>
        </p:nvSpPr>
        <p:spPr>
          <a:xfrm xmlns:a="http://schemas.openxmlformats.org/drawingml/2006/main">
            <a:off x="852774" y="1854168"/>
            <a:ext cx="83671" cy="83671"/>
          </a:xfrm>
          <a:prstGeom xmlns:a="http://schemas.openxmlformats.org/drawingml/2006/main" prst="ellipse">
            <a:avLst/>
          </a:prstGeom>
          <a:solidFill xmlns:a="http://schemas.openxmlformats.org/drawingml/2006/main">
            <a:srgbClr val="64B78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5" name="Picture 134"/>
          <p:cNvPicPr>
            <a:picLocks xmlns:a="http://schemas.openxmlformats.org/drawingml/2006/main" noChangeAspect="1"/>
          </p:cNvPicPr>
          <p:nvPr/>
        </p:nvPicPr>
        <p:blipFill>
          <a:blip xmlns:r="http://schemas.openxmlformats.org/officeDocument/2006/relationships" xmlns:a="http://schemas.openxmlformats.org/drawingml/2006/main" r:embed="R1c7411f5ad8e48d5"/>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546055404"/>
      </p:ext>
    </p:extLst>
  </p:cSld>
</p:sld>
</file>

<file path=ppt/slides/slide11.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8AF8FDA-5654-4FBC-A676-3229E43065E0}"/>
              </a:ext>
            </a:extLst>
          </p:cNvPr>
          <p:cNvSpPr>
            <a:spLocks xmlns:a="http://schemas.openxmlformats.org/drawingml/2006/main" noGrp="1"/>
          </p:cNvSpPr>
          <p:nvPr/>
        </p:nvSpPr>
        <p:spPr>
          <a:xfrm xmlns:a="http://schemas.openxmlformats.org/drawingml/2006/main">
            <a:off x="484632" y="910332"/>
            <a:ext cx="822960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800" b="1">
                <a:solidFill>
                  <a:srgbClr val="FFFFFF"/>
                </a:solidFill>
                <a:latin typeface="Montserrat"/>
                <a:ea typeface="Montserrat"/>
                <a:cs typeface="Montserrat"/>
              </a:rPr>
              <a:t>Local by Design</a:t>
            </a:r>
            <a:endParaRPr sz="3800">
              <a:latin typeface="Montserrat"/>
              <a:ea typeface="Montserrat"/>
              <a:cs typeface="Montserrat"/>
            </a:endParaRPr>
          </a:p>
        </p:txBody>
      </p:sp>
      <p:sp>
        <p:nvSpPr>
          <p:cNvPr id="5" name="Text 3">
            <a:extLst xmlns:a="http://schemas.openxmlformats.org/drawingml/2006/main">
              <a:ext uri="{FF2B5EF4-FFF2-40B4-BE49-F238E27FC236}">
                <a16:creationId xmlns:a16="http://schemas.microsoft.com/office/drawing/2014/main" id="{4605AB5A-5688-42C7-ADFA-D59CA2077D35}"/>
              </a:ext>
            </a:extLst>
          </p:cNvPr>
          <p:cNvSpPr>
            <a:spLocks xmlns:a="http://schemas.openxmlformats.org/drawingml/2006/main" noGrp="1"/>
          </p:cNvSpPr>
          <p:nvPr/>
        </p:nvSpPr>
        <p:spPr>
          <a:xfrm xmlns:a="http://schemas.openxmlformats.org/drawingml/2006/main">
            <a:off x="457200" y="1410443"/>
            <a:ext cx="82296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a:solidFill>
                  <a:srgbClr val="94A3B8"/>
                </a:solidFill>
                <a:latin typeface="Montserrat"/>
                <a:ea typeface="Montserrat"/>
                <a:cs typeface="Montserrat"/>
              </a:rPr>
              <a:t>The application processes selected files without a built-in cloud service.</a:t>
            </a:r>
            <a:endParaRPr sz="1400">
              <a:latin typeface="Montserrat"/>
              <a:ea typeface="Montserrat"/>
              <a:cs typeface="Montserrat"/>
            </a:endParaRPr>
          </a:p>
        </p:txBody>
      </p:sp>
      <p:pic>
        <p:nvPicPr>
          <p:cNvPr id="77" name="Image 0"/>
          <p:cNvPicPr>
            <a:picLocks xmlns:a="http://schemas.openxmlformats.org/drawingml/2006/main" noChangeAspect="1"/>
          </p:cNvPicPr>
          <p:nvPr/>
        </p:nvPicPr>
        <p:blipFill>
          <a:blip xmlns:r="http://schemas.openxmlformats.org/officeDocument/2006/relationships" xmlns:a="http://schemas.openxmlformats.org/drawingml/2006/main" r:embed="Rafea668776fb4db4"/>
          <a:stretch xmlns:a="http://schemas.openxmlformats.org/drawingml/2006/main">
            <a:fillRect l="0" t="0" r="0" b="0"/>
          </a:stretch>
        </p:blipFill>
        <p:spPr>
          <a:xfrm xmlns:a="http://schemas.openxmlformats.org/drawingml/2006/main">
            <a:off x="3931920" y="2169698"/>
            <a:ext cx="1280160" cy="128016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BB243BA2-151E-4916-9083-5CA93361F5C2}"/>
              </a:ext>
            </a:extLst>
          </p:cNvPr>
          <p:cNvSpPr>
            <a:spLocks xmlns:a="http://schemas.openxmlformats.org/drawingml/2006/main" noGrp="1"/>
          </p:cNvSpPr>
          <p:nvPr/>
        </p:nvSpPr>
        <p:spPr>
          <a:xfrm xmlns:a="http://schemas.openxmlformats.org/drawingml/2006/main">
            <a:off x="365760" y="1874520"/>
            <a:ext cx="3154680" cy="752139"/>
          </a:xfrm>
          <a:prstGeom xmlns:a="http://schemas.openxmlformats.org/drawingml/2006/main" prst="roundRect">
            <a:avLst>
              <a:gd name="adj" fmla="val 11065"/>
            </a:avLst>
          </a:prstGeom>
          <a:solidFill xmlns:a="http://schemas.openxmlformats.org/drawingml/2006/main">
            <a:srgbClr val="1E2A3B"/>
          </a:solidFill>
          <a:ln xmlns:a="http://schemas.openxmlformats.org/drawingml/2006/main" w="6350">
            <a:solidFill>
              <a:schemeClr val="bg2">
                <a:lumMod val="25000"/>
              </a:schemeClr>
            </a:solidFill>
            <a:prstDash val="solid"/>
          </a:ln>
          <a:effectLst xmlns:a="http://schemas.openxmlformats.org/drawingml/2006/main">
            <a:outerShdw blurRad="127000" dist="38100" dir="8100000" algn="bl" rotWithShape="0">
              <a:srgbClr val="000000">
                <a:alpha val="30000"/>
              </a:srgbClr>
            </a:outerShdw>
          </a:effectLst>
        </p:spPr>
      </p:sp>
      <p:sp>
        <p:nvSpPr>
          <p:cNvPr id="8" name="Shape 5">
            <a:extLst xmlns:a="http://schemas.openxmlformats.org/drawingml/2006/main">
              <a:ext uri="{FF2B5EF4-FFF2-40B4-BE49-F238E27FC236}">
                <a16:creationId xmlns:a16="http://schemas.microsoft.com/office/drawing/2014/main" id="{21AB58BD-506E-4212-B48F-E0425C41AD3B}"/>
              </a:ext>
            </a:extLst>
          </p:cNvPr>
          <p:cNvSpPr>
            <a:spLocks xmlns:a="http://schemas.openxmlformats.org/drawingml/2006/main" noGrp="1"/>
          </p:cNvSpPr>
          <p:nvPr/>
        </p:nvSpPr>
        <p:spPr>
          <a:xfrm xmlns:a="http://schemas.openxmlformats.org/drawingml/2006/main">
            <a:off x="512064" y="2031133"/>
            <a:ext cx="438912" cy="438912"/>
          </a:xfrm>
          <a:prstGeom xmlns:a="http://schemas.openxmlformats.org/drawingml/2006/main" prst="ellipse">
            <a:avLst/>
          </a:prstGeom>
          <a:solidFill xmlns:a="http://schemas.openxmlformats.org/drawingml/2006/main">
            <a:srgbClr val="0D2E1A"/>
          </a:solidFill>
          <a:ln xmlns:a="http://schemas.openxmlformats.org/drawingml/2006/main" w="12700">
            <a:solidFill>
              <a:srgbClr val="10B981"/>
            </a:solidFill>
            <a:prstDash val="solid"/>
          </a:ln>
        </p:spPr>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afea668776fb4db4"/>
          <a:stretch xmlns:a="http://schemas.openxmlformats.org/drawingml/2006/main">
            <a:fillRect l="0" t="0" r="0" b="0"/>
          </a:stretch>
        </p:blipFill>
        <p:spPr>
          <a:xfrm xmlns:a="http://schemas.openxmlformats.org/drawingml/2006/main">
            <a:off x="566928" y="2085997"/>
            <a:ext cx="329184" cy="329184"/>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9C7E445B-0DDB-490F-8FEE-F4B845BF77F0}"/>
              </a:ext>
            </a:extLst>
          </p:cNvPr>
          <p:cNvSpPr>
            <a:spLocks xmlns:a="http://schemas.openxmlformats.org/drawingml/2006/main" noGrp="1"/>
          </p:cNvSpPr>
          <p:nvPr/>
        </p:nvSpPr>
        <p:spPr>
          <a:xfrm xmlns:a="http://schemas.openxmlformats.org/drawingml/2006/main">
            <a:off x="1097280" y="1991688"/>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B981"/>
                </a:solidFill>
                <a:latin typeface="Montserrat"/>
                <a:ea typeface="Montserrat"/>
                <a:cs typeface="Montserrat"/>
              </a:rPr>
              <a:t>✓ No built-in cloud upload</a:t>
            </a:r>
            <a:endParaRPr sz="1400">
              <a:latin typeface="Montserrat"/>
              <a:ea typeface="Montserrat"/>
              <a:cs typeface="Montserrat"/>
            </a:endParaRPr>
          </a:p>
        </p:txBody>
      </p:sp>
      <p:sp>
        <p:nvSpPr>
          <p:cNvPr id="11" name="Text 7">
            <a:extLst xmlns:a="http://schemas.openxmlformats.org/drawingml/2006/main">
              <a:ext uri="{FF2B5EF4-FFF2-40B4-BE49-F238E27FC236}">
                <a16:creationId xmlns:a16="http://schemas.microsoft.com/office/drawing/2014/main" id="{4E0A3D28-7992-4957-826C-E9C4372BEC17}"/>
              </a:ext>
            </a:extLst>
          </p:cNvPr>
          <p:cNvSpPr>
            <a:spLocks xmlns:a="http://schemas.openxmlformats.org/drawingml/2006/main" noGrp="1"/>
          </p:cNvSpPr>
          <p:nvPr/>
        </p:nvSpPr>
        <p:spPr>
          <a:xfrm xmlns:a="http://schemas.openxmlformats.org/drawingml/2006/main">
            <a:off x="1069848" y="2302615"/>
            <a:ext cx="2331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bg1"/>
                </a:solidFill>
                <a:latin typeface="Trebuchet MS"/>
                <a:ea typeface="Trebuchet MS"/>
                <a:cs typeface="Trebuchet MS"/>
              </a:rPr>
              <a:t>Files are processed by the desktop application</a:t>
            </a:r>
            <a:endParaRPr sz="1000">
              <a:solidFill>
                <a:schemeClr val="bg1"/>
              </a:solidFill>
            </a:endParaRPr>
          </a:p>
        </p:txBody>
      </p:sp>
      <p:sp>
        <p:nvSpPr>
          <p:cNvPr id="27" name="Shape 20">
            <a:extLst xmlns:a="http://schemas.openxmlformats.org/drawingml/2006/main">
              <a:ext uri="{FF2B5EF4-FFF2-40B4-BE49-F238E27FC236}">
                <a16:creationId xmlns:a16="http://schemas.microsoft.com/office/drawing/2014/main" id="{F5D83AC4-968F-4102-AD82-336371921E91}"/>
              </a:ext>
            </a:extLst>
          </p:cNvPr>
          <p:cNvSpPr>
            <a:spLocks xmlns:a="http://schemas.openxmlformats.org/drawingml/2006/main" noGrp="1"/>
          </p:cNvSpPr>
          <p:nvPr/>
        </p:nvSpPr>
        <p:spPr>
          <a:xfrm xmlns:a="http://schemas.openxmlformats.org/drawingml/2006/main">
            <a:off x="365760" y="3990768"/>
            <a:ext cx="8412480" cy="685800"/>
          </a:xfrm>
          <a:prstGeom xmlns:a="http://schemas.openxmlformats.org/drawingml/2006/main" prst="roundRect">
            <a:avLst>
              <a:gd name="adj" fmla="val 12310"/>
            </a:avLst>
          </a:prstGeom>
          <a:solidFill xmlns:a="http://schemas.openxmlformats.org/drawingml/2006/main">
            <a:srgbClr val="1E2A3B"/>
          </a:solidFill>
          <a:ln xmlns:a="http://schemas.openxmlformats.org/drawingml/2006/main" w="12700">
            <a:solidFill>
              <a:srgbClr val="243348"/>
            </a:solidFill>
            <a:prstDash val="solid"/>
          </a:ln>
        </p:spPr>
      </p:sp>
      <p:sp>
        <p:nvSpPr>
          <p:cNvPr id="28" name="Text 21">
            <a:extLst xmlns:a="http://schemas.openxmlformats.org/drawingml/2006/main">
              <a:ext uri="{FF2B5EF4-FFF2-40B4-BE49-F238E27FC236}">
                <a16:creationId xmlns:a16="http://schemas.microsoft.com/office/drawing/2014/main" id="{9DCAB537-DE46-468F-A55D-9DB4856069B4}"/>
              </a:ext>
            </a:extLst>
          </p:cNvPr>
          <p:cNvSpPr>
            <a:spLocks xmlns:a="http://schemas.openxmlformats.org/drawingml/2006/main" noGrp="1"/>
          </p:cNvSpPr>
          <p:nvPr/>
        </p:nvSpPr>
        <p:spPr>
          <a:xfrm xmlns:a="http://schemas.openxmlformats.org/drawingml/2006/main">
            <a:off x="537882" y="4173648"/>
            <a:ext cx="1428078"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94A3B8"/>
                </a:solidFill>
                <a:latin typeface="Montserrat"/>
                <a:ea typeface="Montserrat"/>
                <a:cs typeface="Montserrat"/>
              </a:rPr>
              <a:t>CONTROL SUPPORT</a:t>
            </a:r>
            <a:endParaRPr sz="950">
              <a:latin typeface="Montserrat"/>
              <a:ea typeface="Montserrat"/>
              <a:cs typeface="Montserrat"/>
            </a:endParaRPr>
          </a:p>
        </p:txBody>
      </p:sp>
      <p:sp>
        <p:nvSpPr>
          <p:cNvPr id="29" name="Shape 22">
            <a:extLst xmlns:a="http://schemas.openxmlformats.org/drawingml/2006/main">
              <a:ext uri="{FF2B5EF4-FFF2-40B4-BE49-F238E27FC236}">
                <a16:creationId xmlns:a16="http://schemas.microsoft.com/office/drawing/2014/main" id="{8B54E216-2107-4D4C-8119-456DFAAE9623}"/>
              </a:ext>
            </a:extLst>
          </p:cNvPr>
          <p:cNvSpPr>
            <a:spLocks xmlns:a="http://schemas.openxmlformats.org/drawingml/2006/main" noGrp="1"/>
          </p:cNvSpPr>
          <p:nvPr/>
        </p:nvSpPr>
        <p:spPr>
          <a:xfrm xmlns:a="http://schemas.openxmlformats.org/drawingml/2006/main">
            <a:off x="1983593" y="4159932"/>
            <a:ext cx="987552" cy="347472"/>
          </a:xfrm>
          <a:prstGeom xmlns:a="http://schemas.openxmlformats.org/drawingml/2006/main" prst="roundRect">
            <a:avLst/>
          </a:prstGeom>
          <a:solidFill xmlns:a="http://schemas.openxmlformats.org/drawingml/2006/main">
            <a:srgbClr val="162032"/>
          </a:solidFill>
          <a:ln xmlns:a="http://schemas.openxmlformats.org/drawingml/2006/main" w="10160">
            <a:solidFill>
              <a:srgbClr val="10B981"/>
            </a:solidFill>
            <a:prstDash val="solid"/>
          </a:ln>
        </p:spPr>
      </p:sp>
      <p:sp>
        <p:nvSpPr>
          <p:cNvPr id="30" name="Text 23">
            <a:extLst xmlns:a="http://schemas.openxmlformats.org/drawingml/2006/main">
              <a:ext uri="{FF2B5EF4-FFF2-40B4-BE49-F238E27FC236}">
                <a16:creationId xmlns:a16="http://schemas.microsoft.com/office/drawing/2014/main" id="{A0449E31-3E1D-4AFF-B797-41A0F86FC410}"/>
              </a:ext>
            </a:extLst>
          </p:cNvPr>
          <p:cNvSpPr>
            <a:spLocks xmlns:a="http://schemas.openxmlformats.org/drawingml/2006/main" noGrp="1"/>
          </p:cNvSpPr>
          <p:nvPr/>
        </p:nvSpPr>
        <p:spPr>
          <a:xfrm xmlns:a="http://schemas.openxmlformats.org/drawingml/2006/main">
            <a:off x="1983593" y="4159932"/>
            <a:ext cx="98755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B981"/>
                </a:solidFill>
                <a:latin typeface="Trebuchet MS"/>
                <a:ea typeface="Trebuchet MS"/>
                <a:cs typeface="Trebuchet MS"/>
              </a:rPr>
              <a:t>DATA LOCALITY</a:t>
            </a:r>
            <a:endParaRPr sz="950"/>
          </a:p>
        </p:txBody>
      </p:sp>
      <p:sp>
        <p:nvSpPr>
          <p:cNvPr id="31" name="Shape 24">
            <a:extLst xmlns:a="http://schemas.openxmlformats.org/drawingml/2006/main">
              <a:ext uri="{FF2B5EF4-FFF2-40B4-BE49-F238E27FC236}">
                <a16:creationId xmlns:a16="http://schemas.microsoft.com/office/drawing/2014/main" id="{0A15D9CF-5963-413F-95DC-FD7A0F16207F}"/>
              </a:ext>
            </a:extLst>
          </p:cNvPr>
          <p:cNvSpPr>
            <a:spLocks xmlns:a="http://schemas.openxmlformats.org/drawingml/2006/main" noGrp="1"/>
          </p:cNvSpPr>
          <p:nvPr/>
        </p:nvSpPr>
        <p:spPr>
          <a:xfrm xmlns:a="http://schemas.openxmlformats.org/drawingml/2006/main">
            <a:off x="3099161" y="4159932"/>
            <a:ext cx="987552" cy="347472"/>
          </a:xfrm>
          <a:prstGeom xmlns:a="http://schemas.openxmlformats.org/drawingml/2006/main" prst="roundRect">
            <a:avLst/>
          </a:prstGeom>
          <a:solidFill xmlns:a="http://schemas.openxmlformats.org/drawingml/2006/main">
            <a:srgbClr val="162032"/>
          </a:solidFill>
          <a:ln xmlns:a="http://schemas.openxmlformats.org/drawingml/2006/main" w="10160">
            <a:solidFill>
              <a:srgbClr val="10B981"/>
            </a:solidFill>
            <a:prstDash val="solid"/>
          </a:ln>
        </p:spPr>
      </p:sp>
      <p:sp>
        <p:nvSpPr>
          <p:cNvPr id="32" name="Text 25">
            <a:extLst xmlns:a="http://schemas.openxmlformats.org/drawingml/2006/main">
              <a:ext uri="{FF2B5EF4-FFF2-40B4-BE49-F238E27FC236}">
                <a16:creationId xmlns:a16="http://schemas.microsoft.com/office/drawing/2014/main" id="{56A79D56-61ED-4A76-84D1-CE81D26E233F}"/>
              </a:ext>
            </a:extLst>
          </p:cNvPr>
          <p:cNvSpPr>
            <a:spLocks xmlns:a="http://schemas.openxmlformats.org/drawingml/2006/main" noGrp="1"/>
          </p:cNvSpPr>
          <p:nvPr/>
        </p:nvSpPr>
        <p:spPr>
          <a:xfrm xmlns:a="http://schemas.openxmlformats.org/drawingml/2006/main">
            <a:off x="3099161" y="4159932"/>
            <a:ext cx="98755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B981"/>
                </a:solidFill>
                <a:latin typeface="Trebuchet MS"/>
                <a:ea typeface="Trebuchet MS"/>
                <a:cs typeface="Trebuchet MS"/>
              </a:rPr>
              <a:t>NO VBA</a:t>
            </a:r>
            <a:endParaRPr sz="950"/>
          </a:p>
        </p:txBody>
      </p:sp>
      <p:sp>
        <p:nvSpPr>
          <p:cNvPr id="33" name="Shape 26">
            <a:extLst xmlns:a="http://schemas.openxmlformats.org/drawingml/2006/main">
              <a:ext uri="{FF2B5EF4-FFF2-40B4-BE49-F238E27FC236}">
                <a16:creationId xmlns:a16="http://schemas.microsoft.com/office/drawing/2014/main" id="{B5040A69-63CD-4BC4-8627-1569B38D3F68}"/>
              </a:ext>
            </a:extLst>
          </p:cNvPr>
          <p:cNvSpPr>
            <a:spLocks xmlns:a="http://schemas.openxmlformats.org/drawingml/2006/main" noGrp="1"/>
          </p:cNvSpPr>
          <p:nvPr/>
        </p:nvSpPr>
        <p:spPr>
          <a:xfrm xmlns:a="http://schemas.openxmlformats.org/drawingml/2006/main">
            <a:off x="4214729" y="4159932"/>
            <a:ext cx="987552" cy="347472"/>
          </a:xfrm>
          <a:prstGeom xmlns:a="http://schemas.openxmlformats.org/drawingml/2006/main" prst="roundRect">
            <a:avLst/>
          </a:prstGeom>
          <a:solidFill xmlns:a="http://schemas.openxmlformats.org/drawingml/2006/main">
            <a:srgbClr val="162032"/>
          </a:solidFill>
          <a:ln xmlns:a="http://schemas.openxmlformats.org/drawingml/2006/main" w="10160">
            <a:solidFill>
              <a:srgbClr val="10B981"/>
            </a:solidFill>
            <a:prstDash val="solid"/>
          </a:ln>
        </p:spPr>
      </p:sp>
      <p:sp>
        <p:nvSpPr>
          <p:cNvPr id="34" name="Text 27">
            <a:extLst xmlns:a="http://schemas.openxmlformats.org/drawingml/2006/main">
              <a:ext uri="{FF2B5EF4-FFF2-40B4-BE49-F238E27FC236}">
                <a16:creationId xmlns:a16="http://schemas.microsoft.com/office/drawing/2014/main" id="{3EFB7AE6-91D1-48CB-8EDB-8F833E68CB4B}"/>
              </a:ext>
            </a:extLst>
          </p:cNvPr>
          <p:cNvSpPr>
            <a:spLocks xmlns:a="http://schemas.openxmlformats.org/drawingml/2006/main" noGrp="1"/>
          </p:cNvSpPr>
          <p:nvPr/>
        </p:nvSpPr>
        <p:spPr>
          <a:xfrm xmlns:a="http://schemas.openxmlformats.org/drawingml/2006/main">
            <a:off x="4214729" y="4159932"/>
            <a:ext cx="98755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B981"/>
                </a:solidFill>
                <a:latin typeface="Trebuchet MS"/>
                <a:ea typeface="Trebuchet MS"/>
                <a:cs typeface="Trebuchet MS"/>
              </a:rPr>
              <a:t>TEXT AUDIT</a:t>
            </a:r>
            <a:endParaRPr sz="950"/>
          </a:p>
        </p:txBody>
      </p:sp>
      <p:sp>
        <p:nvSpPr>
          <p:cNvPr id="35" name="Shape 28">
            <a:extLst xmlns:a="http://schemas.openxmlformats.org/drawingml/2006/main">
              <a:ext uri="{FF2B5EF4-FFF2-40B4-BE49-F238E27FC236}">
                <a16:creationId xmlns:a16="http://schemas.microsoft.com/office/drawing/2014/main" id="{97C59443-663A-479A-9BE5-E1A9EBB4E1E3}"/>
              </a:ext>
            </a:extLst>
          </p:cNvPr>
          <p:cNvSpPr>
            <a:spLocks xmlns:a="http://schemas.openxmlformats.org/drawingml/2006/main" noGrp="1"/>
          </p:cNvSpPr>
          <p:nvPr/>
        </p:nvSpPr>
        <p:spPr>
          <a:xfrm xmlns:a="http://schemas.openxmlformats.org/drawingml/2006/main">
            <a:off x="5330297" y="4159932"/>
            <a:ext cx="987552" cy="347472"/>
          </a:xfrm>
          <a:prstGeom xmlns:a="http://schemas.openxmlformats.org/drawingml/2006/main" prst="roundRect">
            <a:avLst/>
          </a:prstGeom>
          <a:solidFill xmlns:a="http://schemas.openxmlformats.org/drawingml/2006/main">
            <a:srgbClr val="162032"/>
          </a:solidFill>
          <a:ln xmlns:a="http://schemas.openxmlformats.org/drawingml/2006/main" w="10160">
            <a:solidFill>
              <a:srgbClr val="10B981"/>
            </a:solidFill>
            <a:prstDash val="solid"/>
          </a:ln>
        </p:spPr>
      </p:sp>
      <p:sp>
        <p:nvSpPr>
          <p:cNvPr id="36" name="Text 29">
            <a:extLst xmlns:a="http://schemas.openxmlformats.org/drawingml/2006/main">
              <a:ext uri="{FF2B5EF4-FFF2-40B4-BE49-F238E27FC236}">
                <a16:creationId xmlns:a16="http://schemas.microsoft.com/office/drawing/2014/main" id="{BB1E08C9-42EF-4061-8AB1-9A7772381993}"/>
              </a:ext>
            </a:extLst>
          </p:cNvPr>
          <p:cNvSpPr>
            <a:spLocks xmlns:a="http://schemas.openxmlformats.org/drawingml/2006/main" noGrp="1"/>
          </p:cNvSpPr>
          <p:nvPr/>
        </p:nvSpPr>
        <p:spPr>
          <a:xfrm xmlns:a="http://schemas.openxmlformats.org/drawingml/2006/main">
            <a:off x="5330297" y="4159932"/>
            <a:ext cx="98755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B981"/>
                </a:solidFill>
                <a:latin typeface="Trebuchet MS"/>
                <a:ea typeface="Trebuchet MS"/>
                <a:cs typeface="Trebuchet MS"/>
              </a:rPr>
              <a:t>ATOMIC SAVE</a:t>
            </a:r>
            <a:endParaRPr sz="950"/>
          </a:p>
        </p:txBody>
      </p:sp>
      <p:sp>
        <p:nvSpPr>
          <p:cNvPr id="37" name="Shape 30">
            <a:extLst xmlns:a="http://schemas.openxmlformats.org/drawingml/2006/main">
              <a:ext uri="{FF2B5EF4-FFF2-40B4-BE49-F238E27FC236}">
                <a16:creationId xmlns:a16="http://schemas.microsoft.com/office/drawing/2014/main" id="{4BA75996-2298-4410-AF1E-F16099354138}"/>
              </a:ext>
            </a:extLst>
          </p:cNvPr>
          <p:cNvSpPr>
            <a:spLocks xmlns:a="http://schemas.openxmlformats.org/drawingml/2006/main" noGrp="1"/>
          </p:cNvSpPr>
          <p:nvPr/>
        </p:nvSpPr>
        <p:spPr>
          <a:xfrm xmlns:a="http://schemas.openxmlformats.org/drawingml/2006/main">
            <a:off x="6445865" y="4159932"/>
            <a:ext cx="987552" cy="347472"/>
          </a:xfrm>
          <a:prstGeom xmlns:a="http://schemas.openxmlformats.org/drawingml/2006/main" prst="roundRect">
            <a:avLst/>
          </a:prstGeom>
          <a:solidFill xmlns:a="http://schemas.openxmlformats.org/drawingml/2006/main">
            <a:srgbClr val="162032"/>
          </a:solidFill>
          <a:ln xmlns:a="http://schemas.openxmlformats.org/drawingml/2006/main" w="10160">
            <a:solidFill>
              <a:srgbClr val="10B981"/>
            </a:solidFill>
            <a:prstDash val="solid"/>
          </a:ln>
        </p:spPr>
      </p:sp>
      <p:sp>
        <p:nvSpPr>
          <p:cNvPr id="38" name="Text 31">
            <a:extLst xmlns:a="http://schemas.openxmlformats.org/drawingml/2006/main">
              <a:ext uri="{FF2B5EF4-FFF2-40B4-BE49-F238E27FC236}">
                <a16:creationId xmlns:a16="http://schemas.microsoft.com/office/drawing/2014/main" id="{48CFD1A3-39A7-44AD-B1BD-E9325D4E468D}"/>
              </a:ext>
            </a:extLst>
          </p:cNvPr>
          <p:cNvSpPr>
            <a:spLocks xmlns:a="http://schemas.openxmlformats.org/drawingml/2006/main" noGrp="1"/>
          </p:cNvSpPr>
          <p:nvPr/>
        </p:nvSpPr>
        <p:spPr>
          <a:xfrm xmlns:a="http://schemas.openxmlformats.org/drawingml/2006/main">
            <a:off x="6445865" y="4159932"/>
            <a:ext cx="98755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B981"/>
                </a:solidFill>
                <a:latin typeface="Trebuchet MS"/>
                <a:ea typeface="Trebuchet MS"/>
                <a:cs typeface="Trebuchet MS"/>
              </a:rPr>
              <a:t>LOCAL DIAGNOSTICS</a:t>
            </a:r>
            <a:endParaRPr sz="950"/>
          </a:p>
        </p:txBody>
      </p:sp>
      <p:sp>
        <p:nvSpPr>
          <p:cNvPr id="39" name="Shape 32">
            <a:extLst xmlns:a="http://schemas.openxmlformats.org/drawingml/2006/main">
              <a:ext uri="{FF2B5EF4-FFF2-40B4-BE49-F238E27FC236}">
                <a16:creationId xmlns:a16="http://schemas.microsoft.com/office/drawing/2014/main" id="{73EABF40-BF7E-435A-8D15-61FE31A5797A}"/>
              </a:ext>
            </a:extLst>
          </p:cNvPr>
          <p:cNvSpPr>
            <a:spLocks xmlns:a="http://schemas.openxmlformats.org/drawingml/2006/main" noGrp="1"/>
          </p:cNvSpPr>
          <p:nvPr/>
        </p:nvSpPr>
        <p:spPr>
          <a:xfrm xmlns:a="http://schemas.openxmlformats.org/drawingml/2006/main">
            <a:off x="7561433" y="4159932"/>
            <a:ext cx="987552" cy="347472"/>
          </a:xfrm>
          <a:prstGeom xmlns:a="http://schemas.openxmlformats.org/drawingml/2006/main" prst="roundRect">
            <a:avLst/>
          </a:prstGeom>
          <a:solidFill xmlns:a="http://schemas.openxmlformats.org/drawingml/2006/main">
            <a:srgbClr val="162032"/>
          </a:solidFill>
          <a:ln xmlns:a="http://schemas.openxmlformats.org/drawingml/2006/main" w="10160">
            <a:solidFill>
              <a:srgbClr val="10B981"/>
            </a:solidFill>
            <a:prstDash val="solid"/>
          </a:ln>
        </p:spPr>
      </p:sp>
      <p:sp>
        <p:nvSpPr>
          <p:cNvPr id="40" name="Text 33">
            <a:extLst xmlns:a="http://schemas.openxmlformats.org/drawingml/2006/main">
              <a:ext uri="{FF2B5EF4-FFF2-40B4-BE49-F238E27FC236}">
                <a16:creationId xmlns:a16="http://schemas.microsoft.com/office/drawing/2014/main" id="{A49C6605-3992-410C-B31A-F9E15A09E05F}"/>
              </a:ext>
            </a:extLst>
          </p:cNvPr>
          <p:cNvSpPr>
            <a:spLocks xmlns:a="http://schemas.openxmlformats.org/drawingml/2006/main" noGrp="1"/>
          </p:cNvSpPr>
          <p:nvPr/>
        </p:nvSpPr>
        <p:spPr>
          <a:xfrm xmlns:a="http://schemas.openxmlformats.org/drawingml/2006/main">
            <a:off x="7561433" y="4159932"/>
            <a:ext cx="98755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B981"/>
                </a:solidFill>
                <a:latin typeface="Trebuchet MS"/>
                <a:ea typeface="Trebuchet MS"/>
                <a:cs typeface="Trebuchet MS"/>
              </a:rPr>
              <a:t>IT REVIEW</a:t>
            </a:r>
            <a:endParaRPr sz="950"/>
          </a:p>
        </p:txBody>
      </p:sp>
      <p:sp>
        <p:nvSpPr>
          <p:cNvPr id="43" name="Shape 21">
            <a:extLst xmlns:a="http://schemas.openxmlformats.org/drawingml/2006/main">
              <a:ext uri="{FF2B5EF4-FFF2-40B4-BE49-F238E27FC236}">
                <a16:creationId xmlns:a16="http://schemas.microsoft.com/office/drawing/2014/main" id="{8585398B-B4C0-0421-938F-2EE78A2A6FB5}"/>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10B981"/>
            </a:solidFill>
            <a:prstDash val="dash"/>
          </a:ln>
        </p:spPr>
      </p:sp>
      <p:sp>
        <p:nvSpPr>
          <p:cNvPr id="44" name="Text 22">
            <a:extLst xmlns:a="http://schemas.openxmlformats.org/drawingml/2006/main">
              <a:ext uri="{FF2B5EF4-FFF2-40B4-BE49-F238E27FC236}">
                <a16:creationId xmlns:a16="http://schemas.microsoft.com/office/drawing/2014/main" id="{39E10B86-2A9C-A8D1-946A-01EE61E7EF27}"/>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algn="ctr">
              <a:buNone/>
            </a:pPr>
            <a:r>
              <a:rPr sz="850" b="1" spc="150">
                <a:solidFill>
                  <a:srgbClr val="10B981"/>
                </a:solidFill>
                <a:latin typeface="Trebuchet MS"/>
                <a:ea typeface="Trebuchet MS"/>
                <a:cs typeface="Trebuchet MS"/>
              </a:rPr>
              <a:t>TRUST &amp; SECURITY</a:t>
            </a:r>
            <a:endParaRPr sz="850">
              <a:solidFill>
                <a:srgbClr val="10B981"/>
              </a:solidFill>
            </a:endParaRPr>
          </a:p>
        </p:txBody>
      </p:sp>
      <p:sp>
        <p:nvSpPr>
          <p:cNvPr id="47" name="Shape 4">
            <a:extLst xmlns:a="http://schemas.openxmlformats.org/drawingml/2006/main">
              <a:ext uri="{FF2B5EF4-FFF2-40B4-BE49-F238E27FC236}">
                <a16:creationId xmlns:a16="http://schemas.microsoft.com/office/drawing/2014/main" id="{E0908BDE-DCCD-BF75-CB35-5AAED778BC53}"/>
              </a:ext>
            </a:extLst>
          </p:cNvPr>
          <p:cNvSpPr>
            <a:spLocks xmlns:a="http://schemas.openxmlformats.org/drawingml/2006/main" noGrp="1"/>
          </p:cNvSpPr>
          <p:nvPr/>
        </p:nvSpPr>
        <p:spPr>
          <a:xfrm xmlns:a="http://schemas.openxmlformats.org/drawingml/2006/main">
            <a:off x="365760" y="2937586"/>
            <a:ext cx="3154680" cy="752139"/>
          </a:xfrm>
          <a:prstGeom xmlns:a="http://schemas.openxmlformats.org/drawingml/2006/main" prst="roundRect">
            <a:avLst>
              <a:gd name="adj" fmla="val 11065"/>
            </a:avLst>
          </a:prstGeom>
          <a:solidFill xmlns:a="http://schemas.openxmlformats.org/drawingml/2006/main">
            <a:srgbClr val="1E2A3B"/>
          </a:solidFill>
          <a:ln xmlns:a="http://schemas.openxmlformats.org/drawingml/2006/main" w="6350">
            <a:solidFill>
              <a:schemeClr val="bg2">
                <a:lumMod val="25000"/>
              </a:schemeClr>
            </a:solidFill>
            <a:prstDash val="solid"/>
          </a:ln>
          <a:effectLst xmlns:a="http://schemas.openxmlformats.org/drawingml/2006/main">
            <a:outerShdw blurRad="127000" dist="38100" dir="8100000" algn="bl" rotWithShape="0">
              <a:srgbClr val="000000">
                <a:alpha val="30000"/>
              </a:srgbClr>
            </a:outerShdw>
          </a:effectLst>
        </p:spPr>
      </p:sp>
      <p:sp>
        <p:nvSpPr>
          <p:cNvPr id="49" name="Shape 5">
            <a:extLst xmlns:a="http://schemas.openxmlformats.org/drawingml/2006/main">
              <a:ext uri="{FF2B5EF4-FFF2-40B4-BE49-F238E27FC236}">
                <a16:creationId xmlns:a16="http://schemas.microsoft.com/office/drawing/2014/main" id="{89730A7A-72FB-3B7B-87E6-CFF356C1C071}"/>
              </a:ext>
            </a:extLst>
          </p:cNvPr>
          <p:cNvSpPr>
            <a:spLocks xmlns:a="http://schemas.openxmlformats.org/drawingml/2006/main" noGrp="1"/>
          </p:cNvSpPr>
          <p:nvPr/>
        </p:nvSpPr>
        <p:spPr>
          <a:xfrm xmlns:a="http://schemas.openxmlformats.org/drawingml/2006/main">
            <a:off x="512064" y="3094199"/>
            <a:ext cx="438912" cy="438912"/>
          </a:xfrm>
          <a:prstGeom xmlns:a="http://schemas.openxmlformats.org/drawingml/2006/main" prst="ellipse">
            <a:avLst/>
          </a:prstGeom>
          <a:solidFill xmlns:a="http://schemas.openxmlformats.org/drawingml/2006/main">
            <a:srgbClr val="0D2E1A"/>
          </a:solidFill>
          <a:ln xmlns:a="http://schemas.openxmlformats.org/drawingml/2006/main" w="12700">
            <a:solidFill>
              <a:srgbClr val="10B981"/>
            </a:solidFill>
            <a:prstDash val="solid"/>
          </a:ln>
        </p:spPr>
      </p:sp>
      <p:pic>
        <p:nvPicPr>
          <p:cNvPr id="101" name="Image 1"/>
          <p:cNvPicPr>
            <a:picLocks xmlns:a="http://schemas.openxmlformats.org/drawingml/2006/main" noChangeAspect="1"/>
          </p:cNvPicPr>
          <p:nvPr/>
        </p:nvPicPr>
        <p:blipFill>
          <a:blip xmlns:r="http://schemas.openxmlformats.org/officeDocument/2006/relationships" xmlns:a="http://schemas.openxmlformats.org/drawingml/2006/main" r:embed="Rafea668776fb4db4"/>
          <a:stretch xmlns:a="http://schemas.openxmlformats.org/drawingml/2006/main">
            <a:fillRect l="0" t="0" r="0" b="0"/>
          </a:stretch>
        </p:blipFill>
        <p:spPr>
          <a:xfrm xmlns:a="http://schemas.openxmlformats.org/drawingml/2006/main">
            <a:off x="566928" y="3149063"/>
            <a:ext cx="329184" cy="329184"/>
          </a:xfrm>
          <a:prstGeom xmlns:a="http://schemas.openxmlformats.org/drawingml/2006/main" prst="rect">
            <a:avLst/>
          </a:prstGeom>
        </p:spPr>
      </p:pic>
      <p:sp>
        <p:nvSpPr>
          <p:cNvPr id="52" name="Text 6">
            <a:extLst xmlns:a="http://schemas.openxmlformats.org/drawingml/2006/main">
              <a:ext uri="{FF2B5EF4-FFF2-40B4-BE49-F238E27FC236}">
                <a16:creationId xmlns:a16="http://schemas.microsoft.com/office/drawing/2014/main" id="{A5868F07-FD23-820C-313E-8F446BDB1658}"/>
              </a:ext>
            </a:extLst>
          </p:cNvPr>
          <p:cNvSpPr>
            <a:spLocks xmlns:a="http://schemas.openxmlformats.org/drawingml/2006/main" noGrp="1"/>
          </p:cNvSpPr>
          <p:nvPr/>
        </p:nvSpPr>
        <p:spPr>
          <a:xfrm xmlns:a="http://schemas.openxmlformats.org/drawingml/2006/main">
            <a:off x="1097280" y="3054754"/>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B981"/>
                </a:solidFill>
                <a:latin typeface="Montserrat"/>
                <a:ea typeface="Montserrat"/>
                <a:cs typeface="Montserrat"/>
              </a:rPr>
              <a:t>✓ No application telemetry</a:t>
            </a:r>
            <a:endParaRPr sz="1400">
              <a:latin typeface="Montserrat"/>
              <a:ea typeface="Montserrat"/>
              <a:cs typeface="Montserrat"/>
            </a:endParaRPr>
          </a:p>
        </p:txBody>
      </p:sp>
      <p:sp>
        <p:nvSpPr>
          <p:cNvPr id="53" name="Text 7">
            <a:extLst xmlns:a="http://schemas.openxmlformats.org/drawingml/2006/main">
              <a:ext uri="{FF2B5EF4-FFF2-40B4-BE49-F238E27FC236}">
                <a16:creationId xmlns:a16="http://schemas.microsoft.com/office/drawing/2014/main" id="{BBBC5A57-2422-C792-F710-4C79CDA7396D}"/>
              </a:ext>
            </a:extLst>
          </p:cNvPr>
          <p:cNvSpPr>
            <a:spLocks xmlns:a="http://schemas.openxmlformats.org/drawingml/2006/main" noGrp="1"/>
          </p:cNvSpPr>
          <p:nvPr/>
        </p:nvSpPr>
        <p:spPr>
          <a:xfrm xmlns:a="http://schemas.openxmlformats.org/drawingml/2006/main">
            <a:off x="1069848" y="3365681"/>
            <a:ext cx="2331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bg1"/>
                </a:solidFill>
                <a:latin typeface="Trebuchet MS"/>
                <a:ea typeface="Trebuchet MS"/>
                <a:cs typeface="Trebuchet MS"/>
              </a:rPr>
              <a:t>Diagnostics remain local</a:t>
            </a:r>
          </a:p>
        </p:txBody>
      </p:sp>
      <p:sp>
        <p:nvSpPr>
          <p:cNvPr id="54" name="Shape 4">
            <a:extLst xmlns:a="http://schemas.openxmlformats.org/drawingml/2006/main">
              <a:ext uri="{FF2B5EF4-FFF2-40B4-BE49-F238E27FC236}">
                <a16:creationId xmlns:a16="http://schemas.microsoft.com/office/drawing/2014/main" id="{AB3B53D5-4131-514A-9B46-279F1E9121FF}"/>
              </a:ext>
            </a:extLst>
          </p:cNvPr>
          <p:cNvSpPr>
            <a:spLocks xmlns:a="http://schemas.openxmlformats.org/drawingml/2006/main" noGrp="1"/>
          </p:cNvSpPr>
          <p:nvPr/>
        </p:nvSpPr>
        <p:spPr>
          <a:xfrm xmlns:a="http://schemas.openxmlformats.org/drawingml/2006/main">
            <a:off x="5623560" y="1874520"/>
            <a:ext cx="3154680" cy="752139"/>
          </a:xfrm>
          <a:prstGeom xmlns:a="http://schemas.openxmlformats.org/drawingml/2006/main" prst="roundRect">
            <a:avLst>
              <a:gd name="adj" fmla="val 11065"/>
            </a:avLst>
          </a:prstGeom>
          <a:solidFill xmlns:a="http://schemas.openxmlformats.org/drawingml/2006/main">
            <a:srgbClr val="1E2A3B"/>
          </a:solidFill>
          <a:ln xmlns:a="http://schemas.openxmlformats.org/drawingml/2006/main" w="6350">
            <a:solidFill>
              <a:schemeClr val="bg2">
                <a:lumMod val="25000"/>
              </a:schemeClr>
            </a:solidFill>
            <a:prstDash val="solid"/>
          </a:ln>
          <a:effectLst xmlns:a="http://schemas.openxmlformats.org/drawingml/2006/main">
            <a:outerShdw blurRad="127000" dist="38100" dir="8100000" algn="bl" rotWithShape="0">
              <a:srgbClr val="000000">
                <a:alpha val="30000"/>
              </a:srgbClr>
            </a:outerShdw>
          </a:effectLst>
        </p:spPr>
      </p:sp>
      <p:sp>
        <p:nvSpPr>
          <p:cNvPr id="56" name="Shape 5">
            <a:extLst xmlns:a="http://schemas.openxmlformats.org/drawingml/2006/main">
              <a:ext uri="{FF2B5EF4-FFF2-40B4-BE49-F238E27FC236}">
                <a16:creationId xmlns:a16="http://schemas.microsoft.com/office/drawing/2014/main" id="{BEB381C9-385A-4C46-3C76-F6715C363D7D}"/>
              </a:ext>
            </a:extLst>
          </p:cNvPr>
          <p:cNvSpPr>
            <a:spLocks xmlns:a="http://schemas.openxmlformats.org/drawingml/2006/main" noGrp="1"/>
          </p:cNvSpPr>
          <p:nvPr/>
        </p:nvSpPr>
        <p:spPr>
          <a:xfrm xmlns:a="http://schemas.openxmlformats.org/drawingml/2006/main">
            <a:off x="5769864" y="2031133"/>
            <a:ext cx="438912" cy="438912"/>
          </a:xfrm>
          <a:prstGeom xmlns:a="http://schemas.openxmlformats.org/drawingml/2006/main" prst="ellipse">
            <a:avLst/>
          </a:prstGeom>
          <a:solidFill xmlns:a="http://schemas.openxmlformats.org/drawingml/2006/main">
            <a:srgbClr val="0D2E1A"/>
          </a:solidFill>
          <a:ln xmlns:a="http://schemas.openxmlformats.org/drawingml/2006/main" w="12700">
            <a:solidFill>
              <a:srgbClr val="10B981"/>
            </a:solidFill>
            <a:prstDash val="solid"/>
          </a:ln>
        </p:spPr>
      </p:sp>
      <p:pic>
        <p:nvPicPr>
          <p:cNvPr id="106" name="Image 1"/>
          <p:cNvPicPr>
            <a:picLocks xmlns:a="http://schemas.openxmlformats.org/drawingml/2006/main" noChangeAspect="1"/>
          </p:cNvPicPr>
          <p:nvPr/>
        </p:nvPicPr>
        <p:blipFill>
          <a:blip xmlns:r="http://schemas.openxmlformats.org/officeDocument/2006/relationships" xmlns:a="http://schemas.openxmlformats.org/drawingml/2006/main" r:embed="Rafea668776fb4db4"/>
          <a:stretch xmlns:a="http://schemas.openxmlformats.org/drawingml/2006/main">
            <a:fillRect l="0" t="0" r="0" b="0"/>
          </a:stretch>
        </p:blipFill>
        <p:spPr>
          <a:xfrm xmlns:a="http://schemas.openxmlformats.org/drawingml/2006/main">
            <a:off x="5824728" y="2085997"/>
            <a:ext cx="329184" cy="329184"/>
          </a:xfrm>
          <a:prstGeom xmlns:a="http://schemas.openxmlformats.org/drawingml/2006/main" prst="rect">
            <a:avLst/>
          </a:prstGeom>
        </p:spPr>
      </p:pic>
      <p:sp>
        <p:nvSpPr>
          <p:cNvPr id="59" name="Text 6">
            <a:extLst xmlns:a="http://schemas.openxmlformats.org/drawingml/2006/main">
              <a:ext uri="{FF2B5EF4-FFF2-40B4-BE49-F238E27FC236}">
                <a16:creationId xmlns:a16="http://schemas.microsoft.com/office/drawing/2014/main" id="{E9082A39-C5B5-70DE-86D0-B79A42AAF0CB}"/>
              </a:ext>
            </a:extLst>
          </p:cNvPr>
          <p:cNvSpPr>
            <a:spLocks xmlns:a="http://schemas.openxmlformats.org/drawingml/2006/main" noGrp="1"/>
          </p:cNvSpPr>
          <p:nvPr/>
        </p:nvSpPr>
        <p:spPr>
          <a:xfrm xmlns:a="http://schemas.openxmlformats.org/drawingml/2006/main">
            <a:off x="6355080" y="1991688"/>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B981"/>
                </a:solidFill>
                <a:latin typeface="Montserrat"/>
                <a:ea typeface="Montserrat"/>
                <a:cs typeface="Montserrat"/>
              </a:rPr>
              <a:t>✓ No embedded macros</a:t>
            </a:r>
            <a:endParaRPr sz="1400">
              <a:latin typeface="Montserrat"/>
              <a:ea typeface="Montserrat"/>
              <a:cs typeface="Montserrat"/>
            </a:endParaRPr>
          </a:p>
        </p:txBody>
      </p:sp>
      <p:sp>
        <p:nvSpPr>
          <p:cNvPr id="60" name="Text 7">
            <a:extLst xmlns:a="http://schemas.openxmlformats.org/drawingml/2006/main">
              <a:ext uri="{FF2B5EF4-FFF2-40B4-BE49-F238E27FC236}">
                <a16:creationId xmlns:a16="http://schemas.microsoft.com/office/drawing/2014/main" id="{94C0D753-43C0-8234-EABC-CD515D78AA5C}"/>
              </a:ext>
            </a:extLst>
          </p:cNvPr>
          <p:cNvSpPr>
            <a:spLocks xmlns:a="http://schemas.openxmlformats.org/drawingml/2006/main" noGrp="1"/>
          </p:cNvSpPr>
          <p:nvPr/>
        </p:nvSpPr>
        <p:spPr>
          <a:xfrm xmlns:a="http://schemas.openxmlformats.org/drawingml/2006/main">
            <a:off x="6327648" y="2302615"/>
            <a:ext cx="2331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bg1"/>
                </a:solidFill>
                <a:latin typeface="Trebuchet MS"/>
                <a:ea typeface="Trebuchet MS"/>
                <a:cs typeface="Trebuchet MS"/>
              </a:rPr>
              <a:t>No VBA execution path</a:t>
            </a:r>
          </a:p>
        </p:txBody>
      </p:sp>
      <p:sp>
        <p:nvSpPr>
          <p:cNvPr id="61" name="Shape 4">
            <a:extLst xmlns:a="http://schemas.openxmlformats.org/drawingml/2006/main">
              <a:ext uri="{FF2B5EF4-FFF2-40B4-BE49-F238E27FC236}">
                <a16:creationId xmlns:a16="http://schemas.microsoft.com/office/drawing/2014/main" id="{594AF33A-4448-BC40-2E4A-FB5DA66F7BC5}"/>
              </a:ext>
            </a:extLst>
          </p:cNvPr>
          <p:cNvSpPr>
            <a:spLocks xmlns:a="http://schemas.openxmlformats.org/drawingml/2006/main" noGrp="1"/>
          </p:cNvSpPr>
          <p:nvPr/>
        </p:nvSpPr>
        <p:spPr>
          <a:xfrm xmlns:a="http://schemas.openxmlformats.org/drawingml/2006/main">
            <a:off x="5623560" y="2937586"/>
            <a:ext cx="3154680" cy="752139"/>
          </a:xfrm>
          <a:prstGeom xmlns:a="http://schemas.openxmlformats.org/drawingml/2006/main" prst="roundRect">
            <a:avLst>
              <a:gd name="adj" fmla="val 11065"/>
            </a:avLst>
          </a:prstGeom>
          <a:solidFill xmlns:a="http://schemas.openxmlformats.org/drawingml/2006/main">
            <a:srgbClr val="1E2A3B"/>
          </a:solidFill>
          <a:ln xmlns:a="http://schemas.openxmlformats.org/drawingml/2006/main" w="6350">
            <a:solidFill>
              <a:schemeClr val="bg2">
                <a:lumMod val="25000"/>
              </a:schemeClr>
            </a:solidFill>
            <a:prstDash val="solid"/>
          </a:ln>
          <a:effectLst xmlns:a="http://schemas.openxmlformats.org/drawingml/2006/main">
            <a:outerShdw blurRad="127000" dist="38100" dir="8100000" algn="bl" rotWithShape="0">
              <a:srgbClr val="000000">
                <a:alpha val="30000"/>
              </a:srgbClr>
            </a:outerShdw>
          </a:effectLst>
        </p:spPr>
      </p:sp>
      <p:sp>
        <p:nvSpPr>
          <p:cNvPr id="63" name="Shape 5">
            <a:extLst xmlns:a="http://schemas.openxmlformats.org/drawingml/2006/main">
              <a:ext uri="{FF2B5EF4-FFF2-40B4-BE49-F238E27FC236}">
                <a16:creationId xmlns:a16="http://schemas.microsoft.com/office/drawing/2014/main" id="{871FD38A-1E8A-4965-EC77-AE6E65B2DC53}"/>
              </a:ext>
            </a:extLst>
          </p:cNvPr>
          <p:cNvSpPr>
            <a:spLocks xmlns:a="http://schemas.openxmlformats.org/drawingml/2006/main" noGrp="1"/>
          </p:cNvSpPr>
          <p:nvPr/>
        </p:nvSpPr>
        <p:spPr>
          <a:xfrm xmlns:a="http://schemas.openxmlformats.org/drawingml/2006/main">
            <a:off x="5769864" y="3094199"/>
            <a:ext cx="438912" cy="438912"/>
          </a:xfrm>
          <a:prstGeom xmlns:a="http://schemas.openxmlformats.org/drawingml/2006/main" prst="ellipse">
            <a:avLst/>
          </a:prstGeom>
          <a:solidFill xmlns:a="http://schemas.openxmlformats.org/drawingml/2006/main">
            <a:srgbClr val="0D2E1A"/>
          </a:solidFill>
          <a:ln xmlns:a="http://schemas.openxmlformats.org/drawingml/2006/main" w="12700">
            <a:solidFill>
              <a:srgbClr val="10B981"/>
            </a:solidFill>
            <a:prstDash val="solid"/>
          </a:ln>
        </p:spPr>
      </p:sp>
      <p:pic>
        <p:nvPicPr>
          <p:cNvPr id="111" name="Image 1"/>
          <p:cNvPicPr>
            <a:picLocks xmlns:a="http://schemas.openxmlformats.org/drawingml/2006/main" noChangeAspect="1"/>
          </p:cNvPicPr>
          <p:nvPr/>
        </p:nvPicPr>
        <p:blipFill>
          <a:blip xmlns:r="http://schemas.openxmlformats.org/officeDocument/2006/relationships" xmlns:a="http://schemas.openxmlformats.org/drawingml/2006/main" r:embed="Rafea668776fb4db4"/>
          <a:stretch xmlns:a="http://schemas.openxmlformats.org/drawingml/2006/main">
            <a:fillRect l="0" t="0" r="0" b="0"/>
          </a:stretch>
        </p:blipFill>
        <p:spPr>
          <a:xfrm xmlns:a="http://schemas.openxmlformats.org/drawingml/2006/main">
            <a:off x="5824728" y="3149063"/>
            <a:ext cx="329184" cy="329184"/>
          </a:xfrm>
          <a:prstGeom xmlns:a="http://schemas.openxmlformats.org/drawingml/2006/main" prst="rect">
            <a:avLst/>
          </a:prstGeom>
        </p:spPr>
      </p:pic>
      <p:sp>
        <p:nvSpPr>
          <p:cNvPr id="66" name="Text 6">
            <a:extLst xmlns:a="http://schemas.openxmlformats.org/drawingml/2006/main">
              <a:ext uri="{FF2B5EF4-FFF2-40B4-BE49-F238E27FC236}">
                <a16:creationId xmlns:a16="http://schemas.microsoft.com/office/drawing/2014/main" id="{CDA94097-79C9-6A53-21B9-ED20E24261FB}"/>
              </a:ext>
            </a:extLst>
          </p:cNvPr>
          <p:cNvSpPr>
            <a:spLocks xmlns:a="http://schemas.openxmlformats.org/drawingml/2006/main" noGrp="1"/>
          </p:cNvSpPr>
          <p:nvPr/>
        </p:nvSpPr>
        <p:spPr>
          <a:xfrm xmlns:a="http://schemas.openxmlformats.org/drawingml/2006/main">
            <a:off x="6355080" y="3054754"/>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B981"/>
                </a:solidFill>
                <a:latin typeface="Montserrat"/>
                <a:ea typeface="Montserrat"/>
                <a:cs typeface="Montserrat"/>
              </a:rPr>
              <a:t>✓ OS-controlled file access</a:t>
            </a:r>
            <a:endParaRPr sz="1400">
              <a:latin typeface="Montserrat"/>
              <a:ea typeface="Montserrat"/>
              <a:cs typeface="Montserrat"/>
            </a:endParaRPr>
          </a:p>
        </p:txBody>
      </p:sp>
      <p:sp>
        <p:nvSpPr>
          <p:cNvPr id="67" name="Text 7">
            <a:extLst xmlns:a="http://schemas.openxmlformats.org/drawingml/2006/main">
              <a:ext uri="{FF2B5EF4-FFF2-40B4-BE49-F238E27FC236}">
                <a16:creationId xmlns:a16="http://schemas.microsoft.com/office/drawing/2014/main" id="{5681D0CE-112C-6712-6C56-0A2FCAD10648}"/>
              </a:ext>
            </a:extLst>
          </p:cNvPr>
          <p:cNvSpPr>
            <a:spLocks xmlns:a="http://schemas.openxmlformats.org/drawingml/2006/main" noGrp="1"/>
          </p:cNvSpPr>
          <p:nvPr/>
        </p:nvSpPr>
        <p:spPr>
          <a:xfrm xmlns:a="http://schemas.openxmlformats.org/drawingml/2006/main">
            <a:off x="6327648" y="3365681"/>
            <a:ext cx="23317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bg1"/>
                </a:solidFill>
                <a:latin typeface="Trebuchet MS"/>
                <a:ea typeface="Trebuchet MS"/>
                <a:cs typeface="Trebuchet MS"/>
              </a:rPr>
              <a:t>Reads sources and writes selected outputs</a:t>
            </a:r>
          </a:p>
        </p:txBody>
      </p:sp>
      <p:sp>
        <p:nvSpPr>
          <p:cNvPr id="68" name="Text 23">
            <a:extLst xmlns:a="http://schemas.openxmlformats.org/drawingml/2006/main">
              <a:ext uri="{FF2B5EF4-FFF2-40B4-BE49-F238E27FC236}">
                <a16:creationId xmlns:a16="http://schemas.microsoft.com/office/drawing/2014/main" id="{27CF415B-7A7E-1D08-746A-E717648E4AB5}"/>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pic>
        <p:nvPicPr>
          <p:cNvPr id="115" name="Picture 114"/>
          <p:cNvPicPr>
            <a:picLocks xmlns:a="http://schemas.openxmlformats.org/drawingml/2006/main" noChangeAspect="1"/>
          </p:cNvPicPr>
          <p:nvPr/>
        </p:nvPicPr>
        <p:blipFill>
          <a:blip xmlns:r="http://schemas.openxmlformats.org/officeDocument/2006/relationships" xmlns:a="http://schemas.openxmlformats.org/drawingml/2006/main" r:embed="R8d8ca35470484ca5"/>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674634888"/>
      </p:ext>
    </p:extLst>
  </p:cSld>
</p:sld>
</file>

<file path=ppt/slides/slide12.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54" name="Text 23">
            <a:extLst xmlns:a="http://schemas.openxmlformats.org/drawingml/2006/main">
              <a:ext uri="{FF2B5EF4-FFF2-40B4-BE49-F238E27FC236}">
                <a16:creationId xmlns:a16="http://schemas.microsoft.com/office/drawing/2014/main" id="{07BA71E0-F342-BBB1-8B05-F052A0B498B8}"/>
              </a:ext>
            </a:extLst>
          </p:cNvPr>
          <p:cNvSpPr>
            <a:spLocks xmlns:a="http://schemas.openxmlformats.org/drawingml/2006/main" noGrp="1"/>
          </p:cNvSpPr>
          <p:nvPr/>
        </p:nvSpPr>
        <p:spPr>
          <a:xfrm xmlns:a="http://schemas.openxmlformats.org/drawingml/2006/main">
            <a:off x="400050" y="4866005"/>
            <a:ext cx="762000" cy="2205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FFFFFF"/>
                </a:solidFill>
                <a:latin typeface="Arial Black"/>
                <a:ea typeface="Arial Black"/>
                <a:cs typeface="Arial Black"/>
              </a:rPr>
              <a:t>Merge</a:t>
            </a:r>
            <a:r>
              <a:rPr sz="800" b="1">
                <a:solidFill>
                  <a:srgbClr val="2563EB"/>
                </a:solidFill>
                <a:latin typeface="Arial Black"/>
                <a:ea typeface="Arial Black"/>
                <a:cs typeface="Arial Black"/>
              </a:rPr>
              <a:t>Guru</a:t>
            </a:r>
            <a:endParaRPr sz="800">
              <a:solidFill>
                <a:srgbClr val="2563EB"/>
              </a:solidFill>
            </a:endParaRPr>
          </a:p>
        </p:txBody>
      </p:sp>
      <p:sp>
        <p:nvSpPr>
          <p:cNvPr id="58" name="Text 0">
            <a:extLst xmlns:a="http://schemas.openxmlformats.org/drawingml/2006/main">
              <a:ext uri="{FF2B5EF4-FFF2-40B4-BE49-F238E27FC236}">
                <a16:creationId xmlns:a16="http://schemas.microsoft.com/office/drawing/2014/main" id="{C1A5D5C0-0155-DFDD-C57E-5E2B9343AF9B}"/>
              </a:ext>
            </a:extLst>
          </p:cNvPr>
          <p:cNvSpPr>
            <a:spLocks xmlns:a="http://schemas.openxmlformats.org/drawingml/2006/main" noGrp="1"/>
          </p:cNvSpPr>
          <p:nvPr/>
        </p:nvSpPr>
        <p:spPr>
          <a:xfrm xmlns:a="http://schemas.openxmlformats.org/drawingml/2006/main">
            <a:off x="457200" y="896135"/>
            <a:ext cx="82296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3600">
                <a:solidFill>
                  <a:srgbClr val="FFFFFF"/>
                </a:solidFill>
                <a:latin typeface="Montserrat"/>
                <a:ea typeface="Montserrat"/>
                <a:cs typeface="Montserrat"/>
              </a:rPr>
              <a:t>Where MergeGuru Adds Value</a:t>
            </a:r>
          </a:p>
        </p:txBody>
      </p:sp>
      <p:sp>
        <p:nvSpPr>
          <p:cNvPr id="59" name="Text 1">
            <a:extLst xmlns:a="http://schemas.openxmlformats.org/drawingml/2006/main">
              <a:ext uri="{FF2B5EF4-FFF2-40B4-BE49-F238E27FC236}">
                <a16:creationId xmlns:a16="http://schemas.microsoft.com/office/drawing/2014/main" id="{C332B6D2-80B6-2626-81B6-6DD5D3EC70A9}"/>
              </a:ext>
            </a:extLst>
          </p:cNvPr>
          <p:cNvSpPr>
            <a:spLocks xmlns:a="http://schemas.openxmlformats.org/drawingml/2006/main" noGrp="1"/>
          </p:cNvSpPr>
          <p:nvPr/>
        </p:nvSpPr>
        <p:spPr>
          <a:xfrm xmlns:a="http://schemas.openxmlformats.org/drawingml/2006/main">
            <a:off x="457200" y="1370966"/>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Montserrat"/>
                <a:ea typeface="Montserrat"/>
                <a:cs typeface="Montserrat"/>
              </a:rPr>
              <a:t>Built for recurring, exception-prone data consolidation.</a:t>
            </a:r>
          </a:p>
        </p:txBody>
      </p:sp>
      <p:sp>
        <p:nvSpPr>
          <p:cNvPr id="61" name="Shape 21">
            <a:extLst xmlns:a="http://schemas.openxmlformats.org/drawingml/2006/main">
              <a:ext uri="{FF2B5EF4-FFF2-40B4-BE49-F238E27FC236}">
                <a16:creationId xmlns:a16="http://schemas.microsoft.com/office/drawing/2014/main" id="{50415F48-8C69-61D2-A4C3-452BE9FF462E}"/>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0070C0"/>
            </a:solidFill>
            <a:prstDash val="dash"/>
          </a:ln>
        </p:spPr>
      </p:sp>
      <p:sp>
        <p:nvSpPr>
          <p:cNvPr id="62" name="Text 22">
            <a:extLst xmlns:a="http://schemas.openxmlformats.org/drawingml/2006/main">
              <a:ext uri="{FF2B5EF4-FFF2-40B4-BE49-F238E27FC236}">
                <a16:creationId xmlns:a16="http://schemas.microsoft.com/office/drawing/2014/main" id="{89A4AEEB-5101-98BF-B2EE-0FD52A066202}"/>
              </a:ext>
            </a:extLst>
          </p:cNvPr>
          <p:cNvSpPr>
            <a:spLocks xmlns:a="http://schemas.openxmlformats.org/drawingml/2006/main" noGrp="1"/>
          </p:cNvSpPr>
          <p:nvPr/>
        </p:nvSpPr>
        <p:spPr>
          <a:xfrm xmlns:a="http://schemas.openxmlformats.org/drawingml/2006/main">
            <a:off x="457200" y="485265"/>
            <a:ext cx="2011680"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algn="ctr">
              <a:buNone/>
            </a:pPr>
            <a:r>
              <a:rPr sz="850" b="1" spc="150">
                <a:solidFill>
                  <a:srgbClr val="0070C0"/>
                </a:solidFill>
                <a:latin typeface="Trebuchet MS"/>
                <a:ea typeface="Trebuchet MS"/>
                <a:cs typeface="Trebuchet MS"/>
              </a:rPr>
              <a:t>OUTCOMES</a:t>
            </a:r>
            <a:endParaRPr sz="850">
              <a:solidFill>
                <a:srgbClr val="0070C0"/>
              </a:solidFill>
            </a:endParaRPr>
          </a:p>
        </p:txBody>
      </p:sp>
      <p:sp>
        <p:nvSpPr>
          <p:cNvPr id="45" name="Rectangle: Top Corners Rounded 44">
            <a:extLst xmlns:a="http://schemas.openxmlformats.org/drawingml/2006/main">
              <a:ext uri="{FF2B5EF4-FFF2-40B4-BE49-F238E27FC236}">
                <a16:creationId xmlns:a16="http://schemas.microsoft.com/office/drawing/2014/main" id="{835212C9-C814-E7D5-80C6-C72BFC79FB9A}"/>
              </a:ext>
            </a:extLst>
          </p:cNvPr>
          <p:cNvSpPr>
            <a:spLocks xmlns:a="http://schemas.openxmlformats.org/drawingml/2006/main" noGrp="1"/>
          </p:cNvSpPr>
          <p:nvPr/>
        </p:nvSpPr>
        <p:spPr>
          <a:xfrm xmlns:a="http://schemas.openxmlformats.org/drawingml/2006/main">
            <a:off x="794117" y="2014212"/>
            <a:ext cx="1494936" cy="290829"/>
          </a:xfrm>
          <a:prstGeom xmlns:a="http://schemas.openxmlformats.org/drawingml/2006/main" prst="round2SameRect">
            <a:avLst>
              <a:gd name="adj1" fmla="val 34443"/>
              <a:gd name="adj2" fmla="val 0"/>
            </a:avLst>
          </a:prstGeom>
          <a:solidFill xmlns:a="http://schemas.openxmlformats.org/drawingml/2006/main">
            <a:srgbClr val="E0A03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Rectangle: Rounded Corners 45">
            <a:extLst xmlns:a="http://schemas.openxmlformats.org/drawingml/2006/main">
              <a:ext uri="{FF2B5EF4-FFF2-40B4-BE49-F238E27FC236}">
                <a16:creationId xmlns:a16="http://schemas.microsoft.com/office/drawing/2014/main" id="{5B5D7EED-3D73-6CEB-7D53-CAACC96B1CEB}"/>
              </a:ext>
            </a:extLst>
          </p:cNvPr>
          <p:cNvSpPr>
            <a:spLocks xmlns:a="http://schemas.openxmlformats.org/drawingml/2006/main" noGrp="1"/>
          </p:cNvSpPr>
          <p:nvPr/>
        </p:nvSpPr>
        <p:spPr>
          <a:xfrm xmlns:a="http://schemas.openxmlformats.org/drawingml/2006/main">
            <a:off x="794116" y="2047905"/>
            <a:ext cx="1494937" cy="2266951"/>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Rectangle: Rounded Corners 47">
            <a:extLst xmlns:a="http://schemas.openxmlformats.org/drawingml/2006/main">
              <a:ext uri="{FF2B5EF4-FFF2-40B4-BE49-F238E27FC236}">
                <a16:creationId xmlns:a16="http://schemas.microsoft.com/office/drawing/2014/main" id="{BC77DECB-C49C-33AD-BD7A-16DCB0388175}"/>
              </a:ext>
            </a:extLst>
          </p:cNvPr>
          <p:cNvSpPr>
            <a:spLocks xmlns:a="http://schemas.openxmlformats.org/drawingml/2006/main" noGrp="1"/>
          </p:cNvSpPr>
          <p:nvPr/>
        </p:nvSpPr>
        <p:spPr>
          <a:xfrm xmlns:a="http://schemas.openxmlformats.org/drawingml/2006/main">
            <a:off x="1322118" y="2210277"/>
            <a:ext cx="438935" cy="438935"/>
          </a:xfrm>
          <a:prstGeom xmlns:a="http://schemas.openxmlformats.org/drawingml/2006/main" prst="roundRect">
            <a:avLst/>
          </a:prstGeom>
          <a:solidFill xmlns:a="http://schemas.openxmlformats.org/drawingml/2006/main">
            <a:srgbClr val="E0A03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1F49D57E-3BD7-C837-B714-3E2F8A1E01A2}"/>
              </a:ext>
            </a:extLst>
          </p:cNvPr>
          <p:cNvSpPr>
            <a:spLocks xmlns:a="http://schemas.openxmlformats.org/drawingml/2006/main" noGrp="1"/>
          </p:cNvSpPr>
          <p:nvPr/>
        </p:nvSpPr>
        <p:spPr>
          <a:xfrm xmlns:a="http://schemas.openxmlformats.org/drawingml/2006/main">
            <a:off x="1002449" y="2649212"/>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lumMod val="95000"/>
                  </a:schemeClr>
                </a:solidFill>
                <a:latin typeface="Montserrat"/>
                <a:ea typeface="Montserrat"/>
                <a:cs typeface="Montserrat"/>
              </a:rPr>
              <a:t>Reuse</a:t>
            </a:r>
          </a:p>
        </p:txBody>
      </p:sp>
      <p:sp>
        <p:nvSpPr>
          <p:cNvPr id="51" name="TextBox 50">
            <a:extLst xmlns:a="http://schemas.openxmlformats.org/drawingml/2006/main">
              <a:ext uri="{FF2B5EF4-FFF2-40B4-BE49-F238E27FC236}">
                <a16:creationId xmlns:a16="http://schemas.microsoft.com/office/drawing/2014/main" id="{1C786852-5198-9419-5DFC-5633AC731093}"/>
              </a:ext>
            </a:extLst>
          </p:cNvPr>
          <p:cNvSpPr>
            <a:spLocks xmlns:a="http://schemas.openxmlformats.org/drawingml/2006/main" noGrp="1"/>
          </p:cNvSpPr>
          <p:nvPr/>
        </p:nvSpPr>
        <p:spPr>
          <a:xfrm xmlns:a="http://schemas.openxmlformats.org/drawingml/2006/main">
            <a:off x="798123" y="3559623"/>
            <a:ext cx="1494936" cy="777240"/>
          </a:xfrm>
          <a:prstGeom xmlns:a="http://schemas.openxmlformats.org/drawingml/2006/main" prst="rect">
            <a:avLst/>
          </a:prstGeom>
          <a:noFill xmlns:a="http://schemas.openxmlformats.org/drawingml/2006/main"/>
        </p:spPr>
        <p:txBody>
          <a:bodyPr xmlns:a="http://schemas.openxmlformats.org/drawingml/2006/main" wrap="square">
            <a:normAutofit/>
          </a:bodyPr>
          <a:lstStyle xmlns:a="http://schemas.openxmlformats.org/drawingml/2006/main"/>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Prepared data stays in-session</a:t>
            </a:r>
          </a:p>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Multiple filtered exports</a:t>
            </a:r>
          </a:p>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Automatic output naming</a:t>
            </a:r>
          </a:p>
        </p:txBody>
      </p:sp>
      <p:sp>
        <p:nvSpPr>
          <p:cNvPr id="52" name="TextBox 51">
            <a:extLst xmlns:a="http://schemas.openxmlformats.org/drawingml/2006/main">
              <a:ext uri="{FF2B5EF4-FFF2-40B4-BE49-F238E27FC236}">
                <a16:creationId xmlns:a16="http://schemas.microsoft.com/office/drawing/2014/main" id="{739CE7F0-1DCD-C4B6-60B1-B9520E16E6C4}"/>
              </a:ext>
            </a:extLst>
          </p:cNvPr>
          <p:cNvSpPr>
            <a:spLocks xmlns:a="http://schemas.openxmlformats.org/drawingml/2006/main" noGrp="1"/>
          </p:cNvSpPr>
          <p:nvPr/>
        </p:nvSpPr>
        <p:spPr>
          <a:xfrm xmlns:a="http://schemas.openxmlformats.org/drawingml/2006/main">
            <a:off x="1002449" y="3239821"/>
            <a:ext cx="1078272"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a:solidFill>
                  <a:schemeClr val="bg2">
                    <a:lumMod val="75000"/>
                  </a:schemeClr>
                </a:solidFill>
                <a:latin typeface="Bahnschrift Condensed"/>
                <a:ea typeface="Bahnschrift Condensed"/>
                <a:cs typeface="Bahnschrift Condensed"/>
              </a:rPr>
              <a:t>combine, many exports</a:t>
            </a:r>
          </a:p>
        </p:txBody>
      </p:sp>
      <p:sp>
        <p:nvSpPr>
          <p:cNvPr id="53" name="TextBox 52">
            <a:extLst xmlns:a="http://schemas.openxmlformats.org/drawingml/2006/main">
              <a:ext uri="{FF2B5EF4-FFF2-40B4-BE49-F238E27FC236}">
                <a16:creationId xmlns:a16="http://schemas.microsoft.com/office/drawing/2014/main" id="{F663462E-B4F6-0C43-54F1-D02AAA9A278D}"/>
              </a:ext>
            </a:extLst>
          </p:cNvPr>
          <p:cNvSpPr>
            <a:spLocks xmlns:a="http://schemas.openxmlformats.org/drawingml/2006/main" noGrp="1"/>
          </p:cNvSpPr>
          <p:nvPr/>
        </p:nvSpPr>
        <p:spPr>
          <a:xfrm xmlns:a="http://schemas.openxmlformats.org/drawingml/2006/main">
            <a:off x="1002449" y="2787195"/>
            <a:ext cx="1078272"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rgbClr val="E0A03C"/>
                </a:solidFill>
                <a:latin typeface="Montserrat"/>
                <a:ea typeface="Montserrat"/>
                <a:cs typeface="Montserrat"/>
              </a:rPr>
              <a:t>1×</a:t>
            </a:r>
          </a:p>
        </p:txBody>
      </p:sp>
      <p:pic>
        <p:nvPicPr>
          <p:cNvPr id="106" name="Picture 55"/>
          <p:cNvPicPr>
            <a:picLocks xmlns:a="http://schemas.openxmlformats.org/drawingml/2006/main" noChangeAspect="1"/>
          </p:cNvPicPr>
          <p:nvPr/>
        </p:nvPicPr>
        <p:blipFill>
          <a:blip xmlns:r="http://schemas.openxmlformats.org/officeDocument/2006/relationships" xmlns:a="http://schemas.openxmlformats.org/drawingml/2006/main" r:embed="R67e74fa7b301457a"/>
          <a:stretch xmlns:a="http://schemas.openxmlformats.org/drawingml/2006/main">
            <a:fillRect l="0" t="0" r="0" b="0"/>
          </a:stretch>
        </p:blipFill>
        <p:spPr>
          <a:xfrm xmlns:a="http://schemas.openxmlformats.org/drawingml/2006/main">
            <a:off x="1334988" y="2220848"/>
            <a:ext cx="413192" cy="413192"/>
          </a:xfrm>
          <a:prstGeom xmlns:a="http://schemas.openxmlformats.org/drawingml/2006/main" prst="rect">
            <a:avLst/>
          </a:prstGeom>
        </p:spPr>
      </p:pic>
      <p:sp>
        <p:nvSpPr>
          <p:cNvPr id="64" name="Rectangle: Top Corners Rounded 63">
            <a:extLst xmlns:a="http://schemas.openxmlformats.org/drawingml/2006/main">
              <a:ext uri="{FF2B5EF4-FFF2-40B4-BE49-F238E27FC236}">
                <a16:creationId xmlns:a16="http://schemas.microsoft.com/office/drawing/2014/main" id="{B13BD6CF-0664-AF47-2F0A-15E2908E27F9}"/>
              </a:ext>
            </a:extLst>
          </p:cNvPr>
          <p:cNvSpPr>
            <a:spLocks xmlns:a="http://schemas.openxmlformats.org/drawingml/2006/main" noGrp="1"/>
          </p:cNvSpPr>
          <p:nvPr/>
        </p:nvSpPr>
        <p:spPr>
          <a:xfrm xmlns:a="http://schemas.openxmlformats.org/drawingml/2006/main">
            <a:off x="2813059" y="2014212"/>
            <a:ext cx="1494936" cy="290829"/>
          </a:xfrm>
          <a:prstGeom xmlns:a="http://schemas.openxmlformats.org/drawingml/2006/main" prst="round2SameRect">
            <a:avLst>
              <a:gd name="adj1" fmla="val 34443"/>
              <a:gd name="adj2" fmla="val 0"/>
            </a:avLst>
          </a:prstGeom>
          <a:solidFill xmlns:a="http://schemas.openxmlformats.org/drawingml/2006/main">
            <a:srgbClr val="64B68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Rectangle: Rounded Corners 64">
            <a:extLst xmlns:a="http://schemas.openxmlformats.org/drawingml/2006/main">
              <a:ext uri="{FF2B5EF4-FFF2-40B4-BE49-F238E27FC236}">
                <a16:creationId xmlns:a16="http://schemas.microsoft.com/office/drawing/2014/main" id="{13DB5EBE-AAE3-621F-DF87-EC243F8AFFB6}"/>
              </a:ext>
            </a:extLst>
          </p:cNvPr>
          <p:cNvSpPr>
            <a:spLocks xmlns:a="http://schemas.openxmlformats.org/drawingml/2006/main" noGrp="1"/>
          </p:cNvSpPr>
          <p:nvPr/>
        </p:nvSpPr>
        <p:spPr>
          <a:xfrm xmlns:a="http://schemas.openxmlformats.org/drawingml/2006/main">
            <a:off x="2813058" y="2047905"/>
            <a:ext cx="1494937" cy="2266951"/>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6" name="Rectangle: Rounded Corners 65">
            <a:extLst xmlns:a="http://schemas.openxmlformats.org/drawingml/2006/main">
              <a:ext uri="{FF2B5EF4-FFF2-40B4-BE49-F238E27FC236}">
                <a16:creationId xmlns:a16="http://schemas.microsoft.com/office/drawing/2014/main" id="{06DC0C5B-A14C-3467-1B59-34743A23285E}"/>
              </a:ext>
            </a:extLst>
          </p:cNvPr>
          <p:cNvSpPr>
            <a:spLocks xmlns:a="http://schemas.openxmlformats.org/drawingml/2006/main" noGrp="1"/>
          </p:cNvSpPr>
          <p:nvPr/>
        </p:nvSpPr>
        <p:spPr>
          <a:xfrm xmlns:a="http://schemas.openxmlformats.org/drawingml/2006/main">
            <a:off x="3341060" y="2210277"/>
            <a:ext cx="438935" cy="438935"/>
          </a:xfrm>
          <a:prstGeom xmlns:a="http://schemas.openxmlformats.org/drawingml/2006/main" prst="roundRect">
            <a:avLst/>
          </a:prstGeom>
          <a:solidFill xmlns:a="http://schemas.openxmlformats.org/drawingml/2006/main">
            <a:srgbClr val="64B68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TextBox 66">
            <a:extLst xmlns:a="http://schemas.openxmlformats.org/drawingml/2006/main">
              <a:ext uri="{FF2B5EF4-FFF2-40B4-BE49-F238E27FC236}">
                <a16:creationId xmlns:a16="http://schemas.microsoft.com/office/drawing/2014/main" id="{FD7A4EF4-BE7E-B915-89A8-F37A539FD358}"/>
              </a:ext>
            </a:extLst>
          </p:cNvPr>
          <p:cNvSpPr>
            <a:spLocks xmlns:a="http://schemas.openxmlformats.org/drawingml/2006/main" noGrp="1"/>
          </p:cNvSpPr>
          <p:nvPr/>
        </p:nvSpPr>
        <p:spPr>
          <a:xfrm xmlns:a="http://schemas.openxmlformats.org/drawingml/2006/main">
            <a:off x="3021391" y="2649212"/>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lumMod val="95000"/>
                  </a:schemeClr>
                </a:solidFill>
                <a:latin typeface="Montserrat"/>
                <a:ea typeface="Montserrat"/>
                <a:cs typeface="Montserrat"/>
              </a:rPr>
              <a:t>Validate</a:t>
            </a:r>
          </a:p>
        </p:txBody>
      </p:sp>
      <p:sp>
        <p:nvSpPr>
          <p:cNvPr id="68" name="TextBox 67">
            <a:extLst xmlns:a="http://schemas.openxmlformats.org/drawingml/2006/main">
              <a:ext uri="{FF2B5EF4-FFF2-40B4-BE49-F238E27FC236}">
                <a16:creationId xmlns:a16="http://schemas.microsoft.com/office/drawing/2014/main" id="{3D86F473-8BBC-0EF7-7C00-0061756857DB}"/>
              </a:ext>
            </a:extLst>
          </p:cNvPr>
          <p:cNvSpPr>
            <a:spLocks xmlns:a="http://schemas.openxmlformats.org/drawingml/2006/main" noGrp="1"/>
          </p:cNvSpPr>
          <p:nvPr/>
        </p:nvSpPr>
        <p:spPr>
          <a:xfrm xmlns:a="http://schemas.openxmlformats.org/drawingml/2006/main">
            <a:off x="2817065" y="3559623"/>
            <a:ext cx="1494936" cy="777240"/>
          </a:xfrm>
          <a:prstGeom xmlns:a="http://schemas.openxmlformats.org/drawingml/2006/main" prst="rect">
            <a:avLst/>
          </a:prstGeom>
          <a:noFill xmlns:a="http://schemas.openxmlformats.org/drawingml/2006/main"/>
        </p:spPr>
        <p:txBody>
          <a:bodyPr xmlns:a="http://schemas.openxmlformats.org/drawingml/2006/main" wrap="square">
            <a:normAutofit/>
          </a:bodyPr>
          <a:lstStyle xmlns:a="http://schemas.openxmlformats.org/drawingml/2006/main"/>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Reference schema first</a:t>
            </a:r>
          </a:p>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Missing and duplicate headers</a:t>
            </a:r>
          </a:p>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Shuffled columns aligned</a:t>
            </a:r>
          </a:p>
        </p:txBody>
      </p:sp>
      <p:sp>
        <p:nvSpPr>
          <p:cNvPr id="69" name="TextBox 68">
            <a:extLst xmlns:a="http://schemas.openxmlformats.org/drawingml/2006/main">
              <a:ext uri="{FF2B5EF4-FFF2-40B4-BE49-F238E27FC236}">
                <a16:creationId xmlns:a16="http://schemas.microsoft.com/office/drawing/2014/main" id="{71C845EC-78D8-F828-E58D-7778611FEAA4}"/>
              </a:ext>
            </a:extLst>
          </p:cNvPr>
          <p:cNvSpPr>
            <a:spLocks xmlns:a="http://schemas.openxmlformats.org/drawingml/2006/main" noGrp="1"/>
          </p:cNvSpPr>
          <p:nvPr/>
        </p:nvSpPr>
        <p:spPr>
          <a:xfrm xmlns:a="http://schemas.openxmlformats.org/drawingml/2006/main">
            <a:off x="3021391" y="3239821"/>
            <a:ext cx="1078272"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a:solidFill>
                  <a:schemeClr val="bg2">
                    <a:lumMod val="75000"/>
                  </a:schemeClr>
                </a:solidFill>
                <a:latin typeface="Bahnschrift Condensed"/>
                <a:ea typeface="Bahnschrift Condensed"/>
                <a:cs typeface="Bahnschrift Condensed"/>
              </a:rPr>
              <a:t>WARN / FAIL</a:t>
            </a:r>
          </a:p>
        </p:txBody>
      </p:sp>
      <p:sp>
        <p:nvSpPr>
          <p:cNvPr id="70" name="TextBox 69">
            <a:extLst xmlns:a="http://schemas.openxmlformats.org/drawingml/2006/main">
              <a:ext uri="{FF2B5EF4-FFF2-40B4-BE49-F238E27FC236}">
                <a16:creationId xmlns:a16="http://schemas.microsoft.com/office/drawing/2014/main" id="{B35F84DA-243E-5BD8-81B6-21DC505B256A}"/>
              </a:ext>
            </a:extLst>
          </p:cNvPr>
          <p:cNvSpPr>
            <a:spLocks xmlns:a="http://schemas.openxmlformats.org/drawingml/2006/main" noGrp="1"/>
          </p:cNvSpPr>
          <p:nvPr/>
        </p:nvSpPr>
        <p:spPr>
          <a:xfrm xmlns:a="http://schemas.openxmlformats.org/drawingml/2006/main">
            <a:off x="2809051" y="2787195"/>
            <a:ext cx="1498944" cy="5539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000" b="1">
                <a:solidFill>
                  <a:srgbClr val="64B686"/>
                </a:solidFill>
                <a:latin typeface="Montserrat"/>
                <a:ea typeface="Montserrat"/>
                <a:cs typeface="Montserrat"/>
              </a:rPr>
              <a:t>PASS</a:t>
            </a:r>
          </a:p>
        </p:txBody>
      </p:sp>
      <p:pic>
        <p:nvPicPr>
          <p:cNvPr id="114" name="Picture 70"/>
          <p:cNvPicPr>
            <a:picLocks xmlns:a="http://schemas.openxmlformats.org/drawingml/2006/main" noChangeAspect="1"/>
          </p:cNvPicPr>
          <p:nvPr/>
        </p:nvPicPr>
        <p:blipFill>
          <a:blip xmlns:r="http://schemas.openxmlformats.org/officeDocument/2006/relationships" xmlns:a="http://schemas.openxmlformats.org/drawingml/2006/main" r:embed="Rdd00a425a0054250"/>
          <a:srcRect xmlns:a="http://schemas.openxmlformats.org/drawingml/2006/main" l="0" t="0" r="0" b="0"/>
          <a:stretch xmlns:a="http://schemas.openxmlformats.org/drawingml/2006/main"/>
        </p:blipFill>
        <p:spPr>
          <a:xfrm xmlns:a="http://schemas.openxmlformats.org/drawingml/2006/main">
            <a:off x="3353930" y="2220848"/>
            <a:ext cx="413192" cy="413192"/>
          </a:xfrm>
          <a:prstGeom xmlns:a="http://schemas.openxmlformats.org/drawingml/2006/main" prst="rect">
            <a:avLst/>
          </a:prstGeom>
        </p:spPr>
      </p:pic>
      <p:sp>
        <p:nvSpPr>
          <p:cNvPr id="73" name="Rectangle: Top Corners Rounded 72">
            <a:extLst xmlns:a="http://schemas.openxmlformats.org/drawingml/2006/main">
              <a:ext uri="{FF2B5EF4-FFF2-40B4-BE49-F238E27FC236}">
                <a16:creationId xmlns:a16="http://schemas.microsoft.com/office/drawing/2014/main" id="{D4CBCC81-3A78-5269-25D9-5F47F089F1FF}"/>
              </a:ext>
            </a:extLst>
          </p:cNvPr>
          <p:cNvSpPr>
            <a:spLocks xmlns:a="http://schemas.openxmlformats.org/drawingml/2006/main" noGrp="1"/>
          </p:cNvSpPr>
          <p:nvPr/>
        </p:nvSpPr>
        <p:spPr>
          <a:xfrm xmlns:a="http://schemas.openxmlformats.org/drawingml/2006/main">
            <a:off x="4832001" y="2014212"/>
            <a:ext cx="1494936" cy="290829"/>
          </a:xfrm>
          <a:prstGeom xmlns:a="http://schemas.openxmlformats.org/drawingml/2006/main" prst="round2SameRect">
            <a:avLst>
              <a:gd name="adj1" fmla="val 34443"/>
              <a:gd name="adj2" fmla="val 0"/>
            </a:avLst>
          </a:prstGeom>
          <a:solidFill xmlns:a="http://schemas.openxmlformats.org/drawingml/2006/main">
            <a:srgbClr val="6082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Rectangle: Rounded Corners 73">
            <a:extLst xmlns:a="http://schemas.openxmlformats.org/drawingml/2006/main">
              <a:ext uri="{FF2B5EF4-FFF2-40B4-BE49-F238E27FC236}">
                <a16:creationId xmlns:a16="http://schemas.microsoft.com/office/drawing/2014/main" id="{B5A2A573-3D33-2ACD-6893-D2A252573E1F}"/>
              </a:ext>
            </a:extLst>
          </p:cNvPr>
          <p:cNvSpPr>
            <a:spLocks xmlns:a="http://schemas.openxmlformats.org/drawingml/2006/main" noGrp="1"/>
          </p:cNvSpPr>
          <p:nvPr/>
        </p:nvSpPr>
        <p:spPr>
          <a:xfrm xmlns:a="http://schemas.openxmlformats.org/drawingml/2006/main">
            <a:off x="4832000" y="2047905"/>
            <a:ext cx="1494937" cy="2266951"/>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Rectangle: Rounded Corners 74">
            <a:extLst xmlns:a="http://schemas.openxmlformats.org/drawingml/2006/main">
              <a:ext uri="{FF2B5EF4-FFF2-40B4-BE49-F238E27FC236}">
                <a16:creationId xmlns:a16="http://schemas.microsoft.com/office/drawing/2014/main" id="{2150D242-F253-4ED5-1C74-F274B1F03D7C}"/>
              </a:ext>
            </a:extLst>
          </p:cNvPr>
          <p:cNvSpPr>
            <a:spLocks xmlns:a="http://schemas.openxmlformats.org/drawingml/2006/main" noGrp="1"/>
          </p:cNvSpPr>
          <p:nvPr/>
        </p:nvSpPr>
        <p:spPr>
          <a:xfrm xmlns:a="http://schemas.openxmlformats.org/drawingml/2006/main">
            <a:off x="5360002" y="2210277"/>
            <a:ext cx="438935" cy="438935"/>
          </a:xfrm>
          <a:prstGeom xmlns:a="http://schemas.openxmlformats.org/drawingml/2006/main" prst="roundRect">
            <a:avLst/>
          </a:prstGeom>
          <a:solidFill xmlns:a="http://schemas.openxmlformats.org/drawingml/2006/main">
            <a:srgbClr val="6082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TextBox 75">
            <a:extLst xmlns:a="http://schemas.openxmlformats.org/drawingml/2006/main">
              <a:ext uri="{FF2B5EF4-FFF2-40B4-BE49-F238E27FC236}">
                <a16:creationId xmlns:a16="http://schemas.microsoft.com/office/drawing/2014/main" id="{CBABDDB6-4B08-981E-B3BE-2D051E16910D}"/>
              </a:ext>
            </a:extLst>
          </p:cNvPr>
          <p:cNvSpPr>
            <a:spLocks xmlns:a="http://schemas.openxmlformats.org/drawingml/2006/main" noGrp="1"/>
          </p:cNvSpPr>
          <p:nvPr/>
        </p:nvSpPr>
        <p:spPr>
          <a:xfrm xmlns:a="http://schemas.openxmlformats.org/drawingml/2006/main">
            <a:off x="5040333" y="2649212"/>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lumMod val="95000"/>
                  </a:schemeClr>
                </a:solidFill>
                <a:latin typeface="Montserrat"/>
                <a:ea typeface="Montserrat"/>
                <a:cs typeface="Montserrat"/>
              </a:rPr>
              <a:t>Local</a:t>
            </a:r>
          </a:p>
        </p:txBody>
      </p:sp>
      <p:sp>
        <p:nvSpPr>
          <p:cNvPr id="77" name="TextBox 76">
            <a:extLst xmlns:a="http://schemas.openxmlformats.org/drawingml/2006/main">
              <a:ext uri="{FF2B5EF4-FFF2-40B4-BE49-F238E27FC236}">
                <a16:creationId xmlns:a16="http://schemas.microsoft.com/office/drawing/2014/main" id="{14C7B36B-1FED-2CC8-990F-B21120C6A89B}"/>
              </a:ext>
            </a:extLst>
          </p:cNvPr>
          <p:cNvSpPr>
            <a:spLocks xmlns:a="http://schemas.openxmlformats.org/drawingml/2006/main" noGrp="1"/>
          </p:cNvSpPr>
          <p:nvPr/>
        </p:nvSpPr>
        <p:spPr>
          <a:xfrm xmlns:a="http://schemas.openxmlformats.org/drawingml/2006/main">
            <a:off x="4836007" y="3559623"/>
            <a:ext cx="1494936" cy="605790"/>
          </a:xfrm>
          <a:prstGeom xmlns:a="http://schemas.openxmlformats.org/drawingml/2006/main" prst="rect">
            <a:avLst/>
          </a:prstGeom>
          <a:noFill xmlns:a="http://schemas.openxmlformats.org/drawingml/2006/main"/>
        </p:spPr>
        <p:txBody>
          <a:bodyPr xmlns:a="http://schemas.openxmlformats.org/drawingml/2006/main" wrap="square">
            <a:normAutofit/>
          </a:bodyPr>
          <a:lstStyle xmlns:a="http://schemas.openxmlformats.org/drawingml/2006/main"/>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No VBA or macros</a:t>
            </a:r>
          </a:p>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No application telemetry</a:t>
            </a:r>
          </a:p>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OS permissions still apply</a:t>
            </a:r>
          </a:p>
        </p:txBody>
      </p:sp>
      <p:sp>
        <p:nvSpPr>
          <p:cNvPr id="78" name="TextBox 77">
            <a:extLst xmlns:a="http://schemas.openxmlformats.org/drawingml/2006/main">
              <a:ext uri="{FF2B5EF4-FFF2-40B4-BE49-F238E27FC236}">
                <a16:creationId xmlns:a16="http://schemas.microsoft.com/office/drawing/2014/main" id="{A637DF14-5AEB-7FE1-B15A-9EDBDF8A0534}"/>
              </a:ext>
            </a:extLst>
          </p:cNvPr>
          <p:cNvSpPr>
            <a:spLocks xmlns:a="http://schemas.openxmlformats.org/drawingml/2006/main" noGrp="1"/>
          </p:cNvSpPr>
          <p:nvPr/>
        </p:nvSpPr>
        <p:spPr>
          <a:xfrm xmlns:a="http://schemas.openxmlformats.org/drawingml/2006/main">
            <a:off x="5040333" y="3239821"/>
            <a:ext cx="1078272"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a:solidFill>
                  <a:schemeClr val="bg2">
                    <a:lumMod val="75000"/>
                  </a:schemeClr>
                </a:solidFill>
                <a:latin typeface="Bahnschrift Condensed"/>
                <a:ea typeface="Bahnschrift Condensed"/>
                <a:cs typeface="Bahnschrift Condensed"/>
              </a:rPr>
              <a:t>built-in uploads</a:t>
            </a:r>
          </a:p>
        </p:txBody>
      </p:sp>
      <p:sp>
        <p:nvSpPr>
          <p:cNvPr id="79" name="TextBox 78">
            <a:extLst xmlns:a="http://schemas.openxmlformats.org/drawingml/2006/main">
              <a:ext uri="{FF2B5EF4-FFF2-40B4-BE49-F238E27FC236}">
                <a16:creationId xmlns:a16="http://schemas.microsoft.com/office/drawing/2014/main" id="{26A42D19-3C4E-A1AF-5E27-82E252AD1355}"/>
              </a:ext>
            </a:extLst>
          </p:cNvPr>
          <p:cNvSpPr>
            <a:spLocks xmlns:a="http://schemas.openxmlformats.org/drawingml/2006/main" noGrp="1"/>
          </p:cNvSpPr>
          <p:nvPr/>
        </p:nvSpPr>
        <p:spPr>
          <a:xfrm xmlns:a="http://schemas.openxmlformats.org/drawingml/2006/main">
            <a:off x="5040333" y="2787195"/>
            <a:ext cx="1078272"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rgbClr val="6082ED"/>
                </a:solidFill>
                <a:latin typeface="Montserrat"/>
                <a:ea typeface="Montserrat"/>
                <a:cs typeface="Montserrat"/>
              </a:rPr>
              <a:t>0</a:t>
            </a:r>
          </a:p>
        </p:txBody>
      </p:sp>
      <p:pic>
        <p:nvPicPr>
          <p:cNvPr id="122" name="Picture 79"/>
          <p:cNvPicPr>
            <a:picLocks xmlns:a="http://schemas.openxmlformats.org/drawingml/2006/main" noChangeAspect="1"/>
          </p:cNvPicPr>
          <p:nvPr/>
        </p:nvPicPr>
        <p:blipFill>
          <a:blip xmlns:r="http://schemas.openxmlformats.org/officeDocument/2006/relationships" xmlns:a="http://schemas.openxmlformats.org/drawingml/2006/main" r:embed="R7f731b9cedec40e0"/>
          <a:srcRect xmlns:a="http://schemas.openxmlformats.org/drawingml/2006/main" l="0" t="0" r="0" b="0"/>
          <a:stretch xmlns:a="http://schemas.openxmlformats.org/drawingml/2006/main"/>
        </p:blipFill>
        <p:spPr>
          <a:xfrm xmlns:a="http://schemas.openxmlformats.org/drawingml/2006/main">
            <a:off x="5372872" y="2220848"/>
            <a:ext cx="413192" cy="413192"/>
          </a:xfrm>
          <a:prstGeom xmlns:a="http://schemas.openxmlformats.org/drawingml/2006/main" prst="rect">
            <a:avLst/>
          </a:prstGeom>
        </p:spPr>
      </p:pic>
      <p:sp>
        <p:nvSpPr>
          <p:cNvPr id="82" name="Rectangle: Top Corners Rounded 81">
            <a:extLst xmlns:a="http://schemas.openxmlformats.org/drawingml/2006/main">
              <a:ext uri="{FF2B5EF4-FFF2-40B4-BE49-F238E27FC236}">
                <a16:creationId xmlns:a16="http://schemas.microsoft.com/office/drawing/2014/main" id="{293D70B2-CFF0-C78D-942A-2C9C10C12F18}"/>
              </a:ext>
            </a:extLst>
          </p:cNvPr>
          <p:cNvSpPr>
            <a:spLocks xmlns:a="http://schemas.openxmlformats.org/drawingml/2006/main" noGrp="1"/>
          </p:cNvSpPr>
          <p:nvPr/>
        </p:nvSpPr>
        <p:spPr>
          <a:xfrm xmlns:a="http://schemas.openxmlformats.org/drawingml/2006/main">
            <a:off x="6850942" y="2014212"/>
            <a:ext cx="1494936" cy="290829"/>
          </a:xfrm>
          <a:prstGeom xmlns:a="http://schemas.openxmlformats.org/drawingml/2006/main" prst="round2SameRect">
            <a:avLst>
              <a:gd name="adj1" fmla="val 34443"/>
              <a:gd name="adj2" fmla="val 0"/>
            </a:avLst>
          </a:prstGeom>
          <a:solidFill xmlns:a="http://schemas.openxmlformats.org/drawingml/2006/main">
            <a:srgbClr val="8760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Rectangle: Rounded Corners 82">
            <a:extLst xmlns:a="http://schemas.openxmlformats.org/drawingml/2006/main">
              <a:ext uri="{FF2B5EF4-FFF2-40B4-BE49-F238E27FC236}">
                <a16:creationId xmlns:a16="http://schemas.microsoft.com/office/drawing/2014/main" id="{A8D61E71-6EA1-28E9-9B87-14B65212A0D6}"/>
              </a:ext>
            </a:extLst>
          </p:cNvPr>
          <p:cNvSpPr>
            <a:spLocks xmlns:a="http://schemas.openxmlformats.org/drawingml/2006/main" noGrp="1"/>
          </p:cNvSpPr>
          <p:nvPr/>
        </p:nvSpPr>
        <p:spPr>
          <a:xfrm xmlns:a="http://schemas.openxmlformats.org/drawingml/2006/main">
            <a:off x="6850941" y="2047905"/>
            <a:ext cx="1494937" cy="2266951"/>
          </a:xfrm>
          <a:prstGeom xmlns:a="http://schemas.openxmlformats.org/drawingml/2006/main" prst="roundRect">
            <a:avLst>
              <a:gd name="adj" fmla="val 7855"/>
            </a:avLst>
          </a:prstGeom>
          <a:solidFill xmlns:a="http://schemas.openxmlformats.org/drawingml/2006/main">
            <a:schemeClr val="tx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Rectangle: Rounded Corners 83">
            <a:extLst xmlns:a="http://schemas.openxmlformats.org/drawingml/2006/main">
              <a:ext uri="{FF2B5EF4-FFF2-40B4-BE49-F238E27FC236}">
                <a16:creationId xmlns:a16="http://schemas.microsoft.com/office/drawing/2014/main" id="{9C69BA3F-17A7-9E50-299C-F12ED7146401}"/>
              </a:ext>
            </a:extLst>
          </p:cNvPr>
          <p:cNvSpPr>
            <a:spLocks xmlns:a="http://schemas.openxmlformats.org/drawingml/2006/main" noGrp="1"/>
          </p:cNvSpPr>
          <p:nvPr/>
        </p:nvSpPr>
        <p:spPr>
          <a:xfrm xmlns:a="http://schemas.openxmlformats.org/drawingml/2006/main">
            <a:off x="7378943" y="2210277"/>
            <a:ext cx="438935" cy="438935"/>
          </a:xfrm>
          <a:prstGeom xmlns:a="http://schemas.openxmlformats.org/drawingml/2006/main" prst="roundRect">
            <a:avLst/>
          </a:prstGeom>
          <a:solidFill xmlns:a="http://schemas.openxmlformats.org/drawingml/2006/main">
            <a:srgbClr val="8760ED"/>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TextBox 84">
            <a:extLst xmlns:a="http://schemas.openxmlformats.org/drawingml/2006/main">
              <a:ext uri="{FF2B5EF4-FFF2-40B4-BE49-F238E27FC236}">
                <a16:creationId xmlns:a16="http://schemas.microsoft.com/office/drawing/2014/main" id="{D6521839-CBBC-F0AB-C993-5651C0F5FB9E}"/>
              </a:ext>
            </a:extLst>
          </p:cNvPr>
          <p:cNvSpPr>
            <a:spLocks xmlns:a="http://schemas.openxmlformats.org/drawingml/2006/main" noGrp="1"/>
          </p:cNvSpPr>
          <p:nvPr/>
        </p:nvSpPr>
        <p:spPr>
          <a:xfrm xmlns:a="http://schemas.openxmlformats.org/drawingml/2006/main">
            <a:off x="7059274" y="2649212"/>
            <a:ext cx="1078272"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100" b="1">
                <a:solidFill>
                  <a:schemeClr val="bg1">
                    <a:lumMod val="95000"/>
                  </a:schemeClr>
                </a:solidFill>
                <a:latin typeface="Montserrat"/>
                <a:ea typeface="Montserrat"/>
                <a:cs typeface="Montserrat"/>
              </a:rPr>
              <a:t>Evidence</a:t>
            </a:r>
          </a:p>
        </p:txBody>
      </p:sp>
      <p:sp>
        <p:nvSpPr>
          <p:cNvPr id="86" name="TextBox 85">
            <a:extLst xmlns:a="http://schemas.openxmlformats.org/drawingml/2006/main">
              <a:ext uri="{FF2B5EF4-FFF2-40B4-BE49-F238E27FC236}">
                <a16:creationId xmlns:a16="http://schemas.microsoft.com/office/drawing/2014/main" id="{94902961-06B1-DDB6-6193-55A308F1BEF7}"/>
              </a:ext>
            </a:extLst>
          </p:cNvPr>
          <p:cNvSpPr>
            <a:spLocks xmlns:a="http://schemas.openxmlformats.org/drawingml/2006/main" noGrp="1"/>
          </p:cNvSpPr>
          <p:nvPr/>
        </p:nvSpPr>
        <p:spPr>
          <a:xfrm xmlns:a="http://schemas.openxmlformats.org/drawingml/2006/main">
            <a:off x="6854948" y="3559623"/>
            <a:ext cx="1494936" cy="605790"/>
          </a:xfrm>
          <a:prstGeom xmlns:a="http://schemas.openxmlformats.org/drawingml/2006/main" prst="rect">
            <a:avLst/>
          </a:prstGeom>
          <a:noFill xmlns:a="http://schemas.openxmlformats.org/drawingml/2006/main"/>
        </p:spPr>
        <p:txBody>
          <a:bodyPr xmlns:a="http://schemas.openxmlformats.org/drawingml/2006/main" wrap="square">
            <a:normAutofit/>
          </a:bodyPr>
          <a:lstStyle xmlns:a="http://schemas.openxmlformats.org/drawingml/2006/main"/>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Sources and validation</a:t>
            </a:r>
          </a:p>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Filters and row counts</a:t>
            </a:r>
          </a:p>
          <a:p xmlns:a="http://schemas.openxmlformats.org/drawingml/2006/main">
            <a:pPr marL="171450" indent="-171450">
              <a:lnSpc>
                <a:spcPct val="150000"/>
              </a:lnSpc>
              <a:buFont typeface="Arial"/>
              <a:buChar char="•"/>
              <a:defRPr sz="750">
                <a:solidFill>
                  <a:srgbClr val="F1F5F9"/>
                </a:solidFill>
                <a:latin typeface="Trebuchet MS"/>
                <a:ea typeface="Trebuchet MS"/>
                <a:cs typeface="Trebuchet MS"/>
              </a:defRPr>
            </a:pPr>
            <a:r>
              <a:rPr sz="750">
                <a:solidFill>
                  <a:srgbClr val="F1F5F9"/>
                </a:solidFill>
                <a:latin typeface="Trebuchet MS"/>
                <a:ea typeface="Trebuchet MS"/>
                <a:cs typeface="Trebuchet MS"/>
              </a:rPr>
              <a:t>Output path and size</a:t>
            </a:r>
          </a:p>
        </p:txBody>
      </p:sp>
      <p:sp>
        <p:nvSpPr>
          <p:cNvPr id="87" name="TextBox 86">
            <a:extLst xmlns:a="http://schemas.openxmlformats.org/drawingml/2006/main">
              <a:ext uri="{FF2B5EF4-FFF2-40B4-BE49-F238E27FC236}">
                <a16:creationId xmlns:a16="http://schemas.microsoft.com/office/drawing/2014/main" id="{782FA7FE-9C0C-4213-4B6F-CAE58CD48669}"/>
              </a:ext>
            </a:extLst>
          </p:cNvPr>
          <p:cNvSpPr>
            <a:spLocks xmlns:a="http://schemas.openxmlformats.org/drawingml/2006/main" noGrp="1"/>
          </p:cNvSpPr>
          <p:nvPr/>
        </p:nvSpPr>
        <p:spPr>
          <a:xfrm xmlns:a="http://schemas.openxmlformats.org/drawingml/2006/main">
            <a:off x="7059274" y="3239821"/>
            <a:ext cx="1078272"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800">
                <a:solidFill>
                  <a:schemeClr val="bg2">
                    <a:lumMod val="75000"/>
                  </a:schemeClr>
                </a:solidFill>
                <a:latin typeface="Bahnschrift Condensed"/>
                <a:ea typeface="Bahnschrift Condensed"/>
                <a:cs typeface="Bahnschrift Condensed"/>
              </a:rPr>
              <a:t>report per export</a:t>
            </a:r>
          </a:p>
        </p:txBody>
      </p:sp>
      <p:sp>
        <p:nvSpPr>
          <p:cNvPr id="88" name="TextBox 87">
            <a:extLst xmlns:a="http://schemas.openxmlformats.org/drawingml/2006/main">
              <a:ext uri="{FF2B5EF4-FFF2-40B4-BE49-F238E27FC236}">
                <a16:creationId xmlns:a16="http://schemas.microsoft.com/office/drawing/2014/main" id="{E6E0617A-26B3-A51B-4999-F6FEDC133E7C}"/>
              </a:ext>
            </a:extLst>
          </p:cNvPr>
          <p:cNvSpPr>
            <a:spLocks xmlns:a="http://schemas.openxmlformats.org/drawingml/2006/main" noGrp="1"/>
          </p:cNvSpPr>
          <p:nvPr/>
        </p:nvSpPr>
        <p:spPr>
          <a:xfrm xmlns:a="http://schemas.openxmlformats.org/drawingml/2006/main">
            <a:off x="6846935" y="2787195"/>
            <a:ext cx="1502949" cy="5539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000" b="1">
                <a:solidFill>
                  <a:srgbClr val="8760ED"/>
                </a:solidFill>
                <a:latin typeface="Montserrat"/>
                <a:ea typeface="Montserrat"/>
                <a:cs typeface="Montserrat"/>
              </a:rPr>
              <a:t>1</a:t>
            </a:r>
          </a:p>
        </p:txBody>
      </p:sp>
      <p:pic>
        <p:nvPicPr>
          <p:cNvPr id="130" name="Picture 88"/>
          <p:cNvPicPr>
            <a:picLocks xmlns:a="http://schemas.openxmlformats.org/drawingml/2006/main" noChangeAspect="1"/>
          </p:cNvPicPr>
          <p:nvPr/>
        </p:nvPicPr>
        <p:blipFill>
          <a:blip xmlns:r="http://schemas.openxmlformats.org/officeDocument/2006/relationships" xmlns:a="http://schemas.openxmlformats.org/drawingml/2006/main" r:embed="R567e939cbded45cf"/>
          <a:srcRect xmlns:a="http://schemas.openxmlformats.org/drawingml/2006/main" l="0" t="0" r="0" b="0"/>
          <a:stretch xmlns:a="http://schemas.openxmlformats.org/drawingml/2006/main"/>
        </p:blipFill>
        <p:spPr>
          <a:xfrm xmlns:a="http://schemas.openxmlformats.org/drawingml/2006/main">
            <a:off x="7391813" y="2220848"/>
            <a:ext cx="413192" cy="413192"/>
          </a:xfrm>
          <a:prstGeom xmlns:a="http://schemas.openxmlformats.org/drawingml/2006/main" prst="rect">
            <a:avLst/>
          </a:prstGeom>
        </p:spPr>
      </p:pic>
      <p:pic>
        <p:nvPicPr>
          <p:cNvPr id="131" name="Picture 130"/>
          <p:cNvPicPr>
            <a:picLocks xmlns:a="http://schemas.openxmlformats.org/drawingml/2006/main" noChangeAspect="1"/>
          </p:cNvPicPr>
          <p:nvPr/>
        </p:nvPicPr>
        <p:blipFill>
          <a:blip xmlns:r="http://schemas.openxmlformats.org/officeDocument/2006/relationships" xmlns:a="http://schemas.openxmlformats.org/drawingml/2006/main" r:embed="R286ce9f911ad4b8d"/>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Tree>
    <p:extLst>
      <p:ext uri="{BB962C8B-B14F-4D97-AF65-F5344CB8AC3E}">
        <p14:creationId xmlns:p14="http://schemas.microsoft.com/office/powerpoint/2010/main" val="1073064814"/>
      </p:ext>
    </p:extLst>
  </p:cSld>
</p:sld>
</file>

<file path=ppt/slides/slide13.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8E87C3-FCAC-420E-8914-CA4472A68006}"/>
              </a:ext>
            </a:extLst>
          </p:cNvPr>
          <p:cNvSpPr>
            <a:spLocks xmlns:a="http://schemas.openxmlformats.org/drawingml/2006/main" noGrp="1"/>
          </p:cNvSpPr>
          <p:nvPr/>
        </p:nvSpPr>
        <p:spPr>
          <a:xfrm xmlns:a="http://schemas.openxmlformats.org/drawingml/2006/main">
            <a:off x="2743200" y="914400"/>
            <a:ext cx="3657600" cy="3657600"/>
          </a:xfrm>
          <a:prstGeom xmlns:a="http://schemas.openxmlformats.org/drawingml/2006/main" prst="ellipse">
            <a:avLst/>
          </a:prstGeom>
          <a:solidFill xmlns:a="http://schemas.openxmlformats.org/drawingml/2006/main">
            <a:srgbClr val="1E3A8A">
              <a:alpha val="20000"/>
            </a:srgbClr>
          </a:solidFill>
          <a:ln xmlns:a="http://schemas.openxmlformats.org/drawingml/2006/main" w="12700">
            <a:solidFill>
              <a:srgbClr val="1E3A8A">
                <a:alpha val="20000"/>
              </a:srgbClr>
            </a:solidFill>
            <a:prstDash val="solid"/>
          </a:ln>
        </p:spPr>
      </p:sp>
      <p:sp>
        <p:nvSpPr>
          <p:cNvPr id="3" name="Text 1">
            <a:extLst xmlns:a="http://schemas.openxmlformats.org/drawingml/2006/main">
              <a:ext uri="{FF2B5EF4-FFF2-40B4-BE49-F238E27FC236}">
                <a16:creationId xmlns:a16="http://schemas.microsoft.com/office/drawing/2014/main" id="{049B443E-0E3C-4053-B34D-E75DE23FCBA3}"/>
              </a:ext>
            </a:extLst>
          </p:cNvPr>
          <p:cNvSpPr>
            <a:spLocks xmlns:a="http://schemas.openxmlformats.org/drawingml/2006/main" noGrp="1"/>
          </p:cNvSpPr>
          <p:nvPr/>
        </p:nvSpPr>
        <p:spPr>
          <a:xfrm xmlns:a="http://schemas.openxmlformats.org/drawingml/2006/main">
            <a:off x="457200" y="256032"/>
            <a:ext cx="82296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a:solidFill>
                  <a:srgbClr val="FFFFFF"/>
                </a:solidFill>
                <a:latin typeface="Arial Black"/>
                <a:ea typeface="Arial Black"/>
                <a:cs typeface="Arial Black"/>
              </a:rPr>
              <a:t>Release Path</a:t>
            </a:r>
            <a:endParaRPr sz="3600"/>
          </a:p>
        </p:txBody>
      </p:sp>
      <p:sp>
        <p:nvSpPr>
          <p:cNvPr id="4" name="Text 2">
            <a:extLst xmlns:a="http://schemas.openxmlformats.org/drawingml/2006/main">
              <a:ext uri="{FF2B5EF4-FFF2-40B4-BE49-F238E27FC236}">
                <a16:creationId xmlns:a16="http://schemas.microsoft.com/office/drawing/2014/main" id="{A4849664-2F17-4210-9BF3-53F2D05B90F6}"/>
              </a:ext>
            </a:extLst>
          </p:cNvPr>
          <p:cNvSpPr>
            <a:spLocks xmlns:a="http://schemas.openxmlformats.org/drawingml/2006/main" noGrp="1"/>
          </p:cNvSpPr>
          <p:nvPr/>
        </p:nvSpPr>
        <p:spPr>
          <a:xfrm xmlns:a="http://schemas.openxmlformats.org/drawingml/2006/main">
            <a:off x="457200" y="804672"/>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Trebuchet MS"/>
                <a:ea typeface="Trebuchet MS"/>
                <a:cs typeface="Trebuchet MS"/>
              </a:rPr>
              <a:t>Production today, controlled preview next, managed rollout after approval.</a:t>
            </a:r>
            <a:endParaRPr sz="1400"/>
          </a:p>
        </p:txBody>
      </p:sp>
      <p:sp>
        <p:nvSpPr>
          <p:cNvPr id="5" name="Shape 3">
            <a:extLst xmlns:a="http://schemas.openxmlformats.org/drawingml/2006/main">
              <a:ext uri="{FF2B5EF4-FFF2-40B4-BE49-F238E27FC236}">
                <a16:creationId xmlns:a16="http://schemas.microsoft.com/office/drawing/2014/main" id="{146AC029-4469-46AE-B82C-8BAA4BB4E7D9}"/>
              </a:ext>
            </a:extLst>
          </p:cNvPr>
          <p:cNvSpPr>
            <a:spLocks xmlns:a="http://schemas.openxmlformats.org/drawingml/2006/main" noGrp="1"/>
          </p:cNvSpPr>
          <p:nvPr/>
        </p:nvSpPr>
        <p:spPr>
          <a:xfrm xmlns:a="http://schemas.openxmlformats.org/drawingml/2006/main">
            <a:off x="274320" y="1261872"/>
            <a:ext cx="2743200" cy="3639312"/>
          </a:xfrm>
          <a:prstGeom xmlns:a="http://schemas.openxmlformats.org/drawingml/2006/main" prst="rect">
            <a:avLst/>
          </a:prstGeom>
          <a:solidFill xmlns:a="http://schemas.openxmlformats.org/drawingml/2006/main">
            <a:srgbClr val="1E2A3B"/>
          </a:solidFill>
          <a:ln xmlns:a="http://schemas.openxmlformats.org/drawingml/2006/main" w="19050">
            <a:solidFill>
              <a:srgbClr val="10B981"/>
            </a:solidFill>
            <a:prstDash val="solid"/>
          </a:ln>
          <a:effectLst xmlns:a="http://schemas.openxmlformats.org/drawingml/2006/main">
            <a:outerShdw blurRad="127000" dist="38100" dir="8100000" algn="bl" rotWithShape="0">
              <a:srgbClr val="000000">
                <a:alpha val="30000"/>
              </a:srgbClr>
            </a:outerShdw>
          </a:effectLst>
        </p:spPr>
      </p:sp>
      <p:sp>
        <p:nvSpPr>
          <p:cNvPr id="6" name="Shape 4">
            <a:extLst xmlns:a="http://schemas.openxmlformats.org/drawingml/2006/main">
              <a:ext uri="{FF2B5EF4-FFF2-40B4-BE49-F238E27FC236}">
                <a16:creationId xmlns:a16="http://schemas.microsoft.com/office/drawing/2014/main" id="{D7303311-9072-4E75-9AF5-12D84C31ADA6}"/>
              </a:ext>
            </a:extLst>
          </p:cNvPr>
          <p:cNvSpPr>
            <a:spLocks xmlns:a="http://schemas.openxmlformats.org/drawingml/2006/main" noGrp="1"/>
          </p:cNvSpPr>
          <p:nvPr/>
        </p:nvSpPr>
        <p:spPr>
          <a:xfrm xmlns:a="http://schemas.openxmlformats.org/drawingml/2006/main">
            <a:off x="274320" y="1261872"/>
            <a:ext cx="2743200" cy="438912"/>
          </a:xfrm>
          <a:prstGeom xmlns:a="http://schemas.openxmlformats.org/drawingml/2006/main" prst="rect">
            <a:avLst/>
          </a:prstGeom>
          <a:solidFill xmlns:a="http://schemas.openxmlformats.org/drawingml/2006/main">
            <a:srgbClr val="10B981"/>
          </a:solidFill>
          <a:ln xmlns:a="http://schemas.openxmlformats.org/drawingml/2006/main" w="12700">
            <a:solidFill>
              <a:srgbClr val="10B981"/>
            </a:solidFill>
            <a:prstDash val="solid"/>
          </a:ln>
        </p:spPr>
      </p:sp>
      <p:sp>
        <p:nvSpPr>
          <p:cNvPr id="7" name="Text 5">
            <a:extLst xmlns:a="http://schemas.openxmlformats.org/drawingml/2006/main">
              <a:ext uri="{FF2B5EF4-FFF2-40B4-BE49-F238E27FC236}">
                <a16:creationId xmlns:a16="http://schemas.microsoft.com/office/drawing/2014/main" id="{D8FB4D76-914B-4EF7-A5CD-9EE04885D5DB}"/>
              </a:ext>
            </a:extLst>
          </p:cNvPr>
          <p:cNvSpPr>
            <a:spLocks xmlns:a="http://schemas.openxmlformats.org/drawingml/2006/main" noGrp="1"/>
          </p:cNvSpPr>
          <p:nvPr/>
        </p:nvSpPr>
        <p:spPr>
          <a:xfrm xmlns:a="http://schemas.openxmlformats.org/drawingml/2006/main">
            <a:off x="274320" y="1261872"/>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Black"/>
                <a:ea typeface="Arial Black"/>
                <a:cs typeface="Arial Black"/>
              </a:rPr>
              <a:t>NOW: v3.0 PRODUCTION</a:t>
            </a:r>
            <a:endParaRPr sz="1100"/>
          </a:p>
        </p:txBody>
      </p:sp>
      <p:sp>
        <p:nvSpPr>
          <p:cNvPr id="8" name="Shape 6">
            <a:extLst xmlns:a="http://schemas.openxmlformats.org/drawingml/2006/main">
              <a:ext uri="{FF2B5EF4-FFF2-40B4-BE49-F238E27FC236}">
                <a16:creationId xmlns:a16="http://schemas.microsoft.com/office/drawing/2014/main" id="{EF1EB7C9-CF7D-4F2E-B337-672372577E82}"/>
              </a:ext>
            </a:extLst>
          </p:cNvPr>
          <p:cNvSpPr>
            <a:spLocks xmlns:a="http://schemas.openxmlformats.org/drawingml/2006/main" noGrp="1"/>
          </p:cNvSpPr>
          <p:nvPr/>
        </p:nvSpPr>
        <p:spPr>
          <a:xfrm xmlns:a="http://schemas.openxmlformats.org/drawingml/2006/main">
            <a:off x="475488" y="1883664"/>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9" name="Text 7">
            <a:extLst xmlns:a="http://schemas.openxmlformats.org/drawingml/2006/main">
              <a:ext uri="{FF2B5EF4-FFF2-40B4-BE49-F238E27FC236}">
                <a16:creationId xmlns:a16="http://schemas.microsoft.com/office/drawing/2014/main" id="{E31DD417-112E-407C-9B0D-49B680727E3D}"/>
              </a:ext>
            </a:extLst>
          </p:cNvPr>
          <p:cNvSpPr>
            <a:spLocks xmlns:a="http://schemas.openxmlformats.org/drawingml/2006/main" noGrp="1"/>
          </p:cNvSpPr>
          <p:nvPr/>
        </p:nvSpPr>
        <p:spPr>
          <a:xfrm xmlns:a="http://schemas.openxmlformats.org/drawingml/2006/main">
            <a:off x="731520" y="1828800"/>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Guided four-stage workflow</a:t>
            </a:r>
            <a:endParaRPr sz="1050"/>
          </a:p>
        </p:txBody>
      </p:sp>
      <p:sp>
        <p:nvSpPr>
          <p:cNvPr id="10" name="Shape 8">
            <a:extLst xmlns:a="http://schemas.openxmlformats.org/drawingml/2006/main">
              <a:ext uri="{FF2B5EF4-FFF2-40B4-BE49-F238E27FC236}">
                <a16:creationId xmlns:a16="http://schemas.microsoft.com/office/drawing/2014/main" id="{CD8A0562-5B4A-449D-B9F9-92790C7A5564}"/>
              </a:ext>
            </a:extLst>
          </p:cNvPr>
          <p:cNvSpPr>
            <a:spLocks xmlns:a="http://schemas.openxmlformats.org/drawingml/2006/main" noGrp="1"/>
          </p:cNvSpPr>
          <p:nvPr/>
        </p:nvSpPr>
        <p:spPr>
          <a:xfrm xmlns:a="http://schemas.openxmlformats.org/drawingml/2006/main">
            <a:off x="475488" y="2359152"/>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1" name="Text 9">
            <a:extLst xmlns:a="http://schemas.openxmlformats.org/drawingml/2006/main">
              <a:ext uri="{FF2B5EF4-FFF2-40B4-BE49-F238E27FC236}">
                <a16:creationId xmlns:a16="http://schemas.microsoft.com/office/drawing/2014/main" id="{26B68989-DB0F-442D-B783-AB88401E6900}"/>
              </a:ext>
            </a:extLst>
          </p:cNvPr>
          <p:cNvSpPr>
            <a:spLocks xmlns:a="http://schemas.openxmlformats.org/drawingml/2006/main" noGrp="1"/>
          </p:cNvSpPr>
          <p:nvPr/>
        </p:nvSpPr>
        <p:spPr>
          <a:xfrm xmlns:a="http://schemas.openxmlformats.org/drawingml/2006/main">
            <a:off x="731520" y="2304288"/>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Reference-based validation</a:t>
            </a:r>
            <a:endParaRPr sz="1050"/>
          </a:p>
        </p:txBody>
      </p:sp>
      <p:sp>
        <p:nvSpPr>
          <p:cNvPr id="12" name="Shape 10">
            <a:extLst xmlns:a="http://schemas.openxmlformats.org/drawingml/2006/main">
              <a:ext uri="{FF2B5EF4-FFF2-40B4-BE49-F238E27FC236}">
                <a16:creationId xmlns:a16="http://schemas.microsoft.com/office/drawing/2014/main" id="{C8DA9606-FB6F-45F6-8CC6-522645746DCF}"/>
              </a:ext>
            </a:extLst>
          </p:cNvPr>
          <p:cNvSpPr>
            <a:spLocks xmlns:a="http://schemas.openxmlformats.org/drawingml/2006/main" noGrp="1"/>
          </p:cNvSpPr>
          <p:nvPr/>
        </p:nvSpPr>
        <p:spPr>
          <a:xfrm xmlns:a="http://schemas.openxmlformats.org/drawingml/2006/main">
            <a:off x="475488" y="2834640"/>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3" name="Text 11">
            <a:extLst xmlns:a="http://schemas.openxmlformats.org/drawingml/2006/main">
              <a:ext uri="{FF2B5EF4-FFF2-40B4-BE49-F238E27FC236}">
                <a16:creationId xmlns:a16="http://schemas.microsoft.com/office/drawing/2014/main" id="{7ABC7DCA-12DF-432F-8BF4-6427283017E2}"/>
              </a:ext>
            </a:extLst>
          </p:cNvPr>
          <p:cNvSpPr>
            <a:spLocks xmlns:a="http://schemas.openxmlformats.org/drawingml/2006/main" noGrp="1"/>
          </p:cNvSpPr>
          <p:nvPr/>
        </p:nvSpPr>
        <p:spPr>
          <a:xfrm xmlns:a="http://schemas.openxmlformats.org/drawingml/2006/main">
            <a:off x="731520" y="2779776"/>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4 export modes, including CSV-Text</a:t>
            </a:r>
            <a:endParaRPr sz="1050"/>
          </a:p>
        </p:txBody>
      </p:sp>
      <p:sp>
        <p:nvSpPr>
          <p:cNvPr id="14" name="Shape 12">
            <a:extLst xmlns:a="http://schemas.openxmlformats.org/drawingml/2006/main">
              <a:ext uri="{FF2B5EF4-FFF2-40B4-BE49-F238E27FC236}">
                <a16:creationId xmlns:a16="http://schemas.microsoft.com/office/drawing/2014/main" id="{38621F12-037D-470E-B8D0-6F080F744823}"/>
              </a:ext>
            </a:extLst>
          </p:cNvPr>
          <p:cNvSpPr>
            <a:spLocks xmlns:a="http://schemas.openxmlformats.org/drawingml/2006/main" noGrp="1"/>
          </p:cNvSpPr>
          <p:nvPr/>
        </p:nvSpPr>
        <p:spPr>
          <a:xfrm xmlns:a="http://schemas.openxmlformats.org/drawingml/2006/main">
            <a:off x="475488" y="3310128"/>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5" name="Text 13">
            <a:extLst xmlns:a="http://schemas.openxmlformats.org/drawingml/2006/main">
              <a:ext uri="{FF2B5EF4-FFF2-40B4-BE49-F238E27FC236}">
                <a16:creationId xmlns:a16="http://schemas.microsoft.com/office/drawing/2014/main" id="{2723791E-3C1E-47FF-B21A-2FA4A60AB258}"/>
              </a:ext>
            </a:extLst>
          </p:cNvPr>
          <p:cNvSpPr>
            <a:spLocks xmlns:a="http://schemas.openxmlformats.org/drawingml/2006/main" noGrp="1"/>
          </p:cNvSpPr>
          <p:nvPr/>
        </p:nvSpPr>
        <p:spPr>
          <a:xfrm xmlns:a="http://schemas.openxmlformats.org/drawingml/2006/main">
            <a:off x="731520" y="3255264"/>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Parallel validation and fast combine</a:t>
            </a:r>
            <a:endParaRPr sz="1050"/>
          </a:p>
        </p:txBody>
      </p:sp>
      <p:sp>
        <p:nvSpPr>
          <p:cNvPr id="16" name="Shape 14">
            <a:extLst xmlns:a="http://schemas.openxmlformats.org/drawingml/2006/main">
              <a:ext uri="{FF2B5EF4-FFF2-40B4-BE49-F238E27FC236}">
                <a16:creationId xmlns:a16="http://schemas.microsoft.com/office/drawing/2014/main" id="{0F2129E8-1EC8-488E-8481-CEC5238ED734}"/>
              </a:ext>
            </a:extLst>
          </p:cNvPr>
          <p:cNvSpPr>
            <a:spLocks xmlns:a="http://schemas.openxmlformats.org/drawingml/2006/main" noGrp="1"/>
          </p:cNvSpPr>
          <p:nvPr/>
        </p:nvSpPr>
        <p:spPr>
          <a:xfrm xmlns:a="http://schemas.openxmlformats.org/drawingml/2006/main">
            <a:off x="475488" y="3785616"/>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7" name="Text 15">
            <a:extLst xmlns:a="http://schemas.openxmlformats.org/drawingml/2006/main">
              <a:ext uri="{FF2B5EF4-FFF2-40B4-BE49-F238E27FC236}">
                <a16:creationId xmlns:a16="http://schemas.microsoft.com/office/drawing/2014/main" id="{FC3380B6-4A6B-4708-BBF5-E89646527212}"/>
              </a:ext>
            </a:extLst>
          </p:cNvPr>
          <p:cNvSpPr>
            <a:spLocks xmlns:a="http://schemas.openxmlformats.org/drawingml/2006/main" noGrp="1"/>
          </p:cNvSpPr>
          <p:nvPr/>
        </p:nvSpPr>
        <p:spPr>
          <a:xfrm xmlns:a="http://schemas.openxmlformats.org/drawingml/2006/main">
            <a:off x="731520" y="3730752"/>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Validation sheet and local audit report</a:t>
            </a:r>
            <a:endParaRPr sz="1050"/>
          </a:p>
        </p:txBody>
      </p:sp>
      <p:sp>
        <p:nvSpPr>
          <p:cNvPr id="18" name="Shape 16">
            <a:extLst xmlns:a="http://schemas.openxmlformats.org/drawingml/2006/main">
              <a:ext uri="{FF2B5EF4-FFF2-40B4-BE49-F238E27FC236}">
                <a16:creationId xmlns:a16="http://schemas.microsoft.com/office/drawing/2014/main" id="{2BE79E68-9EA9-479F-A806-64C2EA945DB1}"/>
              </a:ext>
            </a:extLst>
          </p:cNvPr>
          <p:cNvSpPr>
            <a:spLocks xmlns:a="http://schemas.openxmlformats.org/drawingml/2006/main" noGrp="1"/>
          </p:cNvSpPr>
          <p:nvPr/>
        </p:nvSpPr>
        <p:spPr>
          <a:xfrm xmlns:a="http://schemas.openxmlformats.org/drawingml/2006/main">
            <a:off x="475488" y="4261104"/>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9" name="Text 17">
            <a:extLst xmlns:a="http://schemas.openxmlformats.org/drawingml/2006/main">
              <a:ext uri="{FF2B5EF4-FFF2-40B4-BE49-F238E27FC236}">
                <a16:creationId xmlns:a16="http://schemas.microsoft.com/office/drawing/2014/main" id="{E788AEB8-B1E1-4183-A9AB-C0E487421631}"/>
              </a:ext>
            </a:extLst>
          </p:cNvPr>
          <p:cNvSpPr>
            <a:spLocks xmlns:a="http://schemas.openxmlformats.org/drawingml/2006/main" noGrp="1"/>
          </p:cNvSpPr>
          <p:nvPr/>
        </p:nvSpPr>
        <p:spPr>
          <a:xfrm xmlns:a="http://schemas.openxmlformats.org/drawingml/2006/main">
            <a:off x="731520" y="4206240"/>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RAM guard, progress, ETA and cancel</a:t>
            </a:r>
            <a:endParaRPr sz="1050"/>
          </a:p>
        </p:txBody>
      </p:sp>
      <p:sp>
        <p:nvSpPr>
          <p:cNvPr id="20" name="Shape 18">
            <a:extLst xmlns:a="http://schemas.openxmlformats.org/drawingml/2006/main">
              <a:ext uri="{FF2B5EF4-FFF2-40B4-BE49-F238E27FC236}">
                <a16:creationId xmlns:a16="http://schemas.microsoft.com/office/drawing/2014/main" id="{CDCEC8F4-56B7-4BCA-8F25-723B56898CD6}"/>
              </a:ext>
            </a:extLst>
          </p:cNvPr>
          <p:cNvSpPr>
            <a:spLocks xmlns:a="http://schemas.openxmlformats.org/drawingml/2006/main" noGrp="1"/>
          </p:cNvSpPr>
          <p:nvPr/>
        </p:nvSpPr>
        <p:spPr>
          <a:xfrm xmlns:a="http://schemas.openxmlformats.org/drawingml/2006/main">
            <a:off x="3218688" y="1261872"/>
            <a:ext cx="2743200" cy="3639312"/>
          </a:xfrm>
          <a:prstGeom xmlns:a="http://schemas.openxmlformats.org/drawingml/2006/main" prst="rect">
            <a:avLst/>
          </a:prstGeom>
          <a:solidFill xmlns:a="http://schemas.openxmlformats.org/drawingml/2006/main">
            <a:srgbClr val="1E2A3B"/>
          </a:solidFill>
          <a:ln xmlns:a="http://schemas.openxmlformats.org/drawingml/2006/main" w="19050">
            <a:solidFill>
              <a:srgbClr val="3B82F6"/>
            </a:solidFill>
            <a:prstDash val="solid"/>
          </a:ln>
          <a:effectLst xmlns:a="http://schemas.openxmlformats.org/drawingml/2006/main">
            <a:outerShdw blurRad="127000" dist="38100" dir="8100000" algn="bl" rotWithShape="0">
              <a:srgbClr val="000000">
                <a:alpha val="30000"/>
              </a:srgbClr>
            </a:outerShdw>
          </a:effectLst>
        </p:spPr>
      </p:sp>
      <p:sp>
        <p:nvSpPr>
          <p:cNvPr id="21" name="Shape 19">
            <a:extLst xmlns:a="http://schemas.openxmlformats.org/drawingml/2006/main">
              <a:ext uri="{FF2B5EF4-FFF2-40B4-BE49-F238E27FC236}">
                <a16:creationId xmlns:a16="http://schemas.microsoft.com/office/drawing/2014/main" id="{A056BB28-5FBA-4FE3-9A65-AECFF6DAF4E6}"/>
              </a:ext>
            </a:extLst>
          </p:cNvPr>
          <p:cNvSpPr>
            <a:spLocks xmlns:a="http://schemas.openxmlformats.org/drawingml/2006/main" noGrp="1"/>
          </p:cNvSpPr>
          <p:nvPr/>
        </p:nvSpPr>
        <p:spPr>
          <a:xfrm xmlns:a="http://schemas.openxmlformats.org/drawingml/2006/main">
            <a:off x="3218688" y="1261872"/>
            <a:ext cx="2743200" cy="438912"/>
          </a:xfrm>
          <a:prstGeom xmlns:a="http://schemas.openxmlformats.org/drawingml/2006/main" prst="rect">
            <a:avLst/>
          </a:prstGeom>
          <a:solidFill xmlns:a="http://schemas.openxmlformats.org/drawingml/2006/main">
            <a:srgbClr val="3B82F6"/>
          </a:solidFill>
          <a:ln xmlns:a="http://schemas.openxmlformats.org/drawingml/2006/main" w="12700">
            <a:solidFill>
              <a:srgbClr val="3B82F6"/>
            </a:solidFill>
            <a:prstDash val="solid"/>
          </a:ln>
        </p:spPr>
      </p:sp>
      <p:sp>
        <p:nvSpPr>
          <p:cNvPr id="22" name="Text 20">
            <a:extLst xmlns:a="http://schemas.openxmlformats.org/drawingml/2006/main">
              <a:ext uri="{FF2B5EF4-FFF2-40B4-BE49-F238E27FC236}">
                <a16:creationId xmlns:a16="http://schemas.microsoft.com/office/drawing/2014/main" id="{A1BCC3A4-3618-4A10-9B87-6B02A719FEDC}"/>
              </a:ext>
            </a:extLst>
          </p:cNvPr>
          <p:cNvSpPr>
            <a:spLocks xmlns:a="http://schemas.openxmlformats.org/drawingml/2006/main" noGrp="1"/>
          </p:cNvSpPr>
          <p:nvPr/>
        </p:nvSpPr>
        <p:spPr>
          <a:xfrm xmlns:a="http://schemas.openxmlformats.org/drawingml/2006/main">
            <a:off x="3218688" y="1261872"/>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Black"/>
                <a:ea typeface="Arial Black"/>
                <a:cs typeface="Arial Black"/>
              </a:rPr>
              <a:t>PREVIEW: v3.1</a:t>
            </a:r>
            <a:endParaRPr sz="1100"/>
          </a:p>
        </p:txBody>
      </p:sp>
      <p:sp>
        <p:nvSpPr>
          <p:cNvPr id="23" name="Shape 21">
            <a:extLst xmlns:a="http://schemas.openxmlformats.org/drawingml/2006/main">
              <a:ext uri="{FF2B5EF4-FFF2-40B4-BE49-F238E27FC236}">
                <a16:creationId xmlns:a16="http://schemas.microsoft.com/office/drawing/2014/main" id="{2D0E357E-055F-467F-8701-3AFDBF7892ED}"/>
              </a:ext>
            </a:extLst>
          </p:cNvPr>
          <p:cNvSpPr>
            <a:spLocks xmlns:a="http://schemas.openxmlformats.org/drawingml/2006/main" noGrp="1"/>
          </p:cNvSpPr>
          <p:nvPr/>
        </p:nvSpPr>
        <p:spPr>
          <a:xfrm xmlns:a="http://schemas.openxmlformats.org/drawingml/2006/main">
            <a:off x="3419856" y="1883664"/>
            <a:ext cx="164592" cy="1645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24" name="Text 22">
            <a:extLst xmlns:a="http://schemas.openxmlformats.org/drawingml/2006/main">
              <a:ext uri="{FF2B5EF4-FFF2-40B4-BE49-F238E27FC236}">
                <a16:creationId xmlns:a16="http://schemas.microsoft.com/office/drawing/2014/main" id="{B6D8FF90-5253-4895-BB71-FCEB0F707BA4}"/>
              </a:ext>
            </a:extLst>
          </p:cNvPr>
          <p:cNvSpPr>
            <a:spLocks xmlns:a="http://schemas.openxmlformats.org/drawingml/2006/main" noGrp="1"/>
          </p:cNvSpPr>
          <p:nvPr/>
        </p:nvSpPr>
        <p:spPr>
          <a:xfrm xmlns:a="http://schemas.openxmlformats.org/drawingml/2006/main">
            <a:off x="3675888" y="1828800"/>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Project presets</a:t>
            </a:r>
            <a:endParaRPr sz="1050"/>
          </a:p>
        </p:txBody>
      </p:sp>
      <p:sp>
        <p:nvSpPr>
          <p:cNvPr id="25" name="Shape 23">
            <a:extLst xmlns:a="http://schemas.openxmlformats.org/drawingml/2006/main">
              <a:ext uri="{FF2B5EF4-FFF2-40B4-BE49-F238E27FC236}">
                <a16:creationId xmlns:a16="http://schemas.microsoft.com/office/drawing/2014/main" id="{7565C16F-AC51-4252-B86A-E52BEF52FE21}"/>
              </a:ext>
            </a:extLst>
          </p:cNvPr>
          <p:cNvSpPr>
            <a:spLocks xmlns:a="http://schemas.openxmlformats.org/drawingml/2006/main" noGrp="1"/>
          </p:cNvSpPr>
          <p:nvPr/>
        </p:nvSpPr>
        <p:spPr>
          <a:xfrm xmlns:a="http://schemas.openxmlformats.org/drawingml/2006/main">
            <a:off x="3419856" y="2359152"/>
            <a:ext cx="164592" cy="1645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26" name="Text 24">
            <a:extLst xmlns:a="http://schemas.openxmlformats.org/drawingml/2006/main">
              <a:ext uri="{FF2B5EF4-FFF2-40B4-BE49-F238E27FC236}">
                <a16:creationId xmlns:a16="http://schemas.microsoft.com/office/drawing/2014/main" id="{AA2E4006-3D47-4C88-B018-176782E009B4}"/>
              </a:ext>
            </a:extLst>
          </p:cNvPr>
          <p:cNvSpPr>
            <a:spLocks xmlns:a="http://schemas.openxmlformats.org/drawingml/2006/main" noGrp="1"/>
          </p:cNvSpPr>
          <p:nvPr/>
        </p:nvSpPr>
        <p:spPr>
          <a:xfrm xmlns:a="http://schemas.openxmlformats.org/drawingml/2006/main">
            <a:off x="3675888" y="2304288"/>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Privacy-safe diagnostics</a:t>
            </a:r>
            <a:endParaRPr sz="1050"/>
          </a:p>
        </p:txBody>
      </p:sp>
      <p:sp>
        <p:nvSpPr>
          <p:cNvPr id="27" name="Shape 25">
            <a:extLst xmlns:a="http://schemas.openxmlformats.org/drawingml/2006/main">
              <a:ext uri="{FF2B5EF4-FFF2-40B4-BE49-F238E27FC236}">
                <a16:creationId xmlns:a16="http://schemas.microsoft.com/office/drawing/2014/main" id="{7F773F59-605A-4500-99D7-50CDFB94A037}"/>
              </a:ext>
            </a:extLst>
          </p:cNvPr>
          <p:cNvSpPr>
            <a:spLocks xmlns:a="http://schemas.openxmlformats.org/drawingml/2006/main" noGrp="1"/>
          </p:cNvSpPr>
          <p:nvPr/>
        </p:nvSpPr>
        <p:spPr>
          <a:xfrm xmlns:a="http://schemas.openxmlformats.org/drawingml/2006/main">
            <a:off x="3419856" y="2834640"/>
            <a:ext cx="164592" cy="1645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28" name="Text 26">
            <a:extLst xmlns:a="http://schemas.openxmlformats.org/drawingml/2006/main">
              <a:ext uri="{FF2B5EF4-FFF2-40B4-BE49-F238E27FC236}">
                <a16:creationId xmlns:a16="http://schemas.microsoft.com/office/drawing/2014/main" id="{36F25B76-17F6-4E13-B4E0-BEB4AA60FA1D}"/>
              </a:ext>
            </a:extLst>
          </p:cNvPr>
          <p:cNvSpPr>
            <a:spLocks xmlns:a="http://schemas.openxmlformats.org/drawingml/2006/main" noGrp="1"/>
          </p:cNvSpPr>
          <p:nvPr/>
        </p:nvSpPr>
        <p:spPr>
          <a:xfrm xmlns:a="http://schemas.openxmlformats.org/drawingml/2006/main">
            <a:off x="3675888" y="2779776"/>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HD brand assets</a:t>
            </a:r>
            <a:endParaRPr sz="1050"/>
          </a:p>
        </p:txBody>
      </p:sp>
      <p:sp>
        <p:nvSpPr>
          <p:cNvPr id="29" name="Shape 27">
            <a:extLst xmlns:a="http://schemas.openxmlformats.org/drawingml/2006/main">
              <a:ext uri="{FF2B5EF4-FFF2-40B4-BE49-F238E27FC236}">
                <a16:creationId xmlns:a16="http://schemas.microsoft.com/office/drawing/2014/main" id="{4EB57B31-6CD7-4182-A91A-64A380ACEA66}"/>
              </a:ext>
            </a:extLst>
          </p:cNvPr>
          <p:cNvSpPr>
            <a:spLocks xmlns:a="http://schemas.openxmlformats.org/drawingml/2006/main" noGrp="1"/>
          </p:cNvSpPr>
          <p:nvPr/>
        </p:nvSpPr>
        <p:spPr>
          <a:xfrm xmlns:a="http://schemas.openxmlformats.org/drawingml/2006/main">
            <a:off x="3419856" y="3310128"/>
            <a:ext cx="164592" cy="1645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30" name="Text 28">
            <a:extLst xmlns:a="http://schemas.openxmlformats.org/drawingml/2006/main">
              <a:ext uri="{FF2B5EF4-FFF2-40B4-BE49-F238E27FC236}">
                <a16:creationId xmlns:a16="http://schemas.microsoft.com/office/drawing/2014/main" id="{6274ABC7-D419-4E49-B0F1-723C3B27B80E}"/>
              </a:ext>
            </a:extLst>
          </p:cNvPr>
          <p:cNvSpPr>
            <a:spLocks xmlns:a="http://schemas.openxmlformats.org/drawingml/2006/main" noGrp="1"/>
          </p:cNvSpPr>
          <p:nvPr/>
        </p:nvSpPr>
        <p:spPr>
          <a:xfrm xmlns:a="http://schemas.openxmlformats.org/drawingml/2006/main">
            <a:off x="3675888" y="3255264"/>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Code-signing workflow ready</a:t>
            </a:r>
            <a:endParaRPr sz="1050"/>
          </a:p>
        </p:txBody>
      </p:sp>
      <p:sp>
        <p:nvSpPr>
          <p:cNvPr id="31" name="Shape 29">
            <a:extLst xmlns:a="http://schemas.openxmlformats.org/drawingml/2006/main">
              <a:ext uri="{FF2B5EF4-FFF2-40B4-BE49-F238E27FC236}">
                <a16:creationId xmlns:a16="http://schemas.microsoft.com/office/drawing/2014/main" id="{1C045525-398C-451C-B3A6-3878BA910491}"/>
              </a:ext>
            </a:extLst>
          </p:cNvPr>
          <p:cNvSpPr>
            <a:spLocks xmlns:a="http://schemas.openxmlformats.org/drawingml/2006/main" noGrp="1"/>
          </p:cNvSpPr>
          <p:nvPr/>
        </p:nvSpPr>
        <p:spPr>
          <a:xfrm xmlns:a="http://schemas.openxmlformats.org/drawingml/2006/main">
            <a:off x="6163056" y="1261872"/>
            <a:ext cx="2743200" cy="3639312"/>
          </a:xfrm>
          <a:prstGeom xmlns:a="http://schemas.openxmlformats.org/drawingml/2006/main" prst="rect">
            <a:avLst/>
          </a:prstGeom>
          <a:solidFill xmlns:a="http://schemas.openxmlformats.org/drawingml/2006/main">
            <a:srgbClr val="1E2A3B"/>
          </a:solidFill>
          <a:ln xmlns:a="http://schemas.openxmlformats.org/drawingml/2006/main" w="19050">
            <a:solidFill>
              <a:srgbClr val="8B5CF6"/>
            </a:solidFill>
            <a:prstDash val="solid"/>
          </a:ln>
          <a:effectLst xmlns:a="http://schemas.openxmlformats.org/drawingml/2006/main">
            <a:outerShdw blurRad="127000" dist="38100" dir="8100000" algn="bl" rotWithShape="0">
              <a:srgbClr val="000000">
                <a:alpha val="30000"/>
              </a:srgbClr>
            </a:outerShdw>
          </a:effectLst>
        </p:spPr>
      </p:sp>
      <p:sp>
        <p:nvSpPr>
          <p:cNvPr id="32" name="Shape 30">
            <a:extLst xmlns:a="http://schemas.openxmlformats.org/drawingml/2006/main">
              <a:ext uri="{FF2B5EF4-FFF2-40B4-BE49-F238E27FC236}">
                <a16:creationId xmlns:a16="http://schemas.microsoft.com/office/drawing/2014/main" id="{8A87F834-351E-44B8-BC1F-07F47C21ED3B}"/>
              </a:ext>
            </a:extLst>
          </p:cNvPr>
          <p:cNvSpPr>
            <a:spLocks xmlns:a="http://schemas.openxmlformats.org/drawingml/2006/main" noGrp="1"/>
          </p:cNvSpPr>
          <p:nvPr/>
        </p:nvSpPr>
        <p:spPr>
          <a:xfrm xmlns:a="http://schemas.openxmlformats.org/drawingml/2006/main">
            <a:off x="6163056" y="1261872"/>
            <a:ext cx="2743200" cy="438912"/>
          </a:xfrm>
          <a:prstGeom xmlns:a="http://schemas.openxmlformats.org/drawingml/2006/main" prst="rect">
            <a:avLst/>
          </a:prstGeom>
          <a:solidFill xmlns:a="http://schemas.openxmlformats.org/drawingml/2006/main">
            <a:srgbClr val="8B5CF6"/>
          </a:solidFill>
          <a:ln xmlns:a="http://schemas.openxmlformats.org/drawingml/2006/main" w="12700">
            <a:solidFill>
              <a:srgbClr val="8B5CF6"/>
            </a:solidFill>
            <a:prstDash val="solid"/>
          </a:ln>
        </p:spPr>
      </p:sp>
      <p:sp>
        <p:nvSpPr>
          <p:cNvPr id="33" name="Text 31">
            <a:extLst xmlns:a="http://schemas.openxmlformats.org/drawingml/2006/main">
              <a:ext uri="{FF2B5EF4-FFF2-40B4-BE49-F238E27FC236}">
                <a16:creationId xmlns:a16="http://schemas.microsoft.com/office/drawing/2014/main" id="{7C858FF2-8359-45A0-9116-1E06D597A551}"/>
              </a:ext>
            </a:extLst>
          </p:cNvPr>
          <p:cNvSpPr>
            <a:spLocks xmlns:a="http://schemas.openxmlformats.org/drawingml/2006/main" noGrp="1"/>
          </p:cNvSpPr>
          <p:nvPr/>
        </p:nvSpPr>
        <p:spPr>
          <a:xfrm xmlns:a="http://schemas.openxmlformats.org/drawingml/2006/main">
            <a:off x="6163056" y="1261872"/>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Black"/>
                <a:ea typeface="Arial Black"/>
                <a:cs typeface="Arial Black"/>
              </a:rPr>
              <a:t>NEXT: MANAGED ROLLOUT</a:t>
            </a:r>
            <a:endParaRPr sz="1100"/>
          </a:p>
        </p:txBody>
      </p:sp>
      <p:sp>
        <p:nvSpPr>
          <p:cNvPr id="34" name="Shape 32">
            <a:extLst xmlns:a="http://schemas.openxmlformats.org/drawingml/2006/main">
              <a:ext uri="{FF2B5EF4-FFF2-40B4-BE49-F238E27FC236}">
                <a16:creationId xmlns:a16="http://schemas.microsoft.com/office/drawing/2014/main" id="{A8007DA8-8B64-41F8-A04E-B966796490D9}"/>
              </a:ext>
            </a:extLst>
          </p:cNvPr>
          <p:cNvSpPr>
            <a:spLocks xmlns:a="http://schemas.openxmlformats.org/drawingml/2006/main" noGrp="1"/>
          </p:cNvSpPr>
          <p:nvPr/>
        </p:nvSpPr>
        <p:spPr>
          <a:xfrm xmlns:a="http://schemas.openxmlformats.org/drawingml/2006/main">
            <a:off x="6364224" y="1883664"/>
            <a:ext cx="164592" cy="164592"/>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35" name="Text 33">
            <a:extLst xmlns:a="http://schemas.openxmlformats.org/drawingml/2006/main">
              <a:ext uri="{FF2B5EF4-FFF2-40B4-BE49-F238E27FC236}">
                <a16:creationId xmlns:a16="http://schemas.microsoft.com/office/drawing/2014/main" id="{455119C9-3CA4-42AA-A92E-8A80BAD85F16}"/>
              </a:ext>
            </a:extLst>
          </p:cNvPr>
          <p:cNvSpPr>
            <a:spLocks xmlns:a="http://schemas.openxmlformats.org/drawingml/2006/main" noGrp="1"/>
          </p:cNvSpPr>
          <p:nvPr/>
        </p:nvSpPr>
        <p:spPr>
          <a:xfrm xmlns:a="http://schemas.openxmlformats.org/drawingml/2006/main">
            <a:off x="6620256" y="1828800"/>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Organisation certificate signing</a:t>
            </a:r>
            <a:endParaRPr sz="1050"/>
          </a:p>
        </p:txBody>
      </p:sp>
      <p:sp>
        <p:nvSpPr>
          <p:cNvPr id="36" name="Shape 34">
            <a:extLst xmlns:a="http://schemas.openxmlformats.org/drawingml/2006/main">
              <a:ext uri="{FF2B5EF4-FFF2-40B4-BE49-F238E27FC236}">
                <a16:creationId xmlns:a16="http://schemas.microsoft.com/office/drawing/2014/main" id="{6597D391-AFD9-47AF-A6AE-9A556213A7AD}"/>
              </a:ext>
            </a:extLst>
          </p:cNvPr>
          <p:cNvSpPr>
            <a:spLocks xmlns:a="http://schemas.openxmlformats.org/drawingml/2006/main" noGrp="1"/>
          </p:cNvSpPr>
          <p:nvPr/>
        </p:nvSpPr>
        <p:spPr>
          <a:xfrm xmlns:a="http://schemas.openxmlformats.org/drawingml/2006/main">
            <a:off x="6364224" y="2359152"/>
            <a:ext cx="164592" cy="164592"/>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37" name="Text 35">
            <a:extLst xmlns:a="http://schemas.openxmlformats.org/drawingml/2006/main">
              <a:ext uri="{FF2B5EF4-FFF2-40B4-BE49-F238E27FC236}">
                <a16:creationId xmlns:a16="http://schemas.microsoft.com/office/drawing/2014/main" id="{3AE7C3C7-A078-488D-A131-2B649D6B80BC}"/>
              </a:ext>
            </a:extLst>
          </p:cNvPr>
          <p:cNvSpPr>
            <a:spLocks xmlns:a="http://schemas.openxmlformats.org/drawingml/2006/main" noGrp="1"/>
          </p:cNvSpPr>
          <p:nvPr/>
        </p:nvSpPr>
        <p:spPr>
          <a:xfrm xmlns:a="http://schemas.openxmlformats.org/drawingml/2006/main">
            <a:off x="6620256" y="2304288"/>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IT and security acceptance</a:t>
            </a:r>
            <a:endParaRPr sz="1050"/>
          </a:p>
        </p:txBody>
      </p:sp>
      <p:sp>
        <p:nvSpPr>
          <p:cNvPr id="38" name="Shape 36">
            <a:extLst xmlns:a="http://schemas.openxmlformats.org/drawingml/2006/main">
              <a:ext uri="{FF2B5EF4-FFF2-40B4-BE49-F238E27FC236}">
                <a16:creationId xmlns:a16="http://schemas.microsoft.com/office/drawing/2014/main" id="{DB7431C8-C5C0-42C4-B7A2-F5DA05E2162A}"/>
              </a:ext>
            </a:extLst>
          </p:cNvPr>
          <p:cNvSpPr>
            <a:spLocks xmlns:a="http://schemas.openxmlformats.org/drawingml/2006/main" noGrp="1"/>
          </p:cNvSpPr>
          <p:nvPr/>
        </p:nvSpPr>
        <p:spPr>
          <a:xfrm xmlns:a="http://schemas.openxmlformats.org/drawingml/2006/main">
            <a:off x="6364224" y="2834640"/>
            <a:ext cx="164592" cy="164592"/>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39" name="Text 37">
            <a:extLst xmlns:a="http://schemas.openxmlformats.org/drawingml/2006/main">
              <a:ext uri="{FF2B5EF4-FFF2-40B4-BE49-F238E27FC236}">
                <a16:creationId xmlns:a16="http://schemas.microsoft.com/office/drawing/2014/main" id="{B2585031-15AD-4354-90F1-77231BC7ADC0}"/>
              </a:ext>
            </a:extLst>
          </p:cNvPr>
          <p:cNvSpPr>
            <a:spLocks xmlns:a="http://schemas.openxmlformats.org/drawingml/2006/main" noGrp="1"/>
          </p:cNvSpPr>
          <p:nvPr/>
        </p:nvSpPr>
        <p:spPr>
          <a:xfrm xmlns:a="http://schemas.openxmlformats.org/drawingml/2006/main">
            <a:off x="6620256" y="2779776"/>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Benchmark on target devices</a:t>
            </a:r>
            <a:endParaRPr sz="1050"/>
          </a:p>
        </p:txBody>
      </p:sp>
      <p:sp>
        <p:nvSpPr>
          <p:cNvPr id="40" name="Shape 38">
            <a:extLst xmlns:a="http://schemas.openxmlformats.org/drawingml/2006/main">
              <a:ext uri="{FF2B5EF4-FFF2-40B4-BE49-F238E27FC236}">
                <a16:creationId xmlns:a16="http://schemas.microsoft.com/office/drawing/2014/main" id="{ACC1F758-AE50-42D6-BF44-64013095AF26}"/>
              </a:ext>
            </a:extLst>
          </p:cNvPr>
          <p:cNvSpPr>
            <a:spLocks xmlns:a="http://schemas.openxmlformats.org/drawingml/2006/main" noGrp="1"/>
          </p:cNvSpPr>
          <p:nvPr/>
        </p:nvSpPr>
        <p:spPr>
          <a:xfrm xmlns:a="http://schemas.openxmlformats.org/drawingml/2006/main">
            <a:off x="6364224" y="3310128"/>
            <a:ext cx="164592" cy="164592"/>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41" name="Text 39">
            <a:extLst xmlns:a="http://schemas.openxmlformats.org/drawingml/2006/main">
              <a:ext uri="{FF2B5EF4-FFF2-40B4-BE49-F238E27FC236}">
                <a16:creationId xmlns:a16="http://schemas.microsoft.com/office/drawing/2014/main" id="{DDD532DE-23C8-43A1-8769-0C101F62E02F}"/>
              </a:ext>
            </a:extLst>
          </p:cNvPr>
          <p:cNvSpPr>
            <a:spLocks xmlns:a="http://schemas.openxmlformats.org/drawingml/2006/main" noGrp="1"/>
          </p:cNvSpPr>
          <p:nvPr/>
        </p:nvSpPr>
        <p:spPr>
          <a:xfrm xmlns:a="http://schemas.openxmlformats.org/drawingml/2006/main">
            <a:off x="6620256" y="3255264"/>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Installer, updates and support owner</a:t>
            </a:r>
            <a:endParaRPr sz="1050"/>
          </a:p>
        </p:txBody>
      </p:sp>
      <p:pic>
        <p:nvPicPr>
          <p:cNvPr id="85" name="Picture 83"/>
          <p:cNvPicPr>
            <a:picLocks xmlns:a="http://schemas.openxmlformats.org/drawingml/2006/main" noChangeAspect="1"/>
          </p:cNvPicPr>
          <p:nvPr/>
        </p:nvPicPr>
        <p:blipFill>
          <a:blip xmlns:r="http://schemas.openxmlformats.org/officeDocument/2006/relationships" xmlns:a="http://schemas.openxmlformats.org/drawingml/2006/main" r:embed="R5baf5f68b01d460b"/>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
        <p:nvSpPr>
          <p:cNvPr id="43" name="Rectangle 42">
            <a:extLst xmlns:a="http://schemas.openxmlformats.org/drawingml/2006/main">
              <a:ext uri="{FF2B5EF4-FFF2-40B4-BE49-F238E27FC236}">
                <a16:creationId xmlns:a16="http://schemas.microsoft.com/office/drawing/2014/main" id="{96187FD7-B1DE-41DC-935C-E1806D566202}"/>
              </a:ext>
            </a:extLst>
          </p:cNvPr>
          <p:cNvSpPr>
            <a:spLocks xmlns:a="http://schemas.openxmlformats.org/drawingml/2006/main" noGrp="1"/>
          </p:cNvSpPr>
          <p:nvPr/>
        </p:nvSpPr>
        <p:spPr>
          <a:xfrm xmlns:a="http://schemas.openxmlformats.org/drawingml/2006/main">
            <a:off x="409575" y="4848225"/>
            <a:ext cx="8763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1">
                <a:solidFill>
                  <a:srgbClr val="F1F5F9"/>
                </a:solidFill>
                <a:latin typeface="Montserrat"/>
                <a:ea typeface="Montserrat"/>
                <a:cs typeface="Montserrat"/>
              </a:defRPr>
            </a:pPr>
            <a:r>
              <a:rPr sz="825" b="1">
                <a:solidFill>
                  <a:srgbClr val="F1F5F9"/>
                </a:solidFill>
                <a:latin typeface="Montserrat"/>
                <a:ea typeface="Montserrat"/>
                <a:cs typeface="Montserrat"/>
              </a:rPr>
              <a:t>MergeGuru</a:t>
            </a:r>
          </a:p>
        </p:txBody>
      </p:sp>
    </p:spTree>
    <p:extLst>
      <p:ext uri="{BB962C8B-B14F-4D97-AF65-F5344CB8AC3E}">
        <p14:creationId xmlns:p14="http://schemas.microsoft.com/office/powerpoint/2010/main" val="148512574"/>
      </p:ext>
    </p:extLst>
  </p:cSld>
</p:sld>
</file>

<file path=ppt/slides/slide14.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8E87C3-FCAC-420E-8914-CA4472A68006}"/>
              </a:ext>
            </a:extLst>
          </p:cNvPr>
          <p:cNvSpPr>
            <a:spLocks xmlns:a="http://schemas.openxmlformats.org/drawingml/2006/main" noGrp="1"/>
          </p:cNvSpPr>
          <p:nvPr/>
        </p:nvSpPr>
        <p:spPr>
          <a:xfrm xmlns:a="http://schemas.openxmlformats.org/drawingml/2006/main">
            <a:off x="2743200" y="914400"/>
            <a:ext cx="3657600" cy="3657600"/>
          </a:xfrm>
          <a:prstGeom xmlns:a="http://schemas.openxmlformats.org/drawingml/2006/main" prst="ellipse">
            <a:avLst/>
          </a:prstGeom>
          <a:solidFill xmlns:a="http://schemas.openxmlformats.org/drawingml/2006/main">
            <a:srgbClr val="1E3A8A">
              <a:alpha val="20000"/>
            </a:srgbClr>
          </a:solidFill>
          <a:ln xmlns:a="http://schemas.openxmlformats.org/drawingml/2006/main" w="12700">
            <a:solidFill>
              <a:srgbClr val="1E3A8A">
                <a:alpha val="20000"/>
              </a:srgbClr>
            </a:solidFill>
            <a:prstDash val="solid"/>
          </a:ln>
        </p:spPr>
      </p:sp>
      <p:sp>
        <p:nvSpPr>
          <p:cNvPr id="3" name="Text 1">
            <a:extLst xmlns:a="http://schemas.openxmlformats.org/drawingml/2006/main">
              <a:ext uri="{FF2B5EF4-FFF2-40B4-BE49-F238E27FC236}">
                <a16:creationId xmlns:a16="http://schemas.microsoft.com/office/drawing/2014/main" id="{049B443E-0E3C-4053-B34D-E75DE23FCBA3}"/>
              </a:ext>
            </a:extLst>
          </p:cNvPr>
          <p:cNvSpPr>
            <a:spLocks xmlns:a="http://schemas.openxmlformats.org/drawingml/2006/main" noGrp="1"/>
          </p:cNvSpPr>
          <p:nvPr/>
        </p:nvSpPr>
        <p:spPr>
          <a:xfrm xmlns:a="http://schemas.openxmlformats.org/drawingml/2006/main">
            <a:off x="457200" y="256032"/>
            <a:ext cx="82296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a:solidFill>
                  <a:srgbClr val="FFFFFF"/>
                </a:solidFill>
                <a:latin typeface="Arial Black"/>
                <a:ea typeface="Arial Black"/>
                <a:cs typeface="Arial Black"/>
              </a:rPr>
              <a:t>Proposed Pilot</a:t>
            </a:r>
            <a:endParaRPr sz="3600"/>
          </a:p>
        </p:txBody>
      </p:sp>
      <p:sp>
        <p:nvSpPr>
          <p:cNvPr id="4" name="Text 2">
            <a:extLst xmlns:a="http://schemas.openxmlformats.org/drawingml/2006/main">
              <a:ext uri="{FF2B5EF4-FFF2-40B4-BE49-F238E27FC236}">
                <a16:creationId xmlns:a16="http://schemas.microsoft.com/office/drawing/2014/main" id="{A4849664-2F17-4210-9BF3-53F2D05B90F6}"/>
              </a:ext>
            </a:extLst>
          </p:cNvPr>
          <p:cNvSpPr>
            <a:spLocks xmlns:a="http://schemas.openxmlformats.org/drawingml/2006/main" noGrp="1"/>
          </p:cNvSpPr>
          <p:nvPr/>
        </p:nvSpPr>
        <p:spPr>
          <a:xfrm xmlns:a="http://schemas.openxmlformats.org/drawingml/2006/main">
            <a:off x="457200" y="804672"/>
            <a:ext cx="8229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94A3B8"/>
                </a:solidFill>
                <a:latin typeface="Trebuchet MS"/>
                <a:ea typeface="Trebuchet MS"/>
                <a:cs typeface="Trebuchet MS"/>
              </a:rPr>
              <a:t>Prove one recurring workflow before broader rollout.</a:t>
            </a:r>
            <a:endParaRPr sz="1400"/>
          </a:p>
        </p:txBody>
      </p:sp>
      <p:sp>
        <p:nvSpPr>
          <p:cNvPr id="5" name="Shape 3">
            <a:extLst xmlns:a="http://schemas.openxmlformats.org/drawingml/2006/main">
              <a:ext uri="{FF2B5EF4-FFF2-40B4-BE49-F238E27FC236}">
                <a16:creationId xmlns:a16="http://schemas.microsoft.com/office/drawing/2014/main" id="{146AC029-4469-46AE-B82C-8BAA4BB4E7D9}"/>
              </a:ext>
            </a:extLst>
          </p:cNvPr>
          <p:cNvSpPr>
            <a:spLocks xmlns:a="http://schemas.openxmlformats.org/drawingml/2006/main" noGrp="1"/>
          </p:cNvSpPr>
          <p:nvPr/>
        </p:nvSpPr>
        <p:spPr>
          <a:xfrm xmlns:a="http://schemas.openxmlformats.org/drawingml/2006/main">
            <a:off x="274320" y="1261872"/>
            <a:ext cx="2743200" cy="3639312"/>
          </a:xfrm>
          <a:prstGeom xmlns:a="http://schemas.openxmlformats.org/drawingml/2006/main" prst="rect">
            <a:avLst/>
          </a:prstGeom>
          <a:solidFill xmlns:a="http://schemas.openxmlformats.org/drawingml/2006/main">
            <a:srgbClr val="1E2A3B"/>
          </a:solidFill>
          <a:ln xmlns:a="http://schemas.openxmlformats.org/drawingml/2006/main" w="19050">
            <a:solidFill>
              <a:srgbClr val="10B981"/>
            </a:solidFill>
            <a:prstDash val="solid"/>
          </a:ln>
          <a:effectLst xmlns:a="http://schemas.openxmlformats.org/drawingml/2006/main">
            <a:outerShdw blurRad="127000" dist="38100" dir="8100000" algn="bl" rotWithShape="0">
              <a:srgbClr val="000000">
                <a:alpha val="30000"/>
              </a:srgbClr>
            </a:outerShdw>
          </a:effectLst>
        </p:spPr>
      </p:sp>
      <p:sp>
        <p:nvSpPr>
          <p:cNvPr id="6" name="Shape 4">
            <a:extLst xmlns:a="http://schemas.openxmlformats.org/drawingml/2006/main">
              <a:ext uri="{FF2B5EF4-FFF2-40B4-BE49-F238E27FC236}">
                <a16:creationId xmlns:a16="http://schemas.microsoft.com/office/drawing/2014/main" id="{D7303311-9072-4E75-9AF5-12D84C31ADA6}"/>
              </a:ext>
            </a:extLst>
          </p:cNvPr>
          <p:cNvSpPr>
            <a:spLocks xmlns:a="http://schemas.openxmlformats.org/drawingml/2006/main" noGrp="1"/>
          </p:cNvSpPr>
          <p:nvPr/>
        </p:nvSpPr>
        <p:spPr>
          <a:xfrm xmlns:a="http://schemas.openxmlformats.org/drawingml/2006/main">
            <a:off x="274320" y="1261872"/>
            <a:ext cx="2743200" cy="438912"/>
          </a:xfrm>
          <a:prstGeom xmlns:a="http://schemas.openxmlformats.org/drawingml/2006/main" prst="rect">
            <a:avLst/>
          </a:prstGeom>
          <a:solidFill xmlns:a="http://schemas.openxmlformats.org/drawingml/2006/main">
            <a:srgbClr val="10B981"/>
          </a:solidFill>
          <a:ln xmlns:a="http://schemas.openxmlformats.org/drawingml/2006/main" w="12700">
            <a:solidFill>
              <a:srgbClr val="10B981"/>
            </a:solidFill>
            <a:prstDash val="solid"/>
          </a:ln>
        </p:spPr>
      </p:sp>
      <p:sp>
        <p:nvSpPr>
          <p:cNvPr id="7" name="Text 5">
            <a:extLst xmlns:a="http://schemas.openxmlformats.org/drawingml/2006/main">
              <a:ext uri="{FF2B5EF4-FFF2-40B4-BE49-F238E27FC236}">
                <a16:creationId xmlns:a16="http://schemas.microsoft.com/office/drawing/2014/main" id="{D8FB4D76-914B-4EF7-A5CD-9EE04885D5DB}"/>
              </a:ext>
            </a:extLst>
          </p:cNvPr>
          <p:cNvSpPr>
            <a:spLocks xmlns:a="http://schemas.openxmlformats.org/drawingml/2006/main" noGrp="1"/>
          </p:cNvSpPr>
          <p:nvPr/>
        </p:nvSpPr>
        <p:spPr>
          <a:xfrm xmlns:a="http://schemas.openxmlformats.org/drawingml/2006/main">
            <a:off x="274320" y="1261872"/>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Black"/>
                <a:ea typeface="Arial Black"/>
                <a:cs typeface="Arial Black"/>
              </a:rPr>
              <a:t>SCOPE: 2 TO 4 WEEKS</a:t>
            </a:r>
            <a:endParaRPr sz="1100"/>
          </a:p>
        </p:txBody>
      </p:sp>
      <p:sp>
        <p:nvSpPr>
          <p:cNvPr id="8" name="Shape 6">
            <a:extLst xmlns:a="http://schemas.openxmlformats.org/drawingml/2006/main">
              <a:ext uri="{FF2B5EF4-FFF2-40B4-BE49-F238E27FC236}">
                <a16:creationId xmlns:a16="http://schemas.microsoft.com/office/drawing/2014/main" id="{EF1EB7C9-CF7D-4F2E-B337-672372577E82}"/>
              </a:ext>
            </a:extLst>
          </p:cNvPr>
          <p:cNvSpPr>
            <a:spLocks xmlns:a="http://schemas.openxmlformats.org/drawingml/2006/main" noGrp="1"/>
          </p:cNvSpPr>
          <p:nvPr/>
        </p:nvSpPr>
        <p:spPr>
          <a:xfrm xmlns:a="http://schemas.openxmlformats.org/drawingml/2006/main">
            <a:off x="475488" y="1883664"/>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9" name="Text 7">
            <a:extLst xmlns:a="http://schemas.openxmlformats.org/drawingml/2006/main">
              <a:ext uri="{FF2B5EF4-FFF2-40B4-BE49-F238E27FC236}">
                <a16:creationId xmlns:a16="http://schemas.microsoft.com/office/drawing/2014/main" id="{E31DD417-112E-407C-9B0D-49B680727E3D}"/>
              </a:ext>
            </a:extLst>
          </p:cNvPr>
          <p:cNvSpPr>
            <a:spLocks xmlns:a="http://schemas.openxmlformats.org/drawingml/2006/main" noGrp="1"/>
          </p:cNvSpPr>
          <p:nvPr/>
        </p:nvSpPr>
        <p:spPr>
          <a:xfrm xmlns:a="http://schemas.openxmlformats.org/drawingml/2006/main">
            <a:off x="731520" y="1828800"/>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One recurring reporting process</a:t>
            </a:r>
            <a:endParaRPr sz="1050"/>
          </a:p>
        </p:txBody>
      </p:sp>
      <p:sp>
        <p:nvSpPr>
          <p:cNvPr id="10" name="Shape 8">
            <a:extLst xmlns:a="http://schemas.openxmlformats.org/drawingml/2006/main">
              <a:ext uri="{FF2B5EF4-FFF2-40B4-BE49-F238E27FC236}">
                <a16:creationId xmlns:a16="http://schemas.microsoft.com/office/drawing/2014/main" id="{CD8A0562-5B4A-449D-B9F9-92790C7A5564}"/>
              </a:ext>
            </a:extLst>
          </p:cNvPr>
          <p:cNvSpPr>
            <a:spLocks xmlns:a="http://schemas.openxmlformats.org/drawingml/2006/main" noGrp="1"/>
          </p:cNvSpPr>
          <p:nvPr/>
        </p:nvSpPr>
        <p:spPr>
          <a:xfrm xmlns:a="http://schemas.openxmlformats.org/drawingml/2006/main">
            <a:off x="475488" y="2359152"/>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1" name="Text 9">
            <a:extLst xmlns:a="http://schemas.openxmlformats.org/drawingml/2006/main">
              <a:ext uri="{FF2B5EF4-FFF2-40B4-BE49-F238E27FC236}">
                <a16:creationId xmlns:a16="http://schemas.microsoft.com/office/drawing/2014/main" id="{26B68989-DB0F-442D-B783-AB88401E6900}"/>
              </a:ext>
            </a:extLst>
          </p:cNvPr>
          <p:cNvSpPr>
            <a:spLocks xmlns:a="http://schemas.openxmlformats.org/drawingml/2006/main" noGrp="1"/>
          </p:cNvSpPr>
          <p:nvPr/>
        </p:nvSpPr>
        <p:spPr>
          <a:xfrm xmlns:a="http://schemas.openxmlformats.org/drawingml/2006/main">
            <a:off x="731520" y="2304288"/>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Representative source files</a:t>
            </a:r>
            <a:endParaRPr sz="1050"/>
          </a:p>
        </p:txBody>
      </p:sp>
      <p:sp>
        <p:nvSpPr>
          <p:cNvPr id="12" name="Shape 10">
            <a:extLst xmlns:a="http://schemas.openxmlformats.org/drawingml/2006/main">
              <a:ext uri="{FF2B5EF4-FFF2-40B4-BE49-F238E27FC236}">
                <a16:creationId xmlns:a16="http://schemas.microsoft.com/office/drawing/2014/main" id="{C8DA9606-FB6F-45F6-8CC6-522645746DCF}"/>
              </a:ext>
            </a:extLst>
          </p:cNvPr>
          <p:cNvSpPr>
            <a:spLocks xmlns:a="http://schemas.openxmlformats.org/drawingml/2006/main" noGrp="1"/>
          </p:cNvSpPr>
          <p:nvPr/>
        </p:nvSpPr>
        <p:spPr>
          <a:xfrm xmlns:a="http://schemas.openxmlformats.org/drawingml/2006/main">
            <a:off x="475488" y="2834640"/>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3" name="Text 11">
            <a:extLst xmlns:a="http://schemas.openxmlformats.org/drawingml/2006/main">
              <a:ext uri="{FF2B5EF4-FFF2-40B4-BE49-F238E27FC236}">
                <a16:creationId xmlns:a16="http://schemas.microsoft.com/office/drawing/2014/main" id="{7ABC7DCA-12DF-432F-8BF4-6427283017E2}"/>
              </a:ext>
            </a:extLst>
          </p:cNvPr>
          <p:cNvSpPr>
            <a:spLocks xmlns:a="http://schemas.openxmlformats.org/drawingml/2006/main" noGrp="1"/>
          </p:cNvSpPr>
          <p:nvPr/>
        </p:nvSpPr>
        <p:spPr>
          <a:xfrm xmlns:a="http://schemas.openxmlformats.org/drawingml/2006/main">
            <a:off x="731520" y="2779776"/>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Reference template and rules</a:t>
            </a:r>
            <a:endParaRPr sz="1050"/>
          </a:p>
        </p:txBody>
      </p:sp>
      <p:sp>
        <p:nvSpPr>
          <p:cNvPr id="14" name="Shape 12">
            <a:extLst xmlns:a="http://schemas.openxmlformats.org/drawingml/2006/main">
              <a:ext uri="{FF2B5EF4-FFF2-40B4-BE49-F238E27FC236}">
                <a16:creationId xmlns:a16="http://schemas.microsoft.com/office/drawing/2014/main" id="{38621F12-037D-470E-B8D0-6F080F744823}"/>
              </a:ext>
            </a:extLst>
          </p:cNvPr>
          <p:cNvSpPr>
            <a:spLocks xmlns:a="http://schemas.openxmlformats.org/drawingml/2006/main" noGrp="1"/>
          </p:cNvSpPr>
          <p:nvPr/>
        </p:nvSpPr>
        <p:spPr>
          <a:xfrm xmlns:a="http://schemas.openxmlformats.org/drawingml/2006/main">
            <a:off x="475488" y="3310128"/>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5" name="Text 13">
            <a:extLst xmlns:a="http://schemas.openxmlformats.org/drawingml/2006/main">
              <a:ext uri="{FF2B5EF4-FFF2-40B4-BE49-F238E27FC236}">
                <a16:creationId xmlns:a16="http://schemas.microsoft.com/office/drawing/2014/main" id="{2723791E-3C1E-47FF-B21A-2FA4A60AB258}"/>
              </a:ext>
            </a:extLst>
          </p:cNvPr>
          <p:cNvSpPr>
            <a:spLocks xmlns:a="http://schemas.openxmlformats.org/drawingml/2006/main" noGrp="1"/>
          </p:cNvSpPr>
          <p:nvPr/>
        </p:nvSpPr>
        <p:spPr>
          <a:xfrm xmlns:a="http://schemas.openxmlformats.org/drawingml/2006/main">
            <a:off x="731520" y="3255264"/>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Named business owner</a:t>
            </a:r>
            <a:endParaRPr sz="1050"/>
          </a:p>
        </p:txBody>
      </p:sp>
      <p:sp>
        <p:nvSpPr>
          <p:cNvPr id="16" name="Shape 14">
            <a:extLst xmlns:a="http://schemas.openxmlformats.org/drawingml/2006/main">
              <a:ext uri="{FF2B5EF4-FFF2-40B4-BE49-F238E27FC236}">
                <a16:creationId xmlns:a16="http://schemas.microsoft.com/office/drawing/2014/main" id="{0F2129E8-1EC8-488E-8481-CEC5238ED734}"/>
              </a:ext>
            </a:extLst>
          </p:cNvPr>
          <p:cNvSpPr>
            <a:spLocks xmlns:a="http://schemas.openxmlformats.org/drawingml/2006/main" noGrp="1"/>
          </p:cNvSpPr>
          <p:nvPr/>
        </p:nvSpPr>
        <p:spPr>
          <a:xfrm xmlns:a="http://schemas.openxmlformats.org/drawingml/2006/main">
            <a:off x="475488" y="3785616"/>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7" name="Text 15">
            <a:extLst xmlns:a="http://schemas.openxmlformats.org/drawingml/2006/main">
              <a:ext uri="{FF2B5EF4-FFF2-40B4-BE49-F238E27FC236}">
                <a16:creationId xmlns:a16="http://schemas.microsoft.com/office/drawing/2014/main" id="{FC3380B6-4A6B-4708-BBF5-E89646527212}"/>
              </a:ext>
            </a:extLst>
          </p:cNvPr>
          <p:cNvSpPr>
            <a:spLocks xmlns:a="http://schemas.openxmlformats.org/drawingml/2006/main" noGrp="1"/>
          </p:cNvSpPr>
          <p:nvPr/>
        </p:nvSpPr>
        <p:spPr>
          <a:xfrm xmlns:a="http://schemas.openxmlformats.org/drawingml/2006/main">
            <a:off x="731520" y="3730752"/>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Named IT and security reviewer</a:t>
            </a:r>
            <a:endParaRPr sz="1050"/>
          </a:p>
        </p:txBody>
      </p:sp>
      <p:sp>
        <p:nvSpPr>
          <p:cNvPr id="18" name="Shape 16">
            <a:extLst xmlns:a="http://schemas.openxmlformats.org/drawingml/2006/main">
              <a:ext uri="{FF2B5EF4-FFF2-40B4-BE49-F238E27FC236}">
                <a16:creationId xmlns:a16="http://schemas.microsoft.com/office/drawing/2014/main" id="{2BE79E68-9EA9-479F-A806-64C2EA945DB1}"/>
              </a:ext>
            </a:extLst>
          </p:cNvPr>
          <p:cNvSpPr>
            <a:spLocks xmlns:a="http://schemas.openxmlformats.org/drawingml/2006/main" noGrp="1"/>
          </p:cNvSpPr>
          <p:nvPr/>
        </p:nvSpPr>
        <p:spPr>
          <a:xfrm xmlns:a="http://schemas.openxmlformats.org/drawingml/2006/main">
            <a:off x="475488" y="4261104"/>
            <a:ext cx="164592" cy="164592"/>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9" name="Text 17">
            <a:extLst xmlns:a="http://schemas.openxmlformats.org/drawingml/2006/main">
              <a:ext uri="{FF2B5EF4-FFF2-40B4-BE49-F238E27FC236}">
                <a16:creationId xmlns:a16="http://schemas.microsoft.com/office/drawing/2014/main" id="{E788AEB8-B1E1-4183-A9AB-C0E487421631}"/>
              </a:ext>
            </a:extLst>
          </p:cNvPr>
          <p:cNvSpPr>
            <a:spLocks xmlns:a="http://schemas.openxmlformats.org/drawingml/2006/main" noGrp="1"/>
          </p:cNvSpPr>
          <p:nvPr/>
        </p:nvSpPr>
        <p:spPr>
          <a:xfrm xmlns:a="http://schemas.openxmlformats.org/drawingml/2006/main">
            <a:off x="731520" y="4206240"/>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F1F5F9"/>
                </a:solidFill>
                <a:latin typeface="Trebuchet MS"/>
                <a:ea typeface="Trebuchet MS"/>
                <a:cs typeface="Trebuchet MS"/>
              </a:rPr>
              <a:t>Agreed output format</a:t>
            </a:r>
            <a:endParaRPr sz="1050"/>
          </a:p>
        </p:txBody>
      </p:sp>
      <p:sp>
        <p:nvSpPr>
          <p:cNvPr id="20" name="Shape 18">
            <a:extLst xmlns:a="http://schemas.openxmlformats.org/drawingml/2006/main">
              <a:ext uri="{FF2B5EF4-FFF2-40B4-BE49-F238E27FC236}">
                <a16:creationId xmlns:a16="http://schemas.microsoft.com/office/drawing/2014/main" id="{CDCEC8F4-56B7-4BCA-8F25-723B56898CD6}"/>
              </a:ext>
            </a:extLst>
          </p:cNvPr>
          <p:cNvSpPr>
            <a:spLocks xmlns:a="http://schemas.openxmlformats.org/drawingml/2006/main" noGrp="1"/>
          </p:cNvSpPr>
          <p:nvPr/>
        </p:nvSpPr>
        <p:spPr>
          <a:xfrm xmlns:a="http://schemas.openxmlformats.org/drawingml/2006/main">
            <a:off x="3218688" y="1261872"/>
            <a:ext cx="2743200" cy="3639312"/>
          </a:xfrm>
          <a:prstGeom xmlns:a="http://schemas.openxmlformats.org/drawingml/2006/main" prst="rect">
            <a:avLst/>
          </a:prstGeom>
          <a:solidFill xmlns:a="http://schemas.openxmlformats.org/drawingml/2006/main">
            <a:srgbClr val="1E2A3B"/>
          </a:solidFill>
          <a:ln xmlns:a="http://schemas.openxmlformats.org/drawingml/2006/main" w="19050">
            <a:solidFill>
              <a:srgbClr val="3B82F6"/>
            </a:solidFill>
            <a:prstDash val="solid"/>
          </a:ln>
          <a:effectLst xmlns:a="http://schemas.openxmlformats.org/drawingml/2006/main">
            <a:outerShdw blurRad="127000" dist="38100" dir="8100000" algn="bl" rotWithShape="0">
              <a:srgbClr val="000000">
                <a:alpha val="30000"/>
              </a:srgbClr>
            </a:outerShdw>
          </a:effectLst>
        </p:spPr>
      </p:sp>
      <p:sp>
        <p:nvSpPr>
          <p:cNvPr id="21" name="Shape 19">
            <a:extLst xmlns:a="http://schemas.openxmlformats.org/drawingml/2006/main">
              <a:ext uri="{FF2B5EF4-FFF2-40B4-BE49-F238E27FC236}">
                <a16:creationId xmlns:a16="http://schemas.microsoft.com/office/drawing/2014/main" id="{A056BB28-5FBA-4FE3-9A65-AECFF6DAF4E6}"/>
              </a:ext>
            </a:extLst>
          </p:cNvPr>
          <p:cNvSpPr>
            <a:spLocks xmlns:a="http://schemas.openxmlformats.org/drawingml/2006/main" noGrp="1"/>
          </p:cNvSpPr>
          <p:nvPr/>
        </p:nvSpPr>
        <p:spPr>
          <a:xfrm xmlns:a="http://schemas.openxmlformats.org/drawingml/2006/main">
            <a:off x="3218688" y="1261872"/>
            <a:ext cx="2743200" cy="438912"/>
          </a:xfrm>
          <a:prstGeom xmlns:a="http://schemas.openxmlformats.org/drawingml/2006/main" prst="rect">
            <a:avLst/>
          </a:prstGeom>
          <a:solidFill xmlns:a="http://schemas.openxmlformats.org/drawingml/2006/main">
            <a:srgbClr val="3B82F6"/>
          </a:solidFill>
          <a:ln xmlns:a="http://schemas.openxmlformats.org/drawingml/2006/main" w="12700">
            <a:solidFill>
              <a:srgbClr val="3B82F6"/>
            </a:solidFill>
            <a:prstDash val="solid"/>
          </a:ln>
        </p:spPr>
      </p:sp>
      <p:sp>
        <p:nvSpPr>
          <p:cNvPr id="22" name="Text 20">
            <a:extLst xmlns:a="http://schemas.openxmlformats.org/drawingml/2006/main">
              <a:ext uri="{FF2B5EF4-FFF2-40B4-BE49-F238E27FC236}">
                <a16:creationId xmlns:a16="http://schemas.microsoft.com/office/drawing/2014/main" id="{A1BCC3A4-3618-4A10-9B87-6B02A719FEDC}"/>
              </a:ext>
            </a:extLst>
          </p:cNvPr>
          <p:cNvSpPr>
            <a:spLocks xmlns:a="http://schemas.openxmlformats.org/drawingml/2006/main" noGrp="1"/>
          </p:cNvSpPr>
          <p:nvPr/>
        </p:nvSpPr>
        <p:spPr>
          <a:xfrm xmlns:a="http://schemas.openxmlformats.org/drawingml/2006/main">
            <a:off x="3218688" y="1261872"/>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Black"/>
                <a:ea typeface="Arial Black"/>
                <a:cs typeface="Arial Black"/>
              </a:rPr>
              <a:t>MEASURE: BEFORE / AFTER</a:t>
            </a:r>
            <a:endParaRPr sz="1100"/>
          </a:p>
        </p:txBody>
      </p:sp>
      <p:sp>
        <p:nvSpPr>
          <p:cNvPr id="23" name="Shape 21">
            <a:extLst xmlns:a="http://schemas.openxmlformats.org/drawingml/2006/main">
              <a:ext uri="{FF2B5EF4-FFF2-40B4-BE49-F238E27FC236}">
                <a16:creationId xmlns:a16="http://schemas.microsoft.com/office/drawing/2014/main" id="{2D0E357E-055F-467F-8701-3AFDBF7892ED}"/>
              </a:ext>
            </a:extLst>
          </p:cNvPr>
          <p:cNvSpPr>
            <a:spLocks xmlns:a="http://schemas.openxmlformats.org/drawingml/2006/main" noGrp="1"/>
          </p:cNvSpPr>
          <p:nvPr/>
        </p:nvSpPr>
        <p:spPr>
          <a:xfrm xmlns:a="http://schemas.openxmlformats.org/drawingml/2006/main">
            <a:off x="3419856" y="1883664"/>
            <a:ext cx="164592" cy="1645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24" name="Text 22">
            <a:extLst xmlns:a="http://schemas.openxmlformats.org/drawingml/2006/main">
              <a:ext uri="{FF2B5EF4-FFF2-40B4-BE49-F238E27FC236}">
                <a16:creationId xmlns:a16="http://schemas.microsoft.com/office/drawing/2014/main" id="{B6D8FF90-5253-4895-BB71-FCEB0F707BA4}"/>
              </a:ext>
            </a:extLst>
          </p:cNvPr>
          <p:cNvSpPr>
            <a:spLocks xmlns:a="http://schemas.openxmlformats.org/drawingml/2006/main" noGrp="1"/>
          </p:cNvSpPr>
          <p:nvPr/>
        </p:nvSpPr>
        <p:spPr>
          <a:xfrm xmlns:a="http://schemas.openxmlformats.org/drawingml/2006/main">
            <a:off x="3675888" y="1828800"/>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End-to-end completion time</a:t>
            </a:r>
            <a:endParaRPr sz="1050"/>
          </a:p>
        </p:txBody>
      </p:sp>
      <p:sp>
        <p:nvSpPr>
          <p:cNvPr id="25" name="Shape 23">
            <a:extLst xmlns:a="http://schemas.openxmlformats.org/drawingml/2006/main">
              <a:ext uri="{FF2B5EF4-FFF2-40B4-BE49-F238E27FC236}">
                <a16:creationId xmlns:a16="http://schemas.microsoft.com/office/drawing/2014/main" id="{7565C16F-AC51-4252-B86A-E52BEF52FE21}"/>
              </a:ext>
            </a:extLst>
          </p:cNvPr>
          <p:cNvSpPr>
            <a:spLocks xmlns:a="http://schemas.openxmlformats.org/drawingml/2006/main" noGrp="1"/>
          </p:cNvSpPr>
          <p:nvPr/>
        </p:nvSpPr>
        <p:spPr>
          <a:xfrm xmlns:a="http://schemas.openxmlformats.org/drawingml/2006/main">
            <a:off x="3419856" y="2359152"/>
            <a:ext cx="164592" cy="1645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26" name="Text 24">
            <a:extLst xmlns:a="http://schemas.openxmlformats.org/drawingml/2006/main">
              <a:ext uri="{FF2B5EF4-FFF2-40B4-BE49-F238E27FC236}">
                <a16:creationId xmlns:a16="http://schemas.microsoft.com/office/drawing/2014/main" id="{AA2E4006-3D47-4C88-B018-176782E009B4}"/>
              </a:ext>
            </a:extLst>
          </p:cNvPr>
          <p:cNvSpPr>
            <a:spLocks xmlns:a="http://schemas.openxmlformats.org/drawingml/2006/main" noGrp="1"/>
          </p:cNvSpPr>
          <p:nvPr/>
        </p:nvSpPr>
        <p:spPr>
          <a:xfrm xmlns:a="http://schemas.openxmlformats.org/drawingml/2006/main">
            <a:off x="3675888" y="2304288"/>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Validation exceptions detected</a:t>
            </a:r>
            <a:endParaRPr sz="1050"/>
          </a:p>
        </p:txBody>
      </p:sp>
      <p:sp>
        <p:nvSpPr>
          <p:cNvPr id="27" name="Shape 25">
            <a:extLst xmlns:a="http://schemas.openxmlformats.org/drawingml/2006/main">
              <a:ext uri="{FF2B5EF4-FFF2-40B4-BE49-F238E27FC236}">
                <a16:creationId xmlns:a16="http://schemas.microsoft.com/office/drawing/2014/main" id="{7F773F59-605A-4500-99D7-50CDFB94A037}"/>
              </a:ext>
            </a:extLst>
          </p:cNvPr>
          <p:cNvSpPr>
            <a:spLocks xmlns:a="http://schemas.openxmlformats.org/drawingml/2006/main" noGrp="1"/>
          </p:cNvSpPr>
          <p:nvPr/>
        </p:nvSpPr>
        <p:spPr>
          <a:xfrm xmlns:a="http://schemas.openxmlformats.org/drawingml/2006/main">
            <a:off x="3419856" y="2834640"/>
            <a:ext cx="164592" cy="1645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28" name="Text 26">
            <a:extLst xmlns:a="http://schemas.openxmlformats.org/drawingml/2006/main">
              <a:ext uri="{FF2B5EF4-FFF2-40B4-BE49-F238E27FC236}">
                <a16:creationId xmlns:a16="http://schemas.microsoft.com/office/drawing/2014/main" id="{36F25B76-17F6-4E13-B4E0-BEB4AA60FA1D}"/>
              </a:ext>
            </a:extLst>
          </p:cNvPr>
          <p:cNvSpPr>
            <a:spLocks xmlns:a="http://schemas.openxmlformats.org/drawingml/2006/main" noGrp="1"/>
          </p:cNvSpPr>
          <p:nvPr/>
        </p:nvSpPr>
        <p:spPr>
          <a:xfrm xmlns:a="http://schemas.openxmlformats.org/drawingml/2006/main">
            <a:off x="3675888" y="2779776"/>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Output row reconciliation</a:t>
            </a:r>
            <a:endParaRPr sz="1050"/>
          </a:p>
        </p:txBody>
      </p:sp>
      <p:sp>
        <p:nvSpPr>
          <p:cNvPr id="29" name="Shape 27">
            <a:extLst xmlns:a="http://schemas.openxmlformats.org/drawingml/2006/main">
              <a:ext uri="{FF2B5EF4-FFF2-40B4-BE49-F238E27FC236}">
                <a16:creationId xmlns:a16="http://schemas.microsoft.com/office/drawing/2014/main" id="{4EB57B31-6CD7-4182-A91A-64A380ACEA66}"/>
              </a:ext>
            </a:extLst>
          </p:cNvPr>
          <p:cNvSpPr>
            <a:spLocks xmlns:a="http://schemas.openxmlformats.org/drawingml/2006/main" noGrp="1"/>
          </p:cNvSpPr>
          <p:nvPr/>
        </p:nvSpPr>
        <p:spPr>
          <a:xfrm xmlns:a="http://schemas.openxmlformats.org/drawingml/2006/main">
            <a:off x="3419856" y="3310128"/>
            <a:ext cx="164592" cy="164592"/>
          </a:xfrm>
          <a:prstGeom xmlns:a="http://schemas.openxmlformats.org/drawingml/2006/main" prst="ellipse">
            <a:avLst/>
          </a:prstGeom>
          <a:solidFill xmlns:a="http://schemas.openxmlformats.org/drawingml/2006/main">
            <a:srgbClr val="3B82F6"/>
          </a:solidFill>
          <a:ln xmlns:a="http://schemas.openxmlformats.org/drawingml/2006/main" w="12700">
            <a:solidFill>
              <a:srgbClr val="3B82F6"/>
            </a:solidFill>
            <a:prstDash val="solid"/>
          </a:ln>
        </p:spPr>
      </p:sp>
      <p:sp>
        <p:nvSpPr>
          <p:cNvPr id="30" name="Text 28">
            <a:extLst xmlns:a="http://schemas.openxmlformats.org/drawingml/2006/main">
              <a:ext uri="{FF2B5EF4-FFF2-40B4-BE49-F238E27FC236}">
                <a16:creationId xmlns:a16="http://schemas.microsoft.com/office/drawing/2014/main" id="{6274ABC7-D419-4E49-B0F1-723C3B27B80E}"/>
              </a:ext>
            </a:extLst>
          </p:cNvPr>
          <p:cNvSpPr>
            <a:spLocks xmlns:a="http://schemas.openxmlformats.org/drawingml/2006/main" noGrp="1"/>
          </p:cNvSpPr>
          <p:nvPr/>
        </p:nvSpPr>
        <p:spPr>
          <a:xfrm xmlns:a="http://schemas.openxmlformats.org/drawingml/2006/main">
            <a:off x="3675888" y="3255264"/>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Peak memory and failures</a:t>
            </a:r>
            <a:endParaRPr sz="1050"/>
          </a:p>
        </p:txBody>
      </p:sp>
      <p:sp>
        <p:nvSpPr>
          <p:cNvPr id="31" name="Shape 29">
            <a:extLst xmlns:a="http://schemas.openxmlformats.org/drawingml/2006/main">
              <a:ext uri="{FF2B5EF4-FFF2-40B4-BE49-F238E27FC236}">
                <a16:creationId xmlns:a16="http://schemas.microsoft.com/office/drawing/2014/main" id="{1C045525-398C-451C-B3A6-3878BA910491}"/>
              </a:ext>
            </a:extLst>
          </p:cNvPr>
          <p:cNvSpPr>
            <a:spLocks xmlns:a="http://schemas.openxmlformats.org/drawingml/2006/main" noGrp="1"/>
          </p:cNvSpPr>
          <p:nvPr/>
        </p:nvSpPr>
        <p:spPr>
          <a:xfrm xmlns:a="http://schemas.openxmlformats.org/drawingml/2006/main">
            <a:off x="6163056" y="1261872"/>
            <a:ext cx="2743200" cy="3639312"/>
          </a:xfrm>
          <a:prstGeom xmlns:a="http://schemas.openxmlformats.org/drawingml/2006/main" prst="rect">
            <a:avLst/>
          </a:prstGeom>
          <a:solidFill xmlns:a="http://schemas.openxmlformats.org/drawingml/2006/main">
            <a:srgbClr val="1E2A3B"/>
          </a:solidFill>
          <a:ln xmlns:a="http://schemas.openxmlformats.org/drawingml/2006/main" w="19050">
            <a:solidFill>
              <a:srgbClr val="8B5CF6"/>
            </a:solidFill>
            <a:prstDash val="solid"/>
          </a:ln>
          <a:effectLst xmlns:a="http://schemas.openxmlformats.org/drawingml/2006/main">
            <a:outerShdw blurRad="127000" dist="38100" dir="8100000" algn="bl" rotWithShape="0">
              <a:srgbClr val="000000">
                <a:alpha val="30000"/>
              </a:srgbClr>
            </a:outerShdw>
          </a:effectLst>
        </p:spPr>
      </p:sp>
      <p:sp>
        <p:nvSpPr>
          <p:cNvPr id="32" name="Shape 30">
            <a:extLst xmlns:a="http://schemas.openxmlformats.org/drawingml/2006/main">
              <a:ext uri="{FF2B5EF4-FFF2-40B4-BE49-F238E27FC236}">
                <a16:creationId xmlns:a16="http://schemas.microsoft.com/office/drawing/2014/main" id="{8A87F834-351E-44B8-BC1F-07F47C21ED3B}"/>
              </a:ext>
            </a:extLst>
          </p:cNvPr>
          <p:cNvSpPr>
            <a:spLocks xmlns:a="http://schemas.openxmlformats.org/drawingml/2006/main" noGrp="1"/>
          </p:cNvSpPr>
          <p:nvPr/>
        </p:nvSpPr>
        <p:spPr>
          <a:xfrm xmlns:a="http://schemas.openxmlformats.org/drawingml/2006/main">
            <a:off x="6163056" y="1261872"/>
            <a:ext cx="2743200" cy="438912"/>
          </a:xfrm>
          <a:prstGeom xmlns:a="http://schemas.openxmlformats.org/drawingml/2006/main" prst="rect">
            <a:avLst/>
          </a:prstGeom>
          <a:solidFill xmlns:a="http://schemas.openxmlformats.org/drawingml/2006/main">
            <a:srgbClr val="8B5CF6"/>
          </a:solidFill>
          <a:ln xmlns:a="http://schemas.openxmlformats.org/drawingml/2006/main" w="12700">
            <a:solidFill>
              <a:srgbClr val="8B5CF6"/>
            </a:solidFill>
            <a:prstDash val="solid"/>
          </a:ln>
        </p:spPr>
      </p:sp>
      <p:sp>
        <p:nvSpPr>
          <p:cNvPr id="33" name="Text 31">
            <a:extLst xmlns:a="http://schemas.openxmlformats.org/drawingml/2006/main">
              <a:ext uri="{FF2B5EF4-FFF2-40B4-BE49-F238E27FC236}">
                <a16:creationId xmlns:a16="http://schemas.microsoft.com/office/drawing/2014/main" id="{7C858FF2-8359-45A0-9116-1E06D597A551}"/>
              </a:ext>
            </a:extLst>
          </p:cNvPr>
          <p:cNvSpPr>
            <a:spLocks xmlns:a="http://schemas.openxmlformats.org/drawingml/2006/main" noGrp="1"/>
          </p:cNvSpPr>
          <p:nvPr/>
        </p:nvSpPr>
        <p:spPr>
          <a:xfrm xmlns:a="http://schemas.openxmlformats.org/drawingml/2006/main">
            <a:off x="6163056" y="1261872"/>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Black"/>
                <a:ea typeface="Arial Black"/>
                <a:cs typeface="Arial Black"/>
              </a:rPr>
              <a:t>EXIT: GO / NO-GO</a:t>
            </a:r>
            <a:endParaRPr sz="1100"/>
          </a:p>
        </p:txBody>
      </p:sp>
      <p:sp>
        <p:nvSpPr>
          <p:cNvPr id="34" name="Shape 32">
            <a:extLst xmlns:a="http://schemas.openxmlformats.org/drawingml/2006/main">
              <a:ext uri="{FF2B5EF4-FFF2-40B4-BE49-F238E27FC236}">
                <a16:creationId xmlns:a16="http://schemas.microsoft.com/office/drawing/2014/main" id="{A8007DA8-8B64-41F8-A04E-B966796490D9}"/>
              </a:ext>
            </a:extLst>
          </p:cNvPr>
          <p:cNvSpPr>
            <a:spLocks xmlns:a="http://schemas.openxmlformats.org/drawingml/2006/main" noGrp="1"/>
          </p:cNvSpPr>
          <p:nvPr/>
        </p:nvSpPr>
        <p:spPr>
          <a:xfrm xmlns:a="http://schemas.openxmlformats.org/drawingml/2006/main">
            <a:off x="6364224" y="1883664"/>
            <a:ext cx="164592" cy="164592"/>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35" name="Text 33">
            <a:extLst xmlns:a="http://schemas.openxmlformats.org/drawingml/2006/main">
              <a:ext uri="{FF2B5EF4-FFF2-40B4-BE49-F238E27FC236}">
                <a16:creationId xmlns:a16="http://schemas.microsoft.com/office/drawing/2014/main" id="{455119C9-3CA4-42AA-A92E-8A80BAD85F16}"/>
              </a:ext>
            </a:extLst>
          </p:cNvPr>
          <p:cNvSpPr>
            <a:spLocks xmlns:a="http://schemas.openxmlformats.org/drawingml/2006/main" noGrp="1"/>
          </p:cNvSpPr>
          <p:nvPr/>
        </p:nvSpPr>
        <p:spPr>
          <a:xfrm xmlns:a="http://schemas.openxmlformats.org/drawingml/2006/main">
            <a:off x="6620256" y="1828800"/>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Reproducible output</a:t>
            </a:r>
            <a:endParaRPr sz="1050"/>
          </a:p>
        </p:txBody>
      </p:sp>
      <p:sp>
        <p:nvSpPr>
          <p:cNvPr id="36" name="Shape 34">
            <a:extLst xmlns:a="http://schemas.openxmlformats.org/drawingml/2006/main">
              <a:ext uri="{FF2B5EF4-FFF2-40B4-BE49-F238E27FC236}">
                <a16:creationId xmlns:a16="http://schemas.microsoft.com/office/drawing/2014/main" id="{6597D391-AFD9-47AF-A6AE-9A556213A7AD}"/>
              </a:ext>
            </a:extLst>
          </p:cNvPr>
          <p:cNvSpPr>
            <a:spLocks xmlns:a="http://schemas.openxmlformats.org/drawingml/2006/main" noGrp="1"/>
          </p:cNvSpPr>
          <p:nvPr/>
        </p:nvSpPr>
        <p:spPr>
          <a:xfrm xmlns:a="http://schemas.openxmlformats.org/drawingml/2006/main">
            <a:off x="6364224" y="2359152"/>
            <a:ext cx="164592" cy="164592"/>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37" name="Text 35">
            <a:extLst xmlns:a="http://schemas.openxmlformats.org/drawingml/2006/main">
              <a:ext uri="{FF2B5EF4-FFF2-40B4-BE49-F238E27FC236}">
                <a16:creationId xmlns:a16="http://schemas.microsoft.com/office/drawing/2014/main" id="{3AE7C3C7-A078-488D-A131-2B649D6B80BC}"/>
              </a:ext>
            </a:extLst>
          </p:cNvPr>
          <p:cNvSpPr>
            <a:spLocks xmlns:a="http://schemas.openxmlformats.org/drawingml/2006/main" noGrp="1"/>
          </p:cNvSpPr>
          <p:nvPr/>
        </p:nvSpPr>
        <p:spPr>
          <a:xfrm xmlns:a="http://schemas.openxmlformats.org/drawingml/2006/main">
            <a:off x="6620256" y="2304288"/>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Security review complete</a:t>
            </a:r>
            <a:endParaRPr sz="1050"/>
          </a:p>
        </p:txBody>
      </p:sp>
      <p:sp>
        <p:nvSpPr>
          <p:cNvPr id="38" name="Shape 36">
            <a:extLst xmlns:a="http://schemas.openxmlformats.org/drawingml/2006/main">
              <a:ext uri="{FF2B5EF4-FFF2-40B4-BE49-F238E27FC236}">
                <a16:creationId xmlns:a16="http://schemas.microsoft.com/office/drawing/2014/main" id="{DB7431C8-C5C0-42C4-B7A2-F5DA05E2162A}"/>
              </a:ext>
            </a:extLst>
          </p:cNvPr>
          <p:cNvSpPr>
            <a:spLocks xmlns:a="http://schemas.openxmlformats.org/drawingml/2006/main" noGrp="1"/>
          </p:cNvSpPr>
          <p:nvPr/>
        </p:nvSpPr>
        <p:spPr>
          <a:xfrm xmlns:a="http://schemas.openxmlformats.org/drawingml/2006/main">
            <a:off x="6364224" y="2834640"/>
            <a:ext cx="164592" cy="164592"/>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39" name="Text 37">
            <a:extLst xmlns:a="http://schemas.openxmlformats.org/drawingml/2006/main">
              <a:ext uri="{FF2B5EF4-FFF2-40B4-BE49-F238E27FC236}">
                <a16:creationId xmlns:a16="http://schemas.microsoft.com/office/drawing/2014/main" id="{B2585031-15AD-4354-90F1-77231BC7ADC0}"/>
              </a:ext>
            </a:extLst>
          </p:cNvPr>
          <p:cNvSpPr>
            <a:spLocks xmlns:a="http://schemas.openxmlformats.org/drawingml/2006/main" noGrp="1"/>
          </p:cNvSpPr>
          <p:nvPr/>
        </p:nvSpPr>
        <p:spPr>
          <a:xfrm xmlns:a="http://schemas.openxmlformats.org/drawingml/2006/main">
            <a:off x="6620256" y="2779776"/>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Signed deployment plan</a:t>
            </a:r>
            <a:endParaRPr sz="1050"/>
          </a:p>
        </p:txBody>
      </p:sp>
      <p:sp>
        <p:nvSpPr>
          <p:cNvPr id="40" name="Shape 38">
            <a:extLst xmlns:a="http://schemas.openxmlformats.org/drawingml/2006/main">
              <a:ext uri="{FF2B5EF4-FFF2-40B4-BE49-F238E27FC236}">
                <a16:creationId xmlns:a16="http://schemas.microsoft.com/office/drawing/2014/main" id="{ACC1F758-AE50-42D6-BF44-64013095AF26}"/>
              </a:ext>
            </a:extLst>
          </p:cNvPr>
          <p:cNvSpPr>
            <a:spLocks xmlns:a="http://schemas.openxmlformats.org/drawingml/2006/main" noGrp="1"/>
          </p:cNvSpPr>
          <p:nvPr/>
        </p:nvSpPr>
        <p:spPr>
          <a:xfrm xmlns:a="http://schemas.openxmlformats.org/drawingml/2006/main">
            <a:off x="6364224" y="3310128"/>
            <a:ext cx="164592" cy="164592"/>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41" name="Text 39">
            <a:extLst xmlns:a="http://schemas.openxmlformats.org/drawingml/2006/main">
              <a:ext uri="{FF2B5EF4-FFF2-40B4-BE49-F238E27FC236}">
                <a16:creationId xmlns:a16="http://schemas.microsoft.com/office/drawing/2014/main" id="{DDD532DE-23C8-43A1-8769-0C101F62E02F}"/>
              </a:ext>
            </a:extLst>
          </p:cNvPr>
          <p:cNvSpPr>
            <a:spLocks xmlns:a="http://schemas.openxmlformats.org/drawingml/2006/main" noGrp="1"/>
          </p:cNvSpPr>
          <p:nvPr/>
        </p:nvSpPr>
        <p:spPr>
          <a:xfrm xmlns:a="http://schemas.openxmlformats.org/drawingml/2006/main">
            <a:off x="6620256" y="3255264"/>
            <a:ext cx="21762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94A3B8"/>
                </a:solidFill>
                <a:latin typeface="Trebuchet MS"/>
                <a:ea typeface="Trebuchet MS"/>
                <a:cs typeface="Trebuchet MS"/>
              </a:rPr>
              <a:t>Support owner confirmed</a:t>
            </a:r>
            <a:endParaRPr sz="1050"/>
          </a:p>
        </p:txBody>
      </p:sp>
      <p:pic>
        <p:nvPicPr>
          <p:cNvPr id="85" name="Picture 83"/>
          <p:cNvPicPr>
            <a:picLocks xmlns:a="http://schemas.openxmlformats.org/drawingml/2006/main" noChangeAspect="1"/>
          </p:cNvPicPr>
          <p:nvPr/>
        </p:nvPicPr>
        <p:blipFill>
          <a:blip xmlns:r="http://schemas.openxmlformats.org/officeDocument/2006/relationships" xmlns:a="http://schemas.openxmlformats.org/drawingml/2006/main" r:embed="R9287308fa4904058"/>
          <a:stretch xmlns:a="http://schemas.openxmlformats.org/drawingml/2006/main"/>
        </p:blipFill>
        <p:spPr>
          <a:xfrm xmlns:a="http://schemas.openxmlformats.org/drawingml/2006/main">
            <a:off x="161925" y="4810125"/>
            <a:ext cx="219075" cy="219075"/>
          </a:xfrm>
          <a:prstGeom xmlns:a="http://schemas.openxmlformats.org/drawingml/2006/main" prst="rect">
            <a:avLst/>
          </a:prstGeom>
        </p:spPr>
      </p:pic>
      <p:sp>
        <p:nvSpPr>
          <p:cNvPr id="43" name="Rectangle 42">
            <a:extLst xmlns:a="http://schemas.openxmlformats.org/drawingml/2006/main">
              <a:ext uri="{FF2B5EF4-FFF2-40B4-BE49-F238E27FC236}">
                <a16:creationId xmlns:a16="http://schemas.microsoft.com/office/drawing/2014/main" id="{3D011C54-BB51-445A-A38A-3DD1FA9B3EE1}"/>
              </a:ext>
            </a:extLst>
          </p:cNvPr>
          <p:cNvSpPr>
            <a:spLocks xmlns:a="http://schemas.openxmlformats.org/drawingml/2006/main" noGrp="1"/>
          </p:cNvSpPr>
          <p:nvPr/>
        </p:nvSpPr>
        <p:spPr>
          <a:xfrm xmlns:a="http://schemas.openxmlformats.org/drawingml/2006/main">
            <a:off x="409575" y="4848225"/>
            <a:ext cx="8763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1">
                <a:solidFill>
                  <a:srgbClr val="F1F5F9"/>
                </a:solidFill>
                <a:latin typeface="Montserrat"/>
                <a:ea typeface="Montserrat"/>
                <a:cs typeface="Montserrat"/>
              </a:defRPr>
            </a:pPr>
            <a:r>
              <a:rPr sz="825" b="1">
                <a:solidFill>
                  <a:srgbClr val="F1F5F9"/>
                </a:solidFill>
                <a:latin typeface="Montserrat"/>
                <a:ea typeface="Montserrat"/>
                <a:cs typeface="Montserrat"/>
              </a:rPr>
              <a:t>MergeGuru</a:t>
            </a:r>
          </a:p>
        </p:txBody>
      </p:sp>
    </p:spTree>
    <p:extLst>
      <p:ext uri="{BB962C8B-B14F-4D97-AF65-F5344CB8AC3E}">
        <p14:creationId xmlns:p14="http://schemas.microsoft.com/office/powerpoint/2010/main" val="148512574"/>
      </p:ext>
    </p:extLst>
  </p:cSld>
</p:sld>
</file>

<file path=ppt/slides/slide15.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54" name="Text 23">
            <a:extLst xmlns:a="http://schemas.openxmlformats.org/drawingml/2006/main">
              <a:ext uri="{FF2B5EF4-FFF2-40B4-BE49-F238E27FC236}">
                <a16:creationId xmlns:a16="http://schemas.microsoft.com/office/drawing/2014/main" id="{01AAB4E9-16C4-730D-E503-65FB38325D73}"/>
              </a:ext>
            </a:extLst>
          </p:cNvPr>
          <p:cNvSpPr>
            <a:spLocks xmlns:a="http://schemas.openxmlformats.org/drawingml/2006/main" noGrp="1"/>
          </p:cNvSpPr>
          <p:nvPr/>
        </p:nvSpPr>
        <p:spPr>
          <a:xfrm xmlns:a="http://schemas.openxmlformats.org/drawingml/2006/main">
            <a:off x="3771900" y="1924050"/>
            <a:ext cx="3662246" cy="7048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400" b="1">
                <a:solidFill>
                  <a:srgbClr val="FFFFFF"/>
                </a:solidFill>
                <a:latin typeface="Arial Black"/>
                <a:ea typeface="Arial Black"/>
                <a:cs typeface="Arial Black"/>
              </a:rPr>
              <a:t>Merge</a:t>
            </a:r>
            <a:r>
              <a:rPr sz="4400" b="1">
                <a:solidFill>
                  <a:srgbClr val="2563EB"/>
                </a:solidFill>
                <a:latin typeface="Arial Black"/>
                <a:ea typeface="Arial Black"/>
                <a:cs typeface="Arial Black"/>
              </a:rPr>
              <a:t>Guru</a:t>
            </a:r>
            <a:endParaRPr sz="4400">
              <a:solidFill>
                <a:srgbClr val="2563EB"/>
              </a:solidFill>
            </a:endParaRPr>
          </a:p>
        </p:txBody>
      </p:sp>
      <p:sp>
        <p:nvSpPr>
          <p:cNvPr id="58" name="Text 0">
            <a:extLst xmlns:a="http://schemas.openxmlformats.org/drawingml/2006/main">
              <a:ext uri="{FF2B5EF4-FFF2-40B4-BE49-F238E27FC236}">
                <a16:creationId xmlns:a16="http://schemas.microsoft.com/office/drawing/2014/main" id="{E995508D-4193-E778-D7B2-A5C89BF920E5}"/>
              </a:ext>
            </a:extLst>
          </p:cNvPr>
          <p:cNvSpPr>
            <a:spLocks xmlns:a="http://schemas.openxmlformats.org/drawingml/2006/main" noGrp="1"/>
          </p:cNvSpPr>
          <p:nvPr/>
        </p:nvSpPr>
        <p:spPr>
          <a:xfrm xmlns:a="http://schemas.openxmlformats.org/drawingml/2006/main">
            <a:off x="3204587" y="2914650"/>
            <a:ext cx="273482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algn="ctr">
              <a:buNone/>
            </a:pPr>
            <a:r>
              <a:rPr sz="2000">
                <a:solidFill>
                  <a:srgbClr val="FFFFFF"/>
                </a:solidFill>
                <a:latin typeface="Montserrat"/>
                <a:ea typeface="Montserrat"/>
                <a:cs typeface="Montserrat"/>
              </a:rPr>
              <a:t>Thank You</a:t>
            </a:r>
          </a:p>
        </p:txBody>
      </p:sp>
      <p:sp>
        <p:nvSpPr>
          <p:cNvPr id="61" name="Shape 21">
            <a:extLst xmlns:a="http://schemas.openxmlformats.org/drawingml/2006/main">
              <a:ext uri="{FF2B5EF4-FFF2-40B4-BE49-F238E27FC236}">
                <a16:creationId xmlns:a16="http://schemas.microsoft.com/office/drawing/2014/main" id="{583555B2-5C87-BEED-734A-A491FF2587AC}"/>
              </a:ext>
            </a:extLst>
          </p:cNvPr>
          <p:cNvSpPr>
            <a:spLocks xmlns:a="http://schemas.openxmlformats.org/drawingml/2006/main" noGrp="1"/>
          </p:cNvSpPr>
          <p:nvPr/>
        </p:nvSpPr>
        <p:spPr>
          <a:xfrm xmlns:a="http://schemas.openxmlformats.org/drawingml/2006/main">
            <a:off x="457199" y="485265"/>
            <a:ext cx="2811863" cy="292608"/>
          </a:xfrm>
          <a:prstGeom xmlns:a="http://schemas.openxmlformats.org/drawingml/2006/main" prst="roundRect">
            <a:avLst/>
          </a:prstGeom>
          <a:solidFill xmlns:a="http://schemas.openxmlformats.org/drawingml/2006/main">
            <a:schemeClr val="bg2">
              <a:lumMod val="10000"/>
            </a:schemeClr>
          </a:solidFill>
          <a:ln xmlns:a="http://schemas.openxmlformats.org/drawingml/2006/main" w="3175">
            <a:solidFill>
              <a:srgbClr val="0070C0"/>
            </a:solidFill>
            <a:prstDash val="dash"/>
          </a:ln>
        </p:spPr>
      </p:sp>
      <p:sp>
        <p:nvSpPr>
          <p:cNvPr id="62" name="Text 22">
            <a:extLst xmlns:a="http://schemas.openxmlformats.org/drawingml/2006/main">
              <a:ext uri="{FF2B5EF4-FFF2-40B4-BE49-F238E27FC236}">
                <a16:creationId xmlns:a16="http://schemas.microsoft.com/office/drawing/2014/main" id="{A8F08F88-53D9-3B90-C6DD-C6E814A4EAB5}"/>
              </a:ext>
            </a:extLst>
          </p:cNvPr>
          <p:cNvSpPr>
            <a:spLocks xmlns:a="http://schemas.openxmlformats.org/drawingml/2006/main" noGrp="1"/>
          </p:cNvSpPr>
          <p:nvPr/>
        </p:nvSpPr>
        <p:spPr>
          <a:xfrm xmlns:a="http://schemas.openxmlformats.org/drawingml/2006/main">
            <a:off x="457200" y="485265"/>
            <a:ext cx="2811864" cy="292608"/>
          </a:xfrm>
          <a:prstGeom xmlns:a="http://schemas.openxmlformats.org/drawingml/2006/main" prst="rect">
            <a:avLst/>
          </a:prstGeom>
          <a:noFill xmlns:a="http://schemas.openxmlformats.org/drawingml/2006/main"/>
          <a:ln xmlns:a="http://schemas.openxmlformats.org/drawingml/2006/main" w="3175">
            <a:noFill/>
          </a:ln>
        </p:spPr>
        <p:txBody>
          <a:bodyPr xmlns:a="http://schemas.openxmlformats.org/drawingml/2006/main" wrap="square" lIns="0" tIns="0" rIns="0" bIns="0" anchor="ctr"/>
          <a:lstStyle xmlns:a="http://schemas.openxmlformats.org/drawingml/2006/main"/>
          <a:p xmlns:a="http://schemas.openxmlformats.org/drawingml/2006/main">
            <a:pPr algn="ctr">
              <a:buNone/>
            </a:pPr>
            <a:r>
              <a:rPr sz="900">
                <a:solidFill>
                  <a:schemeClr val="bg1"/>
                </a:solidFill>
                <a:latin typeface="Montserrat"/>
                <a:ea typeface="Montserrat"/>
                <a:cs typeface="Montserrat"/>
              </a:rPr>
              <a:t>From Folder Chaos to </a:t>
            </a:r>
            <a:r>
              <a:rPr sz="900" b="1">
                <a:solidFill>
                  <a:srgbClr val="2563EB"/>
                </a:solidFill>
                <a:latin typeface="Montserrat"/>
                <a:ea typeface="Montserrat"/>
                <a:cs typeface="Montserrat"/>
              </a:rPr>
              <a:t>Trusted Data</a:t>
            </a:r>
            <a:r>
              <a:rPr sz="900">
                <a:solidFill>
                  <a:schemeClr val="bg1"/>
                </a:solidFill>
                <a:latin typeface="Montserrat"/>
                <a:ea typeface="Montserrat"/>
                <a:cs typeface="Montserrat"/>
              </a:rPr>
              <a:t>.</a:t>
            </a:r>
          </a:p>
        </p:txBody>
      </p:sp>
      <p:pic>
        <p:nvPicPr>
          <p:cNvPr id="68" name="Picture 67"/>
          <p:cNvPicPr>
            <a:picLocks xmlns:a="http://schemas.openxmlformats.org/drawingml/2006/main" noChangeAspect="1"/>
          </p:cNvPicPr>
          <p:nvPr/>
        </p:nvPicPr>
        <p:blipFill>
          <a:blip xmlns:r="http://schemas.openxmlformats.org/officeDocument/2006/relationships" xmlns:a="http://schemas.openxmlformats.org/drawingml/2006/main" r:embed="R8e1bc0fbb6e64c68"/>
          <a:stretch xmlns:a="http://schemas.openxmlformats.org/drawingml/2006/main"/>
        </p:blipFill>
        <p:spPr>
          <a:xfrm xmlns:a="http://schemas.openxmlformats.org/drawingml/2006/main">
            <a:off x="2724150" y="1809750"/>
            <a:ext cx="876300" cy="876300"/>
          </a:xfrm>
          <a:prstGeom xmlns:a="http://schemas.openxmlformats.org/drawingml/2006/main" prst="rect">
            <a:avLst/>
          </a:prstGeom>
        </p:spPr>
      </p:pic>
    </p:spTree>
    <p:extLst>
      <p:ext uri="{BB962C8B-B14F-4D97-AF65-F5344CB8AC3E}">
        <p14:creationId xmlns:p14="http://schemas.microsoft.com/office/powerpoint/2010/main" val="16828030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2026-10-06T04:57:53.7370000Z</dcterms:created>
  <dcterms:modified xsi:type="dcterms:W3CDTF">2026-10-06T04:57:53.7370000Z</dcterms:modified>
</coreProperties>
</file>